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full.png">    </p:cNvPr>
          <p:cNvPicPr>
            <a:picLocks noChangeAspect="1"/>
          </p:cNvPicPr>
          <p:nvPr/>
        </p:nvPicPr>
        <p:blipFill>
          <a:blip r:embed="rId1"/>
          <a:stretch>
            <a:fillRect/>
          </a:stretch>
        </p:blipFill>
        <p:spPr>
          <a:xfrm>
            <a:off x="640080" y="566928"/>
            <a:ext cx="2651760" cy="682915"/>
          </a:xfrm>
          <a:prstGeom prst="rect">
            <a:avLst/>
          </a:prstGeom>
        </p:spPr>
      </p:pic>
      <p:pic>
        <p:nvPicPr>
          <p:cNvPr id="3" name="Image 1" descr="/home/user/PptxGenJS/assets-tmwe/logo_header.png">    </p:cNvPr>
          <p:cNvPicPr>
            <a:picLocks noChangeAspect="1"/>
          </p:cNvPicPr>
          <p:nvPr/>
        </p:nvPicPr>
        <p:blipFill>
          <a:blip r:embed="rId2"/>
          <a:stretch>
            <a:fillRect/>
          </a:stretch>
        </p:blipFill>
        <p:spPr>
          <a:xfrm>
            <a:off x="10326319" y="274320"/>
            <a:ext cx="1225296" cy="333595"/>
          </a:xfrm>
          <a:prstGeom prst="rect">
            <a:avLst/>
          </a:prstGeom>
        </p:spPr>
      </p:pic>
      <p:sp>
        <p:nvSpPr>
          <p:cNvPr id="4" name="Shape 0"/>
          <p:cNvSpPr/>
          <p:nvPr/>
        </p:nvSpPr>
        <p:spPr>
          <a:xfrm>
            <a:off x="640080" y="2148840"/>
            <a:ext cx="82296" cy="2743200"/>
          </a:xfrm>
          <a:prstGeom prst="rect">
            <a:avLst/>
          </a:prstGeom>
          <a:solidFill>
            <a:srgbClr val="1E7DC2"/>
          </a:solidFill>
          <a:ln/>
        </p:spPr>
      </p:sp>
      <p:sp>
        <p:nvSpPr>
          <p:cNvPr id="5" name="Text 1"/>
          <p:cNvSpPr/>
          <p:nvPr/>
        </p:nvSpPr>
        <p:spPr>
          <a:xfrm>
            <a:off x="932688" y="2148840"/>
            <a:ext cx="9144000" cy="274320"/>
          </a:xfrm>
          <a:prstGeom prst="rect">
            <a:avLst/>
          </a:prstGeom>
          <a:noFill/>
          <a:ln/>
        </p:spPr>
        <p:txBody>
          <a:bodyPr wrap="square" rtlCol="0" anchor="ctr"/>
          <a:lstStyle/>
          <a:p>
            <a:pPr indent="0" marL="0">
              <a:buNone/>
            </a:pPr>
            <a:r>
              <a:rPr lang="en-US" sz="1200" b="1" spc="250" kern="0" dirty="0">
                <a:solidFill>
                  <a:srgbClr val="1E7DC2"/>
                </a:solidFill>
                <a:latin typeface="Arial" pitchFamily="34" charset="0"/>
                <a:ea typeface="Arial" pitchFamily="34" charset="-122"/>
                <a:cs typeface="Arial" pitchFamily="34" charset="-120"/>
              </a:rPr>
              <a:t>STUDIO DI FATTIBILITÀ STRATEGICA  ·  A.F. 2025/2026</a:t>
            </a:r>
            <a:endParaRPr lang="en-US" sz="1200" dirty="0"/>
          </a:p>
        </p:txBody>
      </p:sp>
      <p:sp>
        <p:nvSpPr>
          <p:cNvPr id="6" name="Text 2"/>
          <p:cNvSpPr/>
          <p:nvPr/>
        </p:nvSpPr>
        <p:spPr>
          <a:xfrm>
            <a:off x="914400" y="2514600"/>
            <a:ext cx="9601200" cy="1554480"/>
          </a:xfrm>
          <a:prstGeom prst="rect">
            <a:avLst/>
          </a:prstGeom>
          <a:noFill/>
          <a:ln/>
        </p:spPr>
        <p:txBody>
          <a:bodyPr wrap="square" rtlCol="0" anchor="ctr"/>
          <a:lstStyle/>
          <a:p>
            <a:pPr indent="0" marL="0">
              <a:lnSpc>
                <a:spcPct val="102000"/>
              </a:lnSpc>
              <a:buNone/>
            </a:pPr>
            <a:r>
              <a:rPr lang="en-US" sz="4200" dirty="0">
                <a:solidFill>
                  <a:srgbClr val="16255C"/>
                </a:solidFill>
                <a:latin typeface="Georgia" pitchFamily="34" charset="0"/>
                <a:ea typeface="Georgia" pitchFamily="34" charset="-122"/>
                <a:cs typeface="Georgia" pitchFamily="34" charset="-120"/>
              </a:rPr>
              <a:t>Dove aprire il prossimo</a:t>
            </a:r>
            <a:endParaRPr lang="en-US" sz="4200" dirty="0"/>
          </a:p>
          <a:p>
            <a:pPr indent="0" marL="0">
              <a:lnSpc>
                <a:spcPct val="102000"/>
              </a:lnSpc>
              <a:buNone/>
            </a:pPr>
            <a:r>
              <a:rPr lang="en-US" sz="4200" dirty="0">
                <a:solidFill>
                  <a:srgbClr val="16255C"/>
                </a:solidFill>
                <a:latin typeface="Georgia" pitchFamily="34" charset="0"/>
                <a:ea typeface="Georgia" pitchFamily="34" charset="-122"/>
                <a:cs typeface="Georgia" pitchFamily="34" charset="-120"/>
              </a:rPr>
              <a:t>polo logistico di TMWE</a:t>
            </a:r>
            <a:endParaRPr lang="en-US" sz="4200" dirty="0"/>
          </a:p>
        </p:txBody>
      </p:sp>
      <p:sp>
        <p:nvSpPr>
          <p:cNvPr id="7" name="Text 3"/>
          <p:cNvSpPr/>
          <p:nvPr/>
        </p:nvSpPr>
        <p:spPr>
          <a:xfrm>
            <a:off x="932688" y="4160520"/>
            <a:ext cx="8778240" cy="914400"/>
          </a:xfrm>
          <a:prstGeom prst="rect">
            <a:avLst/>
          </a:prstGeom>
          <a:noFill/>
          <a:ln/>
        </p:spPr>
        <p:txBody>
          <a:bodyPr wrap="square" rtlCol="0" anchor="t"/>
          <a:lstStyle/>
          <a:p>
            <a:pPr algn="l" indent="0" marL="0">
              <a:lnSpc>
                <a:spcPct val="128000"/>
              </a:lnSpc>
              <a:buNone/>
            </a:pPr>
            <a:r>
              <a:rPr lang="en-US" sz="1350" dirty="0">
                <a:solidFill>
                  <a:srgbClr val="4C5563"/>
                </a:solidFill>
                <a:latin typeface="Arial" pitchFamily="34" charset="0"/>
                <a:ea typeface="Arial" pitchFamily="34" charset="-122"/>
                <a:cs typeface="Arial" pitchFamily="34" charset="-120"/>
              </a:rPr>
              <a:t>Uno studio data-driven per localizzare un nuovo magazzino e laboratorio logistico: diversificare la rete oltre la Lombardia, presidiare direttamente prima e ultima fascia e recuperare margine sull'ultimo miglio. Base analitica: 82.766 spedizioni, selezione multicriterio e verifica economico-finanziaria.</a:t>
            </a:r>
            <a:endParaRPr lang="en-US" sz="1350" dirty="0"/>
          </a:p>
        </p:txBody>
      </p:sp>
      <p:sp>
        <p:nvSpPr>
          <p:cNvPr id="8" name="Shape 4"/>
          <p:cNvSpPr/>
          <p:nvPr/>
        </p:nvSpPr>
        <p:spPr>
          <a:xfrm>
            <a:off x="932688" y="5349240"/>
            <a:ext cx="9509760" cy="0"/>
          </a:xfrm>
          <a:prstGeom prst="line">
            <a:avLst/>
          </a:prstGeom>
          <a:noFill/>
          <a:ln w="12700">
            <a:solidFill>
              <a:srgbClr val="E4E1D9"/>
            </a:solidFill>
            <a:prstDash val="solid"/>
          </a:ln>
        </p:spPr>
      </p:sp>
      <p:sp>
        <p:nvSpPr>
          <p:cNvPr id="9" name="Text 5"/>
          <p:cNvSpPr/>
          <p:nvPr/>
        </p:nvSpPr>
        <p:spPr>
          <a:xfrm>
            <a:off x="932688" y="5504688"/>
            <a:ext cx="2331720" cy="219456"/>
          </a:xfrm>
          <a:prstGeom prst="rect">
            <a:avLst/>
          </a:prstGeom>
          <a:noFill/>
          <a:ln/>
        </p:spPr>
        <p:txBody>
          <a:bodyPr wrap="square" rtlCol="0" anchor="ctr"/>
          <a:lstStyle/>
          <a:p>
            <a:pPr indent="0" marL="0">
              <a:buNone/>
            </a:pPr>
            <a:r>
              <a:rPr lang="en-US" sz="750" b="1" spc="100" kern="0" dirty="0">
                <a:solidFill>
                  <a:srgbClr val="8A929B"/>
                </a:solidFill>
                <a:latin typeface="Arial" pitchFamily="34" charset="0"/>
                <a:ea typeface="Arial" pitchFamily="34" charset="-122"/>
                <a:cs typeface="Arial" pitchFamily="34" charset="-120"/>
              </a:rPr>
              <a:t>CORSISTA</a:t>
            </a:r>
            <a:endParaRPr lang="en-US" sz="750" dirty="0"/>
          </a:p>
        </p:txBody>
      </p:sp>
      <p:sp>
        <p:nvSpPr>
          <p:cNvPr id="10" name="Text 6"/>
          <p:cNvSpPr/>
          <p:nvPr/>
        </p:nvSpPr>
        <p:spPr>
          <a:xfrm>
            <a:off x="932688" y="5724144"/>
            <a:ext cx="2331720" cy="548640"/>
          </a:xfrm>
          <a:prstGeom prst="rect">
            <a:avLst/>
          </a:prstGeom>
          <a:noFill/>
          <a:ln/>
        </p:spPr>
        <p:txBody>
          <a:bodyPr wrap="square" rtlCol="0" anchor="ctr"/>
          <a:lstStyle/>
          <a:p>
            <a:pPr indent="0" marL="0">
              <a:lnSpc>
                <a:spcPct val="95000"/>
              </a:lnSpc>
              <a:buNone/>
            </a:pPr>
            <a:r>
              <a:rPr lang="en-US" sz="1100" dirty="0">
                <a:solidFill>
                  <a:srgbClr val="16255C"/>
                </a:solidFill>
                <a:latin typeface="Arial" pitchFamily="34" charset="0"/>
                <a:ea typeface="Arial" pitchFamily="34" charset="-122"/>
                <a:cs typeface="Arial" pitchFamily="34" charset="-120"/>
              </a:rPr>
              <a:t>Raju Ferrisi</a:t>
            </a:r>
            <a:endParaRPr lang="en-US" sz="1100" dirty="0"/>
          </a:p>
        </p:txBody>
      </p:sp>
      <p:sp>
        <p:nvSpPr>
          <p:cNvPr id="11" name="Text 7"/>
          <p:cNvSpPr/>
          <p:nvPr/>
        </p:nvSpPr>
        <p:spPr>
          <a:xfrm>
            <a:off x="3328416" y="5504688"/>
            <a:ext cx="2331720" cy="219456"/>
          </a:xfrm>
          <a:prstGeom prst="rect">
            <a:avLst/>
          </a:prstGeom>
          <a:noFill/>
          <a:ln/>
        </p:spPr>
        <p:txBody>
          <a:bodyPr wrap="square" rtlCol="0" anchor="ctr"/>
          <a:lstStyle/>
          <a:p>
            <a:pPr indent="0" marL="0">
              <a:buNone/>
            </a:pPr>
            <a:r>
              <a:rPr lang="en-US" sz="750" b="1" spc="100" kern="0" dirty="0">
                <a:solidFill>
                  <a:srgbClr val="8A929B"/>
                </a:solidFill>
                <a:latin typeface="Arial" pitchFamily="34" charset="0"/>
                <a:ea typeface="Arial" pitchFamily="34" charset="-122"/>
                <a:cs typeface="Arial" pitchFamily="34" charset="-120"/>
              </a:rPr>
              <a:t>TUTOR AZIENDALE</a:t>
            </a:r>
            <a:endParaRPr lang="en-US" sz="750" dirty="0"/>
          </a:p>
        </p:txBody>
      </p:sp>
      <p:sp>
        <p:nvSpPr>
          <p:cNvPr id="12" name="Text 8"/>
          <p:cNvSpPr/>
          <p:nvPr/>
        </p:nvSpPr>
        <p:spPr>
          <a:xfrm>
            <a:off x="3328416" y="5724144"/>
            <a:ext cx="2331720" cy="548640"/>
          </a:xfrm>
          <a:prstGeom prst="rect">
            <a:avLst/>
          </a:prstGeom>
          <a:noFill/>
          <a:ln/>
        </p:spPr>
        <p:txBody>
          <a:bodyPr wrap="square" rtlCol="0" anchor="ctr"/>
          <a:lstStyle/>
          <a:p>
            <a:pPr indent="0" marL="0">
              <a:lnSpc>
                <a:spcPct val="95000"/>
              </a:lnSpc>
              <a:buNone/>
            </a:pPr>
            <a:r>
              <a:rPr lang="en-US" sz="1100" dirty="0">
                <a:solidFill>
                  <a:srgbClr val="16255C"/>
                </a:solidFill>
                <a:latin typeface="Arial" pitchFamily="34" charset="0"/>
                <a:ea typeface="Arial" pitchFamily="34" charset="-122"/>
                <a:cs typeface="Arial" pitchFamily="34" charset="-120"/>
              </a:rPr>
              <a:t>Imane Smouni</a:t>
            </a:r>
            <a:endParaRPr lang="en-US" sz="1100" dirty="0"/>
          </a:p>
        </p:txBody>
      </p:sp>
      <p:sp>
        <p:nvSpPr>
          <p:cNvPr id="13" name="Text 9"/>
          <p:cNvSpPr/>
          <p:nvPr/>
        </p:nvSpPr>
        <p:spPr>
          <a:xfrm>
            <a:off x="5724144" y="5504688"/>
            <a:ext cx="2331720" cy="219456"/>
          </a:xfrm>
          <a:prstGeom prst="rect">
            <a:avLst/>
          </a:prstGeom>
          <a:noFill/>
          <a:ln/>
        </p:spPr>
        <p:txBody>
          <a:bodyPr wrap="square" rtlCol="0" anchor="ctr"/>
          <a:lstStyle/>
          <a:p>
            <a:pPr indent="0" marL="0">
              <a:buNone/>
            </a:pPr>
            <a:r>
              <a:rPr lang="en-US" sz="750" b="1" spc="100" kern="0" dirty="0">
                <a:solidFill>
                  <a:srgbClr val="8A929B"/>
                </a:solidFill>
                <a:latin typeface="Arial" pitchFamily="34" charset="0"/>
                <a:ea typeface="Arial" pitchFamily="34" charset="-122"/>
                <a:cs typeface="Arial" pitchFamily="34" charset="-120"/>
              </a:rPr>
              <a:t>FIGURA PROFESSIONALE</a:t>
            </a:r>
            <a:endParaRPr lang="en-US" sz="750" dirty="0"/>
          </a:p>
        </p:txBody>
      </p:sp>
      <p:sp>
        <p:nvSpPr>
          <p:cNvPr id="14" name="Text 10"/>
          <p:cNvSpPr/>
          <p:nvPr/>
        </p:nvSpPr>
        <p:spPr>
          <a:xfrm>
            <a:off x="5724144" y="5724144"/>
            <a:ext cx="2331720" cy="548640"/>
          </a:xfrm>
          <a:prstGeom prst="rect">
            <a:avLst/>
          </a:prstGeom>
          <a:noFill/>
          <a:ln/>
        </p:spPr>
        <p:txBody>
          <a:bodyPr wrap="square" rtlCol="0" anchor="ctr"/>
          <a:lstStyle/>
          <a:p>
            <a:pPr indent="0" marL="0">
              <a:lnSpc>
                <a:spcPct val="95000"/>
              </a:lnSpc>
              <a:buNone/>
            </a:pPr>
            <a:r>
              <a:rPr lang="en-US" sz="1100" dirty="0">
                <a:solidFill>
                  <a:srgbClr val="16255C"/>
                </a:solidFill>
                <a:latin typeface="Arial" pitchFamily="34" charset="0"/>
                <a:ea typeface="Arial" pitchFamily="34" charset="-122"/>
                <a:cs typeface="Arial" pitchFamily="34" charset="-120"/>
              </a:rPr>
              <a:t>Tecnico sup. logistica intermodale</a:t>
            </a:r>
            <a:endParaRPr lang="en-US" sz="1100" dirty="0"/>
          </a:p>
        </p:txBody>
      </p:sp>
      <p:sp>
        <p:nvSpPr>
          <p:cNvPr id="15" name="Text 11"/>
          <p:cNvSpPr/>
          <p:nvPr/>
        </p:nvSpPr>
        <p:spPr>
          <a:xfrm>
            <a:off x="8119872" y="5504688"/>
            <a:ext cx="2331720" cy="219456"/>
          </a:xfrm>
          <a:prstGeom prst="rect">
            <a:avLst/>
          </a:prstGeom>
          <a:noFill/>
          <a:ln/>
        </p:spPr>
        <p:txBody>
          <a:bodyPr wrap="square" rtlCol="0" anchor="ctr"/>
          <a:lstStyle/>
          <a:p>
            <a:pPr indent="0" marL="0">
              <a:buNone/>
            </a:pPr>
            <a:r>
              <a:rPr lang="en-US" sz="750" b="1" spc="100" kern="0" dirty="0">
                <a:solidFill>
                  <a:srgbClr val="8A929B"/>
                </a:solidFill>
                <a:latin typeface="Arial" pitchFamily="34" charset="0"/>
                <a:ea typeface="Arial" pitchFamily="34" charset="-122"/>
                <a:cs typeface="Arial" pitchFamily="34" charset="-120"/>
              </a:rPr>
              <a:t>AREA TECNOLOGICA</a:t>
            </a:r>
            <a:endParaRPr lang="en-US" sz="750" dirty="0"/>
          </a:p>
        </p:txBody>
      </p:sp>
      <p:sp>
        <p:nvSpPr>
          <p:cNvPr id="16" name="Text 12"/>
          <p:cNvSpPr/>
          <p:nvPr/>
        </p:nvSpPr>
        <p:spPr>
          <a:xfrm>
            <a:off x="8119872" y="5724144"/>
            <a:ext cx="2331720" cy="548640"/>
          </a:xfrm>
          <a:prstGeom prst="rect">
            <a:avLst/>
          </a:prstGeom>
          <a:noFill/>
          <a:ln/>
        </p:spPr>
        <p:txBody>
          <a:bodyPr wrap="square" rtlCol="0" anchor="ctr"/>
          <a:lstStyle/>
          <a:p>
            <a:pPr indent="0" marL="0">
              <a:lnSpc>
                <a:spcPct val="95000"/>
              </a:lnSpc>
              <a:buNone/>
            </a:pPr>
            <a:r>
              <a:rPr lang="en-US" sz="1100" dirty="0">
                <a:solidFill>
                  <a:srgbClr val="16255C"/>
                </a:solidFill>
                <a:latin typeface="Arial" pitchFamily="34" charset="0"/>
                <a:ea typeface="Arial" pitchFamily="34" charset="-122"/>
                <a:cs typeface="Arial" pitchFamily="34" charset="-120"/>
              </a:rPr>
              <a:t>Mobilità sostenibile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IL PUNTO DI PARTENZA</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Un'azienda che cresce, ma poggia su un solo bacino</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Text 3"/>
          <p:cNvSpPr/>
          <p:nvPr/>
        </p:nvSpPr>
        <p:spPr>
          <a:xfrm>
            <a:off x="640080" y="1572768"/>
            <a:ext cx="5486400" cy="1097280"/>
          </a:xfrm>
          <a:prstGeom prst="rect">
            <a:avLst/>
          </a:prstGeom>
          <a:noFill/>
          <a:ln/>
        </p:spPr>
        <p:txBody>
          <a:bodyPr wrap="square" rtlCol="0" anchor="t"/>
          <a:lstStyle/>
          <a:p>
            <a:pPr algn="l" indent="0" marL="0">
              <a:lnSpc>
                <a:spcPct val="130000"/>
              </a:lnSpc>
              <a:buNone/>
            </a:pPr>
            <a:r>
              <a:rPr lang="en-US" sz="1250" dirty="0">
                <a:solidFill>
                  <a:srgbClr val="4C5563"/>
                </a:solidFill>
                <a:latin typeface="Arial" pitchFamily="34" charset="0"/>
                <a:ea typeface="Arial" pitchFamily="34" charset="-122"/>
                <a:cs typeface="Arial" pitchFamily="34" charset="-120"/>
              </a:rPr>
              <a:t>Tra il 2020 e il 2023 TMWE ha più che triplicato il fatturato. La sua forza operativa — la concentrazione sul nodo di Milano — è però anche la sua principale fragilità strategica: una dipendenza territoriale e da vettori terzi che lo studio intende ridurre.</a:t>
            </a:r>
            <a:endParaRPr lang="en-US" sz="1250" dirty="0"/>
          </a:p>
        </p:txBody>
      </p:sp>
      <p:sp>
        <p:nvSpPr>
          <p:cNvPr id="7" name="Text 4"/>
          <p:cNvSpPr/>
          <p:nvPr/>
        </p:nvSpPr>
        <p:spPr>
          <a:xfrm>
            <a:off x="640080" y="2926080"/>
            <a:ext cx="1691640" cy="777240"/>
          </a:xfrm>
          <a:prstGeom prst="rect">
            <a:avLst/>
          </a:prstGeom>
          <a:noFill/>
          <a:ln/>
        </p:spPr>
        <p:txBody>
          <a:bodyPr wrap="square" rtlCol="0" anchor="ctr"/>
          <a:lstStyle/>
          <a:p>
            <a:pPr indent="0" marL="0">
              <a:buNone/>
            </a:pPr>
            <a:r>
              <a:rPr lang="en-US" sz="3800" dirty="0">
                <a:solidFill>
                  <a:srgbClr val="1E3A7B"/>
                </a:solidFill>
                <a:latin typeface="Georgia" pitchFamily="34" charset="0"/>
                <a:ea typeface="Georgia" pitchFamily="34" charset="-122"/>
                <a:cs typeface="Georgia" pitchFamily="34" charset="-120"/>
              </a:rPr>
              <a:t>×3,2</a:t>
            </a:r>
            <a:endParaRPr lang="en-US" sz="3800" dirty="0"/>
          </a:p>
        </p:txBody>
      </p:sp>
      <p:sp>
        <p:nvSpPr>
          <p:cNvPr id="8" name="Text 5"/>
          <p:cNvSpPr/>
          <p:nvPr/>
        </p:nvSpPr>
        <p:spPr>
          <a:xfrm>
            <a:off x="2468880" y="2971800"/>
            <a:ext cx="3840480" cy="329184"/>
          </a:xfrm>
          <a:prstGeom prst="rect">
            <a:avLst/>
          </a:prstGeom>
          <a:noFill/>
          <a:ln/>
        </p:spPr>
        <p:txBody>
          <a:bodyPr wrap="square" rtlCol="0" anchor="ctr"/>
          <a:lstStyle/>
          <a:p>
            <a:pPr indent="0" marL="0">
              <a:buNone/>
            </a:pPr>
            <a:r>
              <a:rPr lang="en-US" sz="1300" b="1" dirty="0">
                <a:solidFill>
                  <a:srgbClr val="16255C"/>
                </a:solidFill>
                <a:latin typeface="Arial" pitchFamily="34" charset="0"/>
                <a:ea typeface="Arial" pitchFamily="34" charset="-122"/>
                <a:cs typeface="Arial" pitchFamily="34" charset="-120"/>
              </a:rPr>
              <a:t>Fatturato 2020 → 2023</a:t>
            </a:r>
            <a:endParaRPr lang="en-US" sz="1300" dirty="0"/>
          </a:p>
        </p:txBody>
      </p:sp>
      <p:sp>
        <p:nvSpPr>
          <p:cNvPr id="9" name="Text 6"/>
          <p:cNvSpPr/>
          <p:nvPr/>
        </p:nvSpPr>
        <p:spPr>
          <a:xfrm>
            <a:off x="2468880" y="3310128"/>
            <a:ext cx="3840480" cy="310896"/>
          </a:xfrm>
          <a:prstGeom prst="rect">
            <a:avLst/>
          </a:prstGeom>
          <a:noFill/>
          <a:ln/>
        </p:spPr>
        <p:txBody>
          <a:bodyPr wrap="square" rtlCol="0" anchor="ctr"/>
          <a:lstStyle/>
          <a:p>
            <a:pPr indent="0" marL="0">
              <a:buNone/>
            </a:pPr>
            <a:r>
              <a:rPr lang="en-US" sz="1050" dirty="0">
                <a:solidFill>
                  <a:srgbClr val="8A929B"/>
                </a:solidFill>
                <a:latin typeface="Arial" pitchFamily="34" charset="0"/>
                <a:ea typeface="Arial" pitchFamily="34" charset="-122"/>
                <a:cs typeface="Arial" pitchFamily="34" charset="-120"/>
              </a:rPr>
              <a:t>da €2,33 a €7,48 milioni</a:t>
            </a:r>
            <a:endParaRPr lang="en-US" sz="1050" dirty="0"/>
          </a:p>
        </p:txBody>
      </p:sp>
      <p:sp>
        <p:nvSpPr>
          <p:cNvPr id="10" name="Shape 7"/>
          <p:cNvSpPr/>
          <p:nvPr/>
        </p:nvSpPr>
        <p:spPr>
          <a:xfrm>
            <a:off x="640080" y="3794760"/>
            <a:ext cx="5577840" cy="0"/>
          </a:xfrm>
          <a:prstGeom prst="line">
            <a:avLst/>
          </a:prstGeom>
          <a:noFill/>
          <a:ln w="12700">
            <a:solidFill>
              <a:srgbClr val="E4E1D9"/>
            </a:solidFill>
            <a:prstDash val="solid"/>
          </a:ln>
        </p:spPr>
      </p:sp>
      <p:sp>
        <p:nvSpPr>
          <p:cNvPr id="11" name="Text 8"/>
          <p:cNvSpPr/>
          <p:nvPr/>
        </p:nvSpPr>
        <p:spPr>
          <a:xfrm>
            <a:off x="640080" y="3858768"/>
            <a:ext cx="1691640" cy="777240"/>
          </a:xfrm>
          <a:prstGeom prst="rect">
            <a:avLst/>
          </a:prstGeom>
          <a:noFill/>
          <a:ln/>
        </p:spPr>
        <p:txBody>
          <a:bodyPr wrap="square" rtlCol="0" anchor="ctr"/>
          <a:lstStyle/>
          <a:p>
            <a:pPr indent="0" marL="0">
              <a:buNone/>
            </a:pPr>
            <a:r>
              <a:rPr lang="en-US" sz="3800" dirty="0">
                <a:solidFill>
                  <a:srgbClr val="D8901A"/>
                </a:solidFill>
                <a:latin typeface="Georgia" pitchFamily="34" charset="0"/>
                <a:ea typeface="Georgia" pitchFamily="34" charset="-122"/>
                <a:cs typeface="Georgia" pitchFamily="34" charset="-120"/>
              </a:rPr>
              <a:t>96,4%</a:t>
            </a:r>
            <a:endParaRPr lang="en-US" sz="3800" dirty="0"/>
          </a:p>
        </p:txBody>
      </p:sp>
      <p:sp>
        <p:nvSpPr>
          <p:cNvPr id="12" name="Text 9"/>
          <p:cNvSpPr/>
          <p:nvPr/>
        </p:nvSpPr>
        <p:spPr>
          <a:xfrm>
            <a:off x="2468880" y="3904488"/>
            <a:ext cx="3840480" cy="329184"/>
          </a:xfrm>
          <a:prstGeom prst="rect">
            <a:avLst/>
          </a:prstGeom>
          <a:noFill/>
          <a:ln/>
        </p:spPr>
        <p:txBody>
          <a:bodyPr wrap="square" rtlCol="0" anchor="ctr"/>
          <a:lstStyle/>
          <a:p>
            <a:pPr indent="0" marL="0">
              <a:buNone/>
            </a:pPr>
            <a:r>
              <a:rPr lang="en-US" sz="1300" b="1" dirty="0">
                <a:solidFill>
                  <a:srgbClr val="16255C"/>
                </a:solidFill>
                <a:latin typeface="Arial" pitchFamily="34" charset="0"/>
                <a:ea typeface="Arial" pitchFamily="34" charset="-122"/>
                <a:cs typeface="Arial" pitchFamily="34" charset="-120"/>
              </a:rPr>
              <a:t>Operazioni su vettori terzi</a:t>
            </a:r>
            <a:endParaRPr lang="en-US" sz="1300" dirty="0"/>
          </a:p>
        </p:txBody>
      </p:sp>
      <p:sp>
        <p:nvSpPr>
          <p:cNvPr id="13" name="Text 10"/>
          <p:cNvSpPr/>
          <p:nvPr/>
        </p:nvSpPr>
        <p:spPr>
          <a:xfrm>
            <a:off x="2468880" y="4242816"/>
            <a:ext cx="3840480" cy="310896"/>
          </a:xfrm>
          <a:prstGeom prst="rect">
            <a:avLst/>
          </a:prstGeom>
          <a:noFill/>
          <a:ln/>
        </p:spPr>
        <p:txBody>
          <a:bodyPr wrap="square" rtlCol="0" anchor="ctr"/>
          <a:lstStyle/>
          <a:p>
            <a:pPr indent="0" marL="0">
              <a:buNone/>
            </a:pPr>
            <a:r>
              <a:rPr lang="en-US" sz="1050" dirty="0">
                <a:solidFill>
                  <a:srgbClr val="8A929B"/>
                </a:solidFill>
                <a:latin typeface="Arial" pitchFamily="34" charset="0"/>
                <a:ea typeface="Arial" pitchFamily="34" charset="-122"/>
                <a:cs typeface="Arial" pitchFamily="34" charset="-120"/>
              </a:rPr>
              <a:t>DHL, FedEx e UPS come fornitori</a:t>
            </a:r>
            <a:endParaRPr lang="en-US" sz="1050" dirty="0"/>
          </a:p>
        </p:txBody>
      </p:sp>
      <p:sp>
        <p:nvSpPr>
          <p:cNvPr id="14" name="Shape 11"/>
          <p:cNvSpPr/>
          <p:nvPr/>
        </p:nvSpPr>
        <p:spPr>
          <a:xfrm>
            <a:off x="640080" y="4727448"/>
            <a:ext cx="5577840" cy="0"/>
          </a:xfrm>
          <a:prstGeom prst="line">
            <a:avLst/>
          </a:prstGeom>
          <a:noFill/>
          <a:ln w="12700">
            <a:solidFill>
              <a:srgbClr val="E4E1D9"/>
            </a:solidFill>
            <a:prstDash val="solid"/>
          </a:ln>
        </p:spPr>
      </p:sp>
      <p:sp>
        <p:nvSpPr>
          <p:cNvPr id="15" name="Text 12"/>
          <p:cNvSpPr/>
          <p:nvPr/>
        </p:nvSpPr>
        <p:spPr>
          <a:xfrm>
            <a:off x="640080" y="4791456"/>
            <a:ext cx="1691640" cy="777240"/>
          </a:xfrm>
          <a:prstGeom prst="rect">
            <a:avLst/>
          </a:prstGeom>
          <a:noFill/>
          <a:ln/>
        </p:spPr>
        <p:txBody>
          <a:bodyPr wrap="square" rtlCol="0" anchor="ctr"/>
          <a:lstStyle/>
          <a:p>
            <a:pPr indent="0" marL="0">
              <a:buNone/>
            </a:pPr>
            <a:r>
              <a:rPr lang="en-US" sz="3800" dirty="0">
                <a:solidFill>
                  <a:srgbClr val="1E3A7B"/>
                </a:solidFill>
                <a:latin typeface="Georgia" pitchFamily="34" charset="0"/>
                <a:ea typeface="Georgia" pitchFamily="34" charset="-122"/>
                <a:cs typeface="Georgia" pitchFamily="34" charset="-120"/>
              </a:rPr>
              <a:t>77,6%</a:t>
            </a:r>
            <a:endParaRPr lang="en-US" sz="3800" dirty="0"/>
          </a:p>
        </p:txBody>
      </p:sp>
      <p:sp>
        <p:nvSpPr>
          <p:cNvPr id="16" name="Text 13"/>
          <p:cNvSpPr/>
          <p:nvPr/>
        </p:nvSpPr>
        <p:spPr>
          <a:xfrm>
            <a:off x="2468880" y="4837176"/>
            <a:ext cx="3840480" cy="329184"/>
          </a:xfrm>
          <a:prstGeom prst="rect">
            <a:avLst/>
          </a:prstGeom>
          <a:noFill/>
          <a:ln/>
        </p:spPr>
        <p:txBody>
          <a:bodyPr wrap="square" rtlCol="0" anchor="ctr"/>
          <a:lstStyle/>
          <a:p>
            <a:pPr indent="0" marL="0">
              <a:buNone/>
            </a:pPr>
            <a:r>
              <a:rPr lang="en-US" sz="1300" b="1" dirty="0">
                <a:solidFill>
                  <a:srgbClr val="16255C"/>
                </a:solidFill>
                <a:latin typeface="Arial" pitchFamily="34" charset="0"/>
                <a:ea typeface="Arial" pitchFamily="34" charset="-122"/>
                <a:cs typeface="Arial" pitchFamily="34" charset="-120"/>
              </a:rPr>
              <a:t>Ritiri nazionali dalla Lombardia</a:t>
            </a:r>
            <a:endParaRPr lang="en-US" sz="1300" dirty="0"/>
          </a:p>
        </p:txBody>
      </p:sp>
      <p:sp>
        <p:nvSpPr>
          <p:cNvPr id="17" name="Text 14"/>
          <p:cNvSpPr/>
          <p:nvPr/>
        </p:nvSpPr>
        <p:spPr>
          <a:xfrm>
            <a:off x="2468880" y="5175504"/>
            <a:ext cx="3840480" cy="310896"/>
          </a:xfrm>
          <a:prstGeom prst="rect">
            <a:avLst/>
          </a:prstGeom>
          <a:noFill/>
          <a:ln/>
        </p:spPr>
        <p:txBody>
          <a:bodyPr wrap="square" rtlCol="0" anchor="ctr"/>
          <a:lstStyle/>
          <a:p>
            <a:pPr indent="0" marL="0">
              <a:buNone/>
            </a:pPr>
            <a:r>
              <a:rPr lang="en-US" sz="1050" dirty="0">
                <a:solidFill>
                  <a:srgbClr val="8A929B"/>
                </a:solidFill>
                <a:latin typeface="Arial" pitchFamily="34" charset="0"/>
                <a:ea typeface="Arial" pitchFamily="34" charset="-122"/>
                <a:cs typeface="Arial" pitchFamily="34" charset="-120"/>
              </a:rPr>
              <a:t>domanda concentrata su un'unica area</a:t>
            </a:r>
            <a:endParaRPr lang="en-US" sz="1050" dirty="0"/>
          </a:p>
        </p:txBody>
      </p:sp>
      <p:sp>
        <p:nvSpPr>
          <p:cNvPr id="18" name="Shape 15"/>
          <p:cNvSpPr/>
          <p:nvPr/>
        </p:nvSpPr>
        <p:spPr>
          <a:xfrm>
            <a:off x="6720840" y="1572768"/>
            <a:ext cx="4828032" cy="4023360"/>
          </a:xfrm>
          <a:prstGeom prst="roundRect">
            <a:avLst>
              <a:gd name="adj" fmla="val 1818"/>
            </a:avLst>
          </a:prstGeom>
          <a:solidFill>
            <a:srgbClr val="16255C"/>
          </a:solidFill>
          <a:ln w="12700">
            <a:solidFill>
              <a:srgbClr val="16255C"/>
            </a:solidFill>
            <a:prstDash val="solid"/>
          </a:ln>
          <a:effectLst>
            <a:outerShdw sx="100000" sy="100000" kx="0" ky="0" algn="bl" rotWithShape="0" blurRad="88900" dist="25400" dir="5400000">
              <a:srgbClr val="D9D5CC">
                <a:alpha val="40000"/>
              </a:srgbClr>
            </a:outerShdw>
          </a:effectLst>
        </p:spPr>
      </p:sp>
      <p:sp>
        <p:nvSpPr>
          <p:cNvPr id="19" name="Text 16"/>
          <p:cNvSpPr/>
          <p:nvPr/>
        </p:nvSpPr>
        <p:spPr>
          <a:xfrm>
            <a:off x="7086600" y="1920240"/>
            <a:ext cx="4114800" cy="274320"/>
          </a:xfrm>
          <a:prstGeom prst="rect">
            <a:avLst/>
          </a:prstGeom>
          <a:noFill/>
          <a:ln/>
        </p:spPr>
        <p:txBody>
          <a:bodyPr wrap="square" rtlCol="0" anchor="ctr"/>
          <a:lstStyle/>
          <a:p>
            <a:pPr indent="0" marL="0">
              <a:buNone/>
            </a:pPr>
            <a:r>
              <a:rPr lang="en-US" sz="1000" b="1" spc="200" kern="0" dirty="0">
                <a:solidFill>
                  <a:srgbClr val="9DB9DD"/>
                </a:solidFill>
                <a:latin typeface="Arial" pitchFamily="34" charset="0"/>
                <a:ea typeface="Arial" pitchFamily="34" charset="-122"/>
                <a:cs typeface="Arial" pitchFamily="34" charset="-120"/>
              </a:rPr>
              <a:t>LA DOMANDA DELLO STUDIO</a:t>
            </a:r>
            <a:endParaRPr lang="en-US" sz="1000" dirty="0"/>
          </a:p>
        </p:txBody>
      </p:sp>
      <p:sp>
        <p:nvSpPr>
          <p:cNvPr id="20" name="Text 17"/>
          <p:cNvSpPr/>
          <p:nvPr/>
        </p:nvSpPr>
        <p:spPr>
          <a:xfrm>
            <a:off x="7086600" y="2212848"/>
            <a:ext cx="4114800" cy="1188720"/>
          </a:xfrm>
          <a:prstGeom prst="rect">
            <a:avLst/>
          </a:prstGeom>
          <a:noFill/>
          <a:ln/>
        </p:spPr>
        <p:txBody>
          <a:bodyPr wrap="square" rtlCol="0" anchor="ctr"/>
          <a:lstStyle/>
          <a:p>
            <a:pPr indent="0" marL="0">
              <a:lnSpc>
                <a:spcPct val="105000"/>
              </a:lnSpc>
              <a:buNone/>
            </a:pPr>
            <a:r>
              <a:rPr lang="en-US" sz="2400" dirty="0">
                <a:solidFill>
                  <a:srgbClr val="FFFFFF"/>
                </a:solidFill>
                <a:latin typeface="Georgia" pitchFamily="34" charset="0"/>
                <a:ea typeface="Georgia" pitchFamily="34" charset="-122"/>
                <a:cs typeface="Georgia" pitchFamily="34" charset="-120"/>
              </a:rPr>
              <a:t>Dove conviene aprire il secondo polo logistico?</a:t>
            </a:r>
            <a:endParaRPr lang="en-US" sz="2400" dirty="0"/>
          </a:p>
        </p:txBody>
      </p:sp>
      <p:sp>
        <p:nvSpPr>
          <p:cNvPr id="21" name="Shape 18"/>
          <p:cNvSpPr/>
          <p:nvPr/>
        </p:nvSpPr>
        <p:spPr>
          <a:xfrm>
            <a:off x="7086600" y="3566160"/>
            <a:ext cx="4096512" cy="0"/>
          </a:xfrm>
          <a:prstGeom prst="line">
            <a:avLst/>
          </a:prstGeom>
          <a:noFill/>
          <a:ln w="12700">
            <a:solidFill>
              <a:srgbClr val="34477F"/>
            </a:solidFill>
            <a:prstDash val="solid"/>
          </a:ln>
        </p:spPr>
      </p:sp>
      <p:sp>
        <p:nvSpPr>
          <p:cNvPr id="22" name="Text 19"/>
          <p:cNvSpPr/>
          <p:nvPr/>
        </p:nvSpPr>
        <p:spPr>
          <a:xfrm>
            <a:off x="7086600" y="3703320"/>
            <a:ext cx="4114800" cy="1828800"/>
          </a:xfrm>
          <a:prstGeom prst="rect">
            <a:avLst/>
          </a:prstGeom>
          <a:noFill/>
          <a:ln/>
        </p:spPr>
        <p:txBody>
          <a:bodyPr wrap="square" rtlCol="0" anchor="t"/>
          <a:lstStyle/>
          <a:p>
            <a:pPr algn="l" indent="0" marL="0">
              <a:lnSpc>
                <a:spcPct val="135000"/>
              </a:lnSpc>
              <a:buNone/>
            </a:pPr>
            <a:r>
              <a:rPr lang="en-US" sz="1200" dirty="0">
                <a:solidFill>
                  <a:srgbClr val="E7EEF7"/>
                </a:solidFill>
                <a:latin typeface="Arial" pitchFamily="34" charset="0"/>
                <a:ea typeface="Arial" pitchFamily="34" charset="-122"/>
                <a:cs typeface="Arial" pitchFamily="34" charset="-120"/>
              </a:rPr>
              <a:t>La risposta nasce dai dati, non dalle intuizioni: l'analisi dell'intera rete di ritiri, uno screening per massa critica, una valutazione multicriterio e una verifica economico-finanziaria conducono a un'unica localizzazione ottimale.</a:t>
            </a:r>
            <a:endParaRPr lang="en-US" sz="1200" dirty="0"/>
          </a:p>
        </p:txBody>
      </p:sp>
      <p:sp>
        <p:nvSpPr>
          <p:cNvPr id="23" name="Shape 20"/>
          <p:cNvSpPr/>
          <p:nvPr/>
        </p:nvSpPr>
        <p:spPr>
          <a:xfrm>
            <a:off x="640080" y="5870448"/>
            <a:ext cx="10911535" cy="438912"/>
          </a:xfrm>
          <a:prstGeom prst="roundRect">
            <a:avLst>
              <a:gd name="adj" fmla="val 10417"/>
            </a:avLst>
          </a:prstGeom>
          <a:solidFill>
            <a:srgbClr val="DEE8F3"/>
          </a:solidFill>
          <a:ln/>
        </p:spPr>
      </p:sp>
      <p:sp>
        <p:nvSpPr>
          <p:cNvPr id="24" name="Shape 21"/>
          <p:cNvSpPr/>
          <p:nvPr/>
        </p:nvSpPr>
        <p:spPr>
          <a:xfrm>
            <a:off x="640080" y="5870448"/>
            <a:ext cx="64008" cy="438912"/>
          </a:xfrm>
          <a:prstGeom prst="rect">
            <a:avLst/>
          </a:prstGeom>
          <a:solidFill>
            <a:srgbClr val="1E7DC2"/>
          </a:solidFill>
          <a:ln/>
        </p:spPr>
      </p:sp>
      <p:sp>
        <p:nvSpPr>
          <p:cNvPr id="25" name="Text 22"/>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Diversificare fuori dalla Lombardia è la leva per ridurre il rischio e liberare nuovo margine.</a:t>
            </a:r>
            <a:endParaRPr lang="en-US" sz="850" dirty="0"/>
          </a:p>
        </p:txBody>
      </p:sp>
      <p:sp>
        <p:nvSpPr>
          <p:cNvPr id="26" name="Shape 23"/>
          <p:cNvSpPr/>
          <p:nvPr/>
        </p:nvSpPr>
        <p:spPr>
          <a:xfrm>
            <a:off x="640080" y="6437376"/>
            <a:ext cx="10911535" cy="0"/>
          </a:xfrm>
          <a:prstGeom prst="line">
            <a:avLst/>
          </a:prstGeom>
          <a:noFill/>
          <a:ln w="12700">
            <a:solidFill>
              <a:srgbClr val="E4E1D9"/>
            </a:solidFill>
            <a:prstDash val="solid"/>
          </a:ln>
        </p:spPr>
      </p:sp>
      <p:sp>
        <p:nvSpPr>
          <p:cNvPr id="27" name="Text 24"/>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8" name="Text 25"/>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02 / 22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01 · L'AZIENDA</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TMWE: freight forwarder internazionale, modello asset-light</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Text 3"/>
          <p:cNvSpPr/>
          <p:nvPr/>
        </p:nvSpPr>
        <p:spPr>
          <a:xfrm>
            <a:off x="640080" y="1554480"/>
            <a:ext cx="10881360" cy="82296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Transport Management Worldwide Express nasce nel 1999 come corriere espresso e spedizioniere internazionale; l'operatività effettiva prende avvio nel 2005 con l'iscrizione al Registro delle Imprese di Milano. Negli anni si consolida come freight forwarder in un network globale di oltre 7.000 affiliate in 190 Paesi.</a:t>
            </a:r>
            <a:endParaRPr lang="en-US" sz="1200" dirty="0"/>
          </a:p>
        </p:txBody>
      </p:sp>
      <p:sp>
        <p:nvSpPr>
          <p:cNvPr id="7" name="Shape 4"/>
          <p:cNvSpPr/>
          <p:nvPr/>
        </p:nvSpPr>
        <p:spPr>
          <a:xfrm>
            <a:off x="640080" y="2395728"/>
            <a:ext cx="2542032" cy="1572768"/>
          </a:xfrm>
          <a:prstGeom prst="roundRect">
            <a:avLst>
              <a:gd name="adj" fmla="val 4651"/>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8" name="Text 5"/>
          <p:cNvSpPr/>
          <p:nvPr/>
        </p:nvSpPr>
        <p:spPr>
          <a:xfrm>
            <a:off x="896112" y="2578608"/>
            <a:ext cx="2103120" cy="512064"/>
          </a:xfrm>
          <a:prstGeom prst="rect">
            <a:avLst/>
          </a:prstGeom>
          <a:noFill/>
          <a:ln/>
        </p:spPr>
        <p:txBody>
          <a:bodyPr wrap="square" rtlCol="0" anchor="b"/>
          <a:lstStyle/>
          <a:p>
            <a:pPr indent="0" marL="0">
              <a:buNone/>
            </a:pPr>
            <a:r>
              <a:rPr lang="en-US" sz="2600" dirty="0">
                <a:solidFill>
                  <a:srgbClr val="1E3A7B"/>
                </a:solidFill>
                <a:latin typeface="Georgia" pitchFamily="34" charset="0"/>
                <a:ea typeface="Georgia" pitchFamily="34" charset="-122"/>
                <a:cs typeface="Georgia" pitchFamily="34" charset="-120"/>
              </a:rPr>
              <a:t>1999</a:t>
            </a:r>
            <a:endParaRPr lang="en-US" sz="2600" dirty="0"/>
          </a:p>
        </p:txBody>
      </p:sp>
      <p:sp>
        <p:nvSpPr>
          <p:cNvPr id="9" name="Text 6"/>
          <p:cNvSpPr/>
          <p:nvPr/>
        </p:nvSpPr>
        <p:spPr>
          <a:xfrm>
            <a:off x="896112" y="3108960"/>
            <a:ext cx="2103120" cy="384048"/>
          </a:xfrm>
          <a:prstGeom prst="rect">
            <a:avLst/>
          </a:prstGeom>
          <a:noFill/>
          <a:ln/>
        </p:spPr>
        <p:txBody>
          <a:bodyPr wrap="square" rtlCol="0" anchor="ctr"/>
          <a:lstStyle/>
          <a:p>
            <a:pPr indent="0" marL="0">
              <a:lnSpc>
                <a:spcPct val="95000"/>
              </a:lnSpc>
              <a:buNone/>
            </a:pPr>
            <a:r>
              <a:rPr lang="en-US" sz="900" b="1" spc="50" kern="0" dirty="0">
                <a:solidFill>
                  <a:srgbClr val="16255C"/>
                </a:solidFill>
                <a:latin typeface="Arial" pitchFamily="34" charset="0"/>
                <a:ea typeface="Arial" pitchFamily="34" charset="-122"/>
                <a:cs typeface="Arial" pitchFamily="34" charset="-120"/>
              </a:rPr>
              <a:t>ANNO DI FONDAZIONE</a:t>
            </a:r>
            <a:endParaRPr lang="en-US" sz="900" dirty="0"/>
          </a:p>
        </p:txBody>
      </p:sp>
      <p:sp>
        <p:nvSpPr>
          <p:cNvPr id="10" name="Text 7"/>
          <p:cNvSpPr/>
          <p:nvPr/>
        </p:nvSpPr>
        <p:spPr>
          <a:xfrm>
            <a:off x="896112" y="3474720"/>
            <a:ext cx="2103120" cy="365760"/>
          </a:xfrm>
          <a:prstGeom prst="rect">
            <a:avLst/>
          </a:prstGeom>
          <a:noFill/>
          <a:ln/>
        </p:spPr>
        <p:txBody>
          <a:bodyPr wrap="square" rtlCol="0" anchor="ctr"/>
          <a:lstStyle/>
          <a:p>
            <a:pPr indent="0" marL="0">
              <a:lnSpc>
                <a:spcPct val="95000"/>
              </a:lnSpc>
              <a:buNone/>
            </a:pPr>
            <a:r>
              <a:rPr lang="en-US" sz="850" dirty="0">
                <a:solidFill>
                  <a:srgbClr val="8A929B"/>
                </a:solidFill>
                <a:latin typeface="Arial" pitchFamily="34" charset="0"/>
                <a:ea typeface="Arial" pitchFamily="34" charset="-122"/>
                <a:cs typeface="Arial" pitchFamily="34" charset="-120"/>
              </a:rPr>
              <a:t>operatività dal 2005 (Milano)</a:t>
            </a:r>
            <a:endParaRPr lang="en-US" sz="850" dirty="0"/>
          </a:p>
        </p:txBody>
      </p:sp>
      <p:sp>
        <p:nvSpPr>
          <p:cNvPr id="11" name="Shape 8"/>
          <p:cNvSpPr/>
          <p:nvPr/>
        </p:nvSpPr>
        <p:spPr>
          <a:xfrm>
            <a:off x="3364992" y="2395728"/>
            <a:ext cx="2542032" cy="1572768"/>
          </a:xfrm>
          <a:prstGeom prst="roundRect">
            <a:avLst>
              <a:gd name="adj" fmla="val 4651"/>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2" name="Text 9"/>
          <p:cNvSpPr/>
          <p:nvPr/>
        </p:nvSpPr>
        <p:spPr>
          <a:xfrm>
            <a:off x="3621024" y="2578608"/>
            <a:ext cx="2103120" cy="512064"/>
          </a:xfrm>
          <a:prstGeom prst="rect">
            <a:avLst/>
          </a:prstGeom>
          <a:noFill/>
          <a:ln/>
        </p:spPr>
        <p:txBody>
          <a:bodyPr wrap="square" rtlCol="0" anchor="b"/>
          <a:lstStyle/>
          <a:p>
            <a:pPr indent="0" marL="0">
              <a:buNone/>
            </a:pPr>
            <a:r>
              <a:rPr lang="en-US" sz="2600" dirty="0">
                <a:solidFill>
                  <a:srgbClr val="1E3A7B"/>
                </a:solidFill>
                <a:latin typeface="Georgia" pitchFamily="34" charset="0"/>
                <a:ea typeface="Georgia" pitchFamily="34" charset="-122"/>
                <a:cs typeface="Georgia" pitchFamily="34" charset="-120"/>
              </a:rPr>
              <a:t>7.000+</a:t>
            </a:r>
            <a:endParaRPr lang="en-US" sz="2600" dirty="0"/>
          </a:p>
        </p:txBody>
      </p:sp>
      <p:sp>
        <p:nvSpPr>
          <p:cNvPr id="13" name="Text 10"/>
          <p:cNvSpPr/>
          <p:nvPr/>
        </p:nvSpPr>
        <p:spPr>
          <a:xfrm>
            <a:off x="3621024" y="3108960"/>
            <a:ext cx="2103120" cy="384048"/>
          </a:xfrm>
          <a:prstGeom prst="rect">
            <a:avLst/>
          </a:prstGeom>
          <a:noFill/>
          <a:ln/>
        </p:spPr>
        <p:txBody>
          <a:bodyPr wrap="square" rtlCol="0" anchor="ctr"/>
          <a:lstStyle/>
          <a:p>
            <a:pPr indent="0" marL="0">
              <a:lnSpc>
                <a:spcPct val="95000"/>
              </a:lnSpc>
              <a:buNone/>
            </a:pPr>
            <a:r>
              <a:rPr lang="en-US" sz="900" b="1" spc="50" kern="0" dirty="0">
                <a:solidFill>
                  <a:srgbClr val="16255C"/>
                </a:solidFill>
                <a:latin typeface="Arial" pitchFamily="34" charset="0"/>
                <a:ea typeface="Arial" pitchFamily="34" charset="-122"/>
                <a:cs typeface="Arial" pitchFamily="34" charset="-120"/>
              </a:rPr>
              <a:t>AFFILIATE NEL NETWORK</a:t>
            </a:r>
            <a:endParaRPr lang="en-US" sz="900" dirty="0"/>
          </a:p>
        </p:txBody>
      </p:sp>
      <p:sp>
        <p:nvSpPr>
          <p:cNvPr id="14" name="Text 11"/>
          <p:cNvSpPr/>
          <p:nvPr/>
        </p:nvSpPr>
        <p:spPr>
          <a:xfrm>
            <a:off x="3621024" y="3474720"/>
            <a:ext cx="2103120" cy="365760"/>
          </a:xfrm>
          <a:prstGeom prst="rect">
            <a:avLst/>
          </a:prstGeom>
          <a:noFill/>
          <a:ln/>
        </p:spPr>
        <p:txBody>
          <a:bodyPr wrap="square" rtlCol="0" anchor="ctr"/>
          <a:lstStyle/>
          <a:p>
            <a:pPr indent="0" marL="0">
              <a:lnSpc>
                <a:spcPct val="95000"/>
              </a:lnSpc>
              <a:buNone/>
            </a:pPr>
            <a:r>
              <a:rPr lang="en-US" sz="850" dirty="0">
                <a:solidFill>
                  <a:srgbClr val="8A929B"/>
                </a:solidFill>
                <a:latin typeface="Arial" pitchFamily="34" charset="0"/>
                <a:ea typeface="Arial" pitchFamily="34" charset="-122"/>
                <a:cs typeface="Arial" pitchFamily="34" charset="-120"/>
              </a:rPr>
              <a:t>in oltre 190 Paesi</a:t>
            </a:r>
            <a:endParaRPr lang="en-US" sz="850" dirty="0"/>
          </a:p>
        </p:txBody>
      </p:sp>
      <p:sp>
        <p:nvSpPr>
          <p:cNvPr id="15" name="Shape 12"/>
          <p:cNvSpPr/>
          <p:nvPr/>
        </p:nvSpPr>
        <p:spPr>
          <a:xfrm>
            <a:off x="6089904" y="2395728"/>
            <a:ext cx="2542032" cy="1572768"/>
          </a:xfrm>
          <a:prstGeom prst="roundRect">
            <a:avLst>
              <a:gd name="adj" fmla="val 4651"/>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6" name="Text 13"/>
          <p:cNvSpPr/>
          <p:nvPr/>
        </p:nvSpPr>
        <p:spPr>
          <a:xfrm>
            <a:off x="6345936" y="2578608"/>
            <a:ext cx="2103120" cy="512064"/>
          </a:xfrm>
          <a:prstGeom prst="rect">
            <a:avLst/>
          </a:prstGeom>
          <a:noFill/>
          <a:ln/>
        </p:spPr>
        <p:txBody>
          <a:bodyPr wrap="square" rtlCol="0" anchor="b"/>
          <a:lstStyle/>
          <a:p>
            <a:pPr indent="0" marL="0">
              <a:buNone/>
            </a:pPr>
            <a:r>
              <a:rPr lang="en-US" sz="2600" dirty="0">
                <a:solidFill>
                  <a:srgbClr val="1E3A7B"/>
                </a:solidFill>
                <a:latin typeface="Georgia" pitchFamily="34" charset="0"/>
                <a:ea typeface="Georgia" pitchFamily="34" charset="-122"/>
                <a:cs typeface="Georgia" pitchFamily="34" charset="-120"/>
              </a:rPr>
              <a:t>€7,48 mln</a:t>
            </a:r>
            <a:endParaRPr lang="en-US" sz="2600" dirty="0"/>
          </a:p>
        </p:txBody>
      </p:sp>
      <p:sp>
        <p:nvSpPr>
          <p:cNvPr id="17" name="Text 14"/>
          <p:cNvSpPr/>
          <p:nvPr/>
        </p:nvSpPr>
        <p:spPr>
          <a:xfrm>
            <a:off x="6345936" y="3108960"/>
            <a:ext cx="2103120" cy="384048"/>
          </a:xfrm>
          <a:prstGeom prst="rect">
            <a:avLst/>
          </a:prstGeom>
          <a:noFill/>
          <a:ln/>
        </p:spPr>
        <p:txBody>
          <a:bodyPr wrap="square" rtlCol="0" anchor="ctr"/>
          <a:lstStyle/>
          <a:p>
            <a:pPr indent="0" marL="0">
              <a:lnSpc>
                <a:spcPct val="95000"/>
              </a:lnSpc>
              <a:buNone/>
            </a:pPr>
            <a:r>
              <a:rPr lang="en-US" sz="900" b="1" spc="50" kern="0" dirty="0">
                <a:solidFill>
                  <a:srgbClr val="16255C"/>
                </a:solidFill>
                <a:latin typeface="Arial" pitchFamily="34" charset="0"/>
                <a:ea typeface="Arial" pitchFamily="34" charset="-122"/>
                <a:cs typeface="Arial" pitchFamily="34" charset="-120"/>
              </a:rPr>
              <a:t>FATTURATO 2023</a:t>
            </a:r>
            <a:endParaRPr lang="en-US" sz="900" dirty="0"/>
          </a:p>
        </p:txBody>
      </p:sp>
      <p:sp>
        <p:nvSpPr>
          <p:cNvPr id="18" name="Text 15"/>
          <p:cNvSpPr/>
          <p:nvPr/>
        </p:nvSpPr>
        <p:spPr>
          <a:xfrm>
            <a:off x="6345936" y="3474720"/>
            <a:ext cx="2103120" cy="365760"/>
          </a:xfrm>
          <a:prstGeom prst="rect">
            <a:avLst/>
          </a:prstGeom>
          <a:noFill/>
          <a:ln/>
        </p:spPr>
        <p:txBody>
          <a:bodyPr wrap="square" rtlCol="0" anchor="ctr"/>
          <a:lstStyle/>
          <a:p>
            <a:pPr indent="0" marL="0">
              <a:lnSpc>
                <a:spcPct val="95000"/>
              </a:lnSpc>
              <a:buNone/>
            </a:pPr>
            <a:r>
              <a:rPr lang="en-US" sz="850" dirty="0">
                <a:solidFill>
                  <a:srgbClr val="8A929B"/>
                </a:solidFill>
                <a:latin typeface="Arial" pitchFamily="34" charset="0"/>
                <a:ea typeface="Arial" pitchFamily="34" charset="-122"/>
                <a:cs typeface="Arial" pitchFamily="34" charset="-120"/>
              </a:rPr>
              <a:t>×3,2 rispetto al 2020 (€2,33 mln)</a:t>
            </a:r>
            <a:endParaRPr lang="en-US" sz="850" dirty="0"/>
          </a:p>
        </p:txBody>
      </p:sp>
      <p:sp>
        <p:nvSpPr>
          <p:cNvPr id="19" name="Shape 16"/>
          <p:cNvSpPr/>
          <p:nvPr/>
        </p:nvSpPr>
        <p:spPr>
          <a:xfrm>
            <a:off x="8814816" y="2395728"/>
            <a:ext cx="2542032" cy="1572768"/>
          </a:xfrm>
          <a:prstGeom prst="roundRect">
            <a:avLst>
              <a:gd name="adj" fmla="val 4651"/>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20" name="Text 17"/>
          <p:cNvSpPr/>
          <p:nvPr/>
        </p:nvSpPr>
        <p:spPr>
          <a:xfrm>
            <a:off x="9070848" y="2578608"/>
            <a:ext cx="2103120" cy="512064"/>
          </a:xfrm>
          <a:prstGeom prst="rect">
            <a:avLst/>
          </a:prstGeom>
          <a:noFill/>
          <a:ln/>
        </p:spPr>
        <p:txBody>
          <a:bodyPr wrap="square" rtlCol="0" anchor="b"/>
          <a:lstStyle/>
          <a:p>
            <a:pPr indent="0" marL="0">
              <a:buNone/>
            </a:pPr>
            <a:r>
              <a:rPr lang="en-US" sz="2600" dirty="0">
                <a:solidFill>
                  <a:srgbClr val="1E3A7B"/>
                </a:solidFill>
                <a:latin typeface="Georgia" pitchFamily="34" charset="0"/>
                <a:ea typeface="Georgia" pitchFamily="34" charset="-122"/>
                <a:cs typeface="Georgia" pitchFamily="34" charset="-120"/>
              </a:rPr>
              <a:t>16,4%</a:t>
            </a:r>
            <a:endParaRPr lang="en-US" sz="2600" dirty="0"/>
          </a:p>
        </p:txBody>
      </p:sp>
      <p:sp>
        <p:nvSpPr>
          <p:cNvPr id="21" name="Text 18"/>
          <p:cNvSpPr/>
          <p:nvPr/>
        </p:nvSpPr>
        <p:spPr>
          <a:xfrm>
            <a:off x="9070848" y="3108960"/>
            <a:ext cx="2103120" cy="384048"/>
          </a:xfrm>
          <a:prstGeom prst="rect">
            <a:avLst/>
          </a:prstGeom>
          <a:noFill/>
          <a:ln/>
        </p:spPr>
        <p:txBody>
          <a:bodyPr wrap="square" rtlCol="0" anchor="ctr"/>
          <a:lstStyle/>
          <a:p>
            <a:pPr indent="0" marL="0">
              <a:lnSpc>
                <a:spcPct val="95000"/>
              </a:lnSpc>
              <a:buNone/>
            </a:pPr>
            <a:r>
              <a:rPr lang="en-US" sz="900" b="1" spc="50" kern="0" dirty="0">
                <a:solidFill>
                  <a:srgbClr val="16255C"/>
                </a:solidFill>
                <a:latin typeface="Arial" pitchFamily="34" charset="0"/>
                <a:ea typeface="Arial" pitchFamily="34" charset="-122"/>
                <a:cs typeface="Arial" pitchFamily="34" charset="-120"/>
              </a:rPr>
              <a:t>MARGINE LORDO DI RETE</a:t>
            </a:r>
            <a:endParaRPr lang="en-US" sz="900" dirty="0"/>
          </a:p>
        </p:txBody>
      </p:sp>
      <p:sp>
        <p:nvSpPr>
          <p:cNvPr id="22" name="Text 19"/>
          <p:cNvSpPr/>
          <p:nvPr/>
        </p:nvSpPr>
        <p:spPr>
          <a:xfrm>
            <a:off x="9070848" y="3474720"/>
            <a:ext cx="2103120" cy="365760"/>
          </a:xfrm>
          <a:prstGeom prst="rect">
            <a:avLst/>
          </a:prstGeom>
          <a:noFill/>
          <a:ln/>
        </p:spPr>
        <p:txBody>
          <a:bodyPr wrap="square" rtlCol="0" anchor="ctr"/>
          <a:lstStyle/>
          <a:p>
            <a:pPr indent="0" marL="0">
              <a:lnSpc>
                <a:spcPct val="95000"/>
              </a:lnSpc>
              <a:buNone/>
            </a:pPr>
            <a:r>
              <a:rPr lang="en-US" sz="850" dirty="0">
                <a:solidFill>
                  <a:srgbClr val="8A929B"/>
                </a:solidFill>
                <a:latin typeface="Arial" pitchFamily="34" charset="0"/>
                <a:ea typeface="Arial" pitchFamily="34" charset="-122"/>
                <a:cs typeface="Arial" pitchFamily="34" charset="-120"/>
              </a:rPr>
              <a:t>modello multi-vettore ad alta rotazione</a:t>
            </a:r>
            <a:endParaRPr lang="en-US" sz="850" dirty="0"/>
          </a:p>
        </p:txBody>
      </p:sp>
      <p:sp>
        <p:nvSpPr>
          <p:cNvPr id="23" name="Shape 20"/>
          <p:cNvSpPr/>
          <p:nvPr/>
        </p:nvSpPr>
        <p:spPr>
          <a:xfrm>
            <a:off x="640080" y="4224528"/>
            <a:ext cx="6446520" cy="1417320"/>
          </a:xfrm>
          <a:prstGeom prst="roundRect">
            <a:avLst>
              <a:gd name="adj" fmla="val 5161"/>
            </a:avLst>
          </a:prstGeom>
          <a:solidFill>
            <a:srgbClr val="F4E9CE"/>
          </a:solidFill>
          <a:ln w="12700">
            <a:solidFill>
              <a:srgbClr val="E7D6AE"/>
            </a:solidFill>
            <a:prstDash val="solid"/>
          </a:ln>
          <a:effectLst>
            <a:outerShdw sx="100000" sy="100000" kx="0" ky="0" algn="bl" rotWithShape="0" blurRad="88900" dist="25400" dir="5400000">
              <a:srgbClr val="D9D5CC">
                <a:alpha val="40000"/>
              </a:srgbClr>
            </a:outerShdw>
          </a:effectLst>
        </p:spPr>
      </p:sp>
      <p:sp>
        <p:nvSpPr>
          <p:cNvPr id="24" name="Text 21"/>
          <p:cNvSpPr/>
          <p:nvPr/>
        </p:nvSpPr>
        <p:spPr>
          <a:xfrm>
            <a:off x="960120" y="4389120"/>
            <a:ext cx="5852160" cy="457200"/>
          </a:xfrm>
          <a:prstGeom prst="rect">
            <a:avLst/>
          </a:prstGeom>
          <a:noFill/>
          <a:ln/>
        </p:spPr>
        <p:txBody>
          <a:bodyPr wrap="square" rtlCol="0" anchor="ctr"/>
          <a:lstStyle/>
          <a:p>
            <a:pPr indent="0" marL="0">
              <a:buNone/>
            </a:pPr>
            <a:r>
              <a:rPr lang="en-US" sz="1800" i="1" dirty="0">
                <a:solidFill>
                  <a:srgbClr val="D8901A"/>
                </a:solidFill>
                <a:latin typeface="Georgia" pitchFamily="34" charset="0"/>
                <a:ea typeface="Georgia" pitchFamily="34" charset="-122"/>
                <a:cs typeface="Georgia" pitchFamily="34" charset="-120"/>
              </a:rPr>
              <a:t>«We go far and keep close to you»</a:t>
            </a:r>
            <a:endParaRPr lang="en-US" sz="1800" dirty="0"/>
          </a:p>
        </p:txBody>
      </p:sp>
      <p:sp>
        <p:nvSpPr>
          <p:cNvPr id="25" name="Text 22"/>
          <p:cNvSpPr/>
          <p:nvPr/>
        </p:nvSpPr>
        <p:spPr>
          <a:xfrm>
            <a:off x="960120" y="4901184"/>
            <a:ext cx="5852160" cy="640080"/>
          </a:xfrm>
          <a:prstGeom prst="rect">
            <a:avLst/>
          </a:prstGeom>
          <a:noFill/>
          <a:ln/>
        </p:spPr>
        <p:txBody>
          <a:bodyPr wrap="square" rtlCol="0" anchor="t"/>
          <a:lstStyle/>
          <a:p>
            <a:pPr algn="l" indent="0" marL="0">
              <a:lnSpc>
                <a:spcPct val="120000"/>
              </a:lnSpc>
              <a:buNone/>
            </a:pPr>
            <a:r>
              <a:rPr lang="en-US" sz="1050" dirty="0">
                <a:solidFill>
                  <a:srgbClr val="7A6220"/>
                </a:solidFill>
                <a:latin typeface="Arial" pitchFamily="34" charset="0"/>
                <a:ea typeface="Arial" pitchFamily="34" charset="-122"/>
                <a:cs typeface="Arial" pitchFamily="34" charset="-120"/>
              </a:rPr>
              <a:t>Copertura globale e prossimità al cliente: affidabilità (OTD fino al 79,8% sui nodi presidiati), flessibilità multi-vettore e vicinanza relazionale sono i tre valori del modello operativo.</a:t>
            </a:r>
            <a:endParaRPr lang="en-US" sz="1050" dirty="0"/>
          </a:p>
        </p:txBody>
      </p:sp>
      <p:sp>
        <p:nvSpPr>
          <p:cNvPr id="26" name="Text 23"/>
          <p:cNvSpPr/>
          <p:nvPr/>
        </p:nvSpPr>
        <p:spPr>
          <a:xfrm>
            <a:off x="7360920" y="4261104"/>
            <a:ext cx="4114800" cy="256032"/>
          </a:xfrm>
          <a:prstGeom prst="rect">
            <a:avLst/>
          </a:prstGeom>
          <a:noFill/>
          <a:ln/>
        </p:spPr>
        <p:txBody>
          <a:bodyPr wrap="square" rtlCol="0" anchor="ctr"/>
          <a:lstStyle/>
          <a:p>
            <a:pPr indent="0" marL="0">
              <a:buNone/>
            </a:pPr>
            <a:r>
              <a:rPr lang="en-US" sz="950" b="1" spc="150" kern="0" dirty="0">
                <a:solidFill>
                  <a:srgbClr val="8A929B"/>
                </a:solidFill>
                <a:latin typeface="Arial" pitchFamily="34" charset="0"/>
                <a:ea typeface="Arial" pitchFamily="34" charset="-122"/>
                <a:cs typeface="Arial" pitchFamily="34" charset="-120"/>
              </a:rPr>
              <a:t>CREDENZIALI</a:t>
            </a:r>
            <a:endParaRPr lang="en-US" sz="950" dirty="0"/>
          </a:p>
        </p:txBody>
      </p:sp>
      <p:sp>
        <p:nvSpPr>
          <p:cNvPr id="27" name="Shape 24"/>
          <p:cNvSpPr/>
          <p:nvPr/>
        </p:nvSpPr>
        <p:spPr>
          <a:xfrm>
            <a:off x="7360920" y="4617720"/>
            <a:ext cx="100584" cy="100584"/>
          </a:xfrm>
          <a:prstGeom prst="rect">
            <a:avLst/>
          </a:prstGeom>
          <a:solidFill>
            <a:srgbClr val="1E7DC2"/>
          </a:solidFill>
          <a:ln/>
        </p:spPr>
      </p:sp>
      <p:sp>
        <p:nvSpPr>
          <p:cNvPr id="28" name="Text 25"/>
          <p:cNvSpPr/>
          <p:nvPr/>
        </p:nvSpPr>
        <p:spPr>
          <a:xfrm>
            <a:off x="7598664" y="4535424"/>
            <a:ext cx="3931920" cy="384048"/>
          </a:xfrm>
          <a:prstGeom prst="rect">
            <a:avLst/>
          </a:prstGeom>
          <a:noFill/>
          <a:ln/>
        </p:spPr>
        <p:txBody>
          <a:bodyPr wrap="square" rtlCol="0" anchor="ctr"/>
          <a:lstStyle/>
          <a:p>
            <a:pPr indent="0" marL="0">
              <a:lnSpc>
                <a:spcPct val="95000"/>
              </a:lnSpc>
              <a:buNone/>
            </a:pPr>
            <a:r>
              <a:rPr lang="en-US" sz="1000" b="1" dirty="0">
                <a:solidFill>
                  <a:srgbClr val="16255C"/>
                </a:solidFill>
                <a:latin typeface="Arial" pitchFamily="34" charset="0"/>
                <a:ea typeface="Arial" pitchFamily="34" charset="-122"/>
                <a:cs typeface="Arial" pitchFamily="34" charset="-120"/>
              </a:rPr>
              <a:t>WCA Certified Member  </a:t>
            </a:r>
            <a:pPr indent="0" marL="0">
              <a:lnSpc>
                <a:spcPct val="95000"/>
              </a:lnSpc>
              <a:buNone/>
            </a:pPr>
            <a:r>
              <a:rPr lang="en-US" sz="1000" dirty="0">
                <a:solidFill>
                  <a:srgbClr val="8A929B"/>
                </a:solidFill>
                <a:latin typeface="Arial" pitchFamily="34" charset="0"/>
                <a:ea typeface="Arial" pitchFamily="34" charset="-122"/>
                <a:cs typeface="Arial" pitchFamily="34" charset="-120"/>
              </a:rPr>
              <a:t>· network mondiale spedizionieri</a:t>
            </a:r>
            <a:endParaRPr lang="en-US" sz="1000" dirty="0"/>
          </a:p>
        </p:txBody>
      </p:sp>
      <p:sp>
        <p:nvSpPr>
          <p:cNvPr id="29" name="Shape 26"/>
          <p:cNvSpPr/>
          <p:nvPr/>
        </p:nvSpPr>
        <p:spPr>
          <a:xfrm>
            <a:off x="7360920" y="5020056"/>
            <a:ext cx="100584" cy="100584"/>
          </a:xfrm>
          <a:prstGeom prst="rect">
            <a:avLst/>
          </a:prstGeom>
          <a:solidFill>
            <a:srgbClr val="1E7DC2"/>
          </a:solidFill>
          <a:ln/>
        </p:spPr>
      </p:sp>
      <p:sp>
        <p:nvSpPr>
          <p:cNvPr id="30" name="Text 27"/>
          <p:cNvSpPr/>
          <p:nvPr/>
        </p:nvSpPr>
        <p:spPr>
          <a:xfrm>
            <a:off x="7598664" y="4937760"/>
            <a:ext cx="3931920" cy="384048"/>
          </a:xfrm>
          <a:prstGeom prst="rect">
            <a:avLst/>
          </a:prstGeom>
          <a:noFill/>
          <a:ln/>
        </p:spPr>
        <p:txBody>
          <a:bodyPr wrap="square" rtlCol="0" anchor="ctr"/>
          <a:lstStyle/>
          <a:p>
            <a:pPr indent="0" marL="0">
              <a:lnSpc>
                <a:spcPct val="95000"/>
              </a:lnSpc>
              <a:buNone/>
            </a:pPr>
            <a:r>
              <a:rPr lang="en-US" sz="1000" b="1" dirty="0">
                <a:solidFill>
                  <a:srgbClr val="16255C"/>
                </a:solidFill>
                <a:latin typeface="Arial" pitchFamily="34" charset="0"/>
                <a:ea typeface="Arial" pitchFamily="34" charset="-122"/>
                <a:cs typeface="Arial" pitchFamily="34" charset="-120"/>
              </a:rPr>
              <a:t>IATA Cargo Agent  </a:t>
            </a:r>
            <a:pPr indent="0" marL="0">
              <a:lnSpc>
                <a:spcPct val="95000"/>
              </a:lnSpc>
              <a:buNone/>
            </a:pPr>
            <a:r>
              <a:rPr lang="en-US" sz="1000" dirty="0">
                <a:solidFill>
                  <a:srgbClr val="8A929B"/>
                </a:solidFill>
                <a:latin typeface="Arial" pitchFamily="34" charset="0"/>
                <a:ea typeface="Arial" pitchFamily="34" charset="-122"/>
                <a:cs typeface="Arial" pitchFamily="34" charset="-120"/>
              </a:rPr>
              <a:t>· certificazione trasporto aereo</a:t>
            </a:r>
            <a:endParaRPr lang="en-US" sz="1000" dirty="0"/>
          </a:p>
        </p:txBody>
      </p:sp>
      <p:sp>
        <p:nvSpPr>
          <p:cNvPr id="31" name="Shape 28"/>
          <p:cNvSpPr/>
          <p:nvPr/>
        </p:nvSpPr>
        <p:spPr>
          <a:xfrm>
            <a:off x="7360920" y="5422392"/>
            <a:ext cx="100584" cy="100584"/>
          </a:xfrm>
          <a:prstGeom prst="rect">
            <a:avLst/>
          </a:prstGeom>
          <a:solidFill>
            <a:srgbClr val="1E7DC2"/>
          </a:solidFill>
          <a:ln/>
        </p:spPr>
      </p:sp>
      <p:sp>
        <p:nvSpPr>
          <p:cNvPr id="32" name="Text 29"/>
          <p:cNvSpPr/>
          <p:nvPr/>
        </p:nvSpPr>
        <p:spPr>
          <a:xfrm>
            <a:off x="7598664" y="5340096"/>
            <a:ext cx="3931920" cy="384048"/>
          </a:xfrm>
          <a:prstGeom prst="rect">
            <a:avLst/>
          </a:prstGeom>
          <a:noFill/>
          <a:ln/>
        </p:spPr>
        <p:txBody>
          <a:bodyPr wrap="square" rtlCol="0" anchor="ctr"/>
          <a:lstStyle/>
          <a:p>
            <a:pPr indent="0" marL="0">
              <a:lnSpc>
                <a:spcPct val="95000"/>
              </a:lnSpc>
              <a:buNone/>
            </a:pPr>
            <a:r>
              <a:rPr lang="en-US" sz="1000" b="1" dirty="0">
                <a:solidFill>
                  <a:srgbClr val="16255C"/>
                </a:solidFill>
                <a:latin typeface="Arial" pitchFamily="34" charset="0"/>
                <a:ea typeface="Arial" pitchFamily="34" charset="-122"/>
                <a:cs typeface="Arial" pitchFamily="34" charset="-120"/>
              </a:rPr>
              <a:t>Adesione AICAI  </a:t>
            </a:r>
            <a:pPr indent="0" marL="0">
              <a:lnSpc>
                <a:spcPct val="95000"/>
              </a:lnSpc>
              <a:buNone/>
            </a:pPr>
            <a:r>
              <a:rPr lang="en-US" sz="1000" dirty="0">
                <a:solidFill>
                  <a:srgbClr val="8A929B"/>
                </a:solidFill>
                <a:latin typeface="Arial" pitchFamily="34" charset="0"/>
                <a:ea typeface="Arial" pitchFamily="34" charset="-122"/>
                <a:cs typeface="Arial" pitchFamily="34" charset="-120"/>
              </a:rPr>
              <a:t>· corrieri aerei internazionali</a:t>
            </a:r>
            <a:endParaRPr lang="en-US" sz="1000" dirty="0"/>
          </a:p>
        </p:txBody>
      </p:sp>
      <p:sp>
        <p:nvSpPr>
          <p:cNvPr id="33" name="Shape 30"/>
          <p:cNvSpPr/>
          <p:nvPr/>
        </p:nvSpPr>
        <p:spPr>
          <a:xfrm>
            <a:off x="640080" y="6437376"/>
            <a:ext cx="10911535" cy="0"/>
          </a:xfrm>
          <a:prstGeom prst="line">
            <a:avLst/>
          </a:prstGeom>
          <a:noFill/>
          <a:ln w="12700">
            <a:solidFill>
              <a:srgbClr val="E4E1D9"/>
            </a:solidFill>
            <a:prstDash val="solid"/>
          </a:ln>
        </p:spPr>
      </p:sp>
      <p:sp>
        <p:nvSpPr>
          <p:cNvPr id="34" name="Text 31"/>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35" name="Text 32"/>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03 / 22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01 · IL MODELLO OPERATIVO</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Multi-carrier: arbitrare i grandi network, controllare il cliente</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Text 3"/>
          <p:cNvSpPr/>
          <p:nvPr/>
        </p:nvSpPr>
        <p:spPr>
          <a:xfrm>
            <a:off x="640080" y="1554480"/>
            <a:ext cx="10881360" cy="82296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Il modello è asset-light multi-carrier: la quasi totalità dei trasporti è affidata ai grandi network espressi, mentre il marchio proprio e una flotta interna presidiano i flussi a maggior valore. L'assetto consente di arbitrare tariffe e livelli di servizio, mantenendo il controllo commerciale del cliente.</a:t>
            </a:r>
            <a:endParaRPr lang="en-US" sz="1200" dirty="0"/>
          </a:p>
        </p:txBody>
      </p:sp>
      <p:sp>
        <p:nvSpPr>
          <p:cNvPr id="7" name="Shape 4"/>
          <p:cNvSpPr/>
          <p:nvPr/>
        </p:nvSpPr>
        <p:spPr>
          <a:xfrm>
            <a:off x="640080" y="2423160"/>
            <a:ext cx="5486400" cy="3200400"/>
          </a:xfrm>
          <a:prstGeom prst="roundRect">
            <a:avLst>
              <a:gd name="adj" fmla="val 2286"/>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8" name="Text 5"/>
          <p:cNvSpPr/>
          <p:nvPr/>
        </p:nvSpPr>
        <p:spPr>
          <a:xfrm>
            <a:off x="960120" y="2578608"/>
            <a:ext cx="4937760" cy="274320"/>
          </a:xfrm>
          <a:prstGeom prst="rect">
            <a:avLst/>
          </a:prstGeom>
          <a:noFill/>
          <a:ln/>
        </p:spPr>
        <p:txBody>
          <a:bodyPr wrap="square" rtlCol="0" anchor="ctr"/>
          <a:lstStyle/>
          <a:p>
            <a:pPr indent="0" marL="0">
              <a:buNone/>
            </a:pPr>
            <a:r>
              <a:rPr lang="en-US" sz="900" b="1" spc="120" kern="0" dirty="0">
                <a:solidFill>
                  <a:srgbClr val="8A929B"/>
                </a:solidFill>
                <a:latin typeface="Arial" pitchFamily="34" charset="0"/>
                <a:ea typeface="Arial" pitchFamily="34" charset="-122"/>
                <a:cs typeface="Arial" pitchFamily="34" charset="-120"/>
              </a:rPr>
              <a:t>MIX VETTORI SUL PERIMETRO ANALIZZATO</a:t>
            </a:r>
            <a:endParaRPr lang="en-US" sz="900" dirty="0"/>
          </a:p>
        </p:txBody>
      </p:sp>
      <p:sp>
        <p:nvSpPr>
          <p:cNvPr id="9" name="Text 6"/>
          <p:cNvSpPr/>
          <p:nvPr/>
        </p:nvSpPr>
        <p:spPr>
          <a:xfrm>
            <a:off x="960120" y="2999232"/>
            <a:ext cx="1737360" cy="365760"/>
          </a:xfrm>
          <a:prstGeom prst="rect">
            <a:avLst/>
          </a:prstGeom>
          <a:noFill/>
          <a:ln/>
        </p:spPr>
        <p:txBody>
          <a:bodyPr wrap="square" rtlCol="0" anchor="ctr"/>
          <a:lstStyle/>
          <a:p>
            <a:pPr indent="0" marL="0">
              <a:buNone/>
            </a:pPr>
            <a:r>
              <a:rPr lang="en-US" sz="1050" dirty="0">
                <a:solidFill>
                  <a:srgbClr val="16255C"/>
                </a:solidFill>
                <a:latin typeface="Arial" pitchFamily="34" charset="0"/>
                <a:ea typeface="Arial" pitchFamily="34" charset="-122"/>
                <a:cs typeface="Arial" pitchFamily="34" charset="-120"/>
              </a:rPr>
              <a:t>DHL Express</a:t>
            </a:r>
            <a:endParaRPr lang="en-US" sz="1050" dirty="0"/>
          </a:p>
        </p:txBody>
      </p:sp>
      <p:sp>
        <p:nvSpPr>
          <p:cNvPr id="10" name="Shape 7"/>
          <p:cNvSpPr/>
          <p:nvPr/>
        </p:nvSpPr>
        <p:spPr>
          <a:xfrm>
            <a:off x="2743200" y="3054096"/>
            <a:ext cx="2651760" cy="256032"/>
          </a:xfrm>
          <a:prstGeom prst="roundRect">
            <a:avLst>
              <a:gd name="adj" fmla="val 10714"/>
            </a:avLst>
          </a:prstGeom>
          <a:solidFill>
            <a:srgbClr val="1E3A7B"/>
          </a:solidFill>
          <a:ln/>
        </p:spPr>
      </p:sp>
      <p:sp>
        <p:nvSpPr>
          <p:cNvPr id="11" name="Text 8"/>
          <p:cNvSpPr/>
          <p:nvPr/>
        </p:nvSpPr>
        <p:spPr>
          <a:xfrm>
            <a:off x="5486400" y="2980944"/>
            <a:ext cx="914400" cy="402336"/>
          </a:xfrm>
          <a:prstGeom prst="rect">
            <a:avLst/>
          </a:prstGeom>
          <a:noFill/>
          <a:ln/>
        </p:spPr>
        <p:txBody>
          <a:bodyPr wrap="square" rtlCol="0" anchor="ctr"/>
          <a:lstStyle/>
          <a:p>
            <a:pPr indent="0" marL="0">
              <a:buNone/>
            </a:pPr>
            <a:r>
              <a:rPr lang="en-US" sz="1050" b="1" dirty="0">
                <a:solidFill>
                  <a:srgbClr val="16255C"/>
                </a:solidFill>
                <a:latin typeface="Arial" pitchFamily="34" charset="0"/>
                <a:ea typeface="Arial" pitchFamily="34" charset="-122"/>
                <a:cs typeface="Arial" pitchFamily="34" charset="-120"/>
              </a:rPr>
              <a:t>64,3%</a:t>
            </a:r>
            <a:endParaRPr lang="en-US" sz="1050" dirty="0"/>
          </a:p>
        </p:txBody>
      </p:sp>
      <p:sp>
        <p:nvSpPr>
          <p:cNvPr id="12" name="Text 9"/>
          <p:cNvSpPr/>
          <p:nvPr/>
        </p:nvSpPr>
        <p:spPr>
          <a:xfrm>
            <a:off x="960120" y="3502152"/>
            <a:ext cx="1737360" cy="365760"/>
          </a:xfrm>
          <a:prstGeom prst="rect">
            <a:avLst/>
          </a:prstGeom>
          <a:noFill/>
          <a:ln/>
        </p:spPr>
        <p:txBody>
          <a:bodyPr wrap="square" rtlCol="0" anchor="ctr"/>
          <a:lstStyle/>
          <a:p>
            <a:pPr indent="0" marL="0">
              <a:buNone/>
            </a:pPr>
            <a:r>
              <a:rPr lang="en-US" sz="1050" dirty="0">
                <a:solidFill>
                  <a:srgbClr val="16255C"/>
                </a:solidFill>
                <a:latin typeface="Arial" pitchFamily="34" charset="0"/>
                <a:ea typeface="Arial" pitchFamily="34" charset="-122"/>
                <a:cs typeface="Arial" pitchFamily="34" charset="-120"/>
              </a:rPr>
              <a:t>FedEx</a:t>
            </a:r>
            <a:endParaRPr lang="en-US" sz="1050" dirty="0"/>
          </a:p>
        </p:txBody>
      </p:sp>
      <p:sp>
        <p:nvSpPr>
          <p:cNvPr id="13" name="Shape 10"/>
          <p:cNvSpPr/>
          <p:nvPr/>
        </p:nvSpPr>
        <p:spPr>
          <a:xfrm>
            <a:off x="2743200" y="3557016"/>
            <a:ext cx="466017" cy="256032"/>
          </a:xfrm>
          <a:prstGeom prst="roundRect">
            <a:avLst>
              <a:gd name="adj" fmla="val 10714"/>
            </a:avLst>
          </a:prstGeom>
          <a:solidFill>
            <a:srgbClr val="1E7DC2"/>
          </a:solidFill>
          <a:ln/>
        </p:spPr>
      </p:sp>
      <p:sp>
        <p:nvSpPr>
          <p:cNvPr id="14" name="Text 11"/>
          <p:cNvSpPr/>
          <p:nvPr/>
        </p:nvSpPr>
        <p:spPr>
          <a:xfrm>
            <a:off x="3300657" y="3483864"/>
            <a:ext cx="914400" cy="402336"/>
          </a:xfrm>
          <a:prstGeom prst="rect">
            <a:avLst/>
          </a:prstGeom>
          <a:noFill/>
          <a:ln/>
        </p:spPr>
        <p:txBody>
          <a:bodyPr wrap="square" rtlCol="0" anchor="ctr"/>
          <a:lstStyle/>
          <a:p>
            <a:pPr indent="0" marL="0">
              <a:buNone/>
            </a:pPr>
            <a:r>
              <a:rPr lang="en-US" sz="1050" b="1" dirty="0">
                <a:solidFill>
                  <a:srgbClr val="16255C"/>
                </a:solidFill>
                <a:latin typeface="Arial" pitchFamily="34" charset="0"/>
                <a:ea typeface="Arial" pitchFamily="34" charset="-122"/>
                <a:cs typeface="Arial" pitchFamily="34" charset="-120"/>
              </a:rPr>
              <a:t>11,3%</a:t>
            </a:r>
            <a:endParaRPr lang="en-US" sz="1050" dirty="0"/>
          </a:p>
        </p:txBody>
      </p:sp>
      <p:sp>
        <p:nvSpPr>
          <p:cNvPr id="15" name="Text 12"/>
          <p:cNvSpPr/>
          <p:nvPr/>
        </p:nvSpPr>
        <p:spPr>
          <a:xfrm>
            <a:off x="960120" y="4005072"/>
            <a:ext cx="1737360" cy="365760"/>
          </a:xfrm>
          <a:prstGeom prst="rect">
            <a:avLst/>
          </a:prstGeom>
          <a:noFill/>
          <a:ln/>
        </p:spPr>
        <p:txBody>
          <a:bodyPr wrap="square" rtlCol="0" anchor="ctr"/>
          <a:lstStyle/>
          <a:p>
            <a:pPr indent="0" marL="0">
              <a:buNone/>
            </a:pPr>
            <a:r>
              <a:rPr lang="en-US" sz="1050" dirty="0">
                <a:solidFill>
                  <a:srgbClr val="16255C"/>
                </a:solidFill>
                <a:latin typeface="Arial" pitchFamily="34" charset="0"/>
                <a:ea typeface="Arial" pitchFamily="34" charset="-122"/>
                <a:cs typeface="Arial" pitchFamily="34" charset="-120"/>
              </a:rPr>
              <a:t>UPS</a:t>
            </a:r>
            <a:endParaRPr lang="en-US" sz="1050" dirty="0"/>
          </a:p>
        </p:txBody>
      </p:sp>
      <p:sp>
        <p:nvSpPr>
          <p:cNvPr id="16" name="Shape 13"/>
          <p:cNvSpPr/>
          <p:nvPr/>
        </p:nvSpPr>
        <p:spPr>
          <a:xfrm>
            <a:off x="2743200" y="4059936"/>
            <a:ext cx="445397" cy="256032"/>
          </a:xfrm>
          <a:prstGeom prst="roundRect">
            <a:avLst>
              <a:gd name="adj" fmla="val 10714"/>
            </a:avLst>
          </a:prstGeom>
          <a:solidFill>
            <a:srgbClr val="1E7DC2"/>
          </a:solidFill>
          <a:ln/>
        </p:spPr>
      </p:sp>
      <p:sp>
        <p:nvSpPr>
          <p:cNvPr id="17" name="Text 14"/>
          <p:cNvSpPr/>
          <p:nvPr/>
        </p:nvSpPr>
        <p:spPr>
          <a:xfrm>
            <a:off x="3280037" y="3986784"/>
            <a:ext cx="914400" cy="402336"/>
          </a:xfrm>
          <a:prstGeom prst="rect">
            <a:avLst/>
          </a:prstGeom>
          <a:noFill/>
          <a:ln/>
        </p:spPr>
        <p:txBody>
          <a:bodyPr wrap="square" rtlCol="0" anchor="ctr"/>
          <a:lstStyle/>
          <a:p>
            <a:pPr indent="0" marL="0">
              <a:buNone/>
            </a:pPr>
            <a:r>
              <a:rPr lang="en-US" sz="1050" b="1" dirty="0">
                <a:solidFill>
                  <a:srgbClr val="16255C"/>
                </a:solidFill>
                <a:latin typeface="Arial" pitchFamily="34" charset="0"/>
                <a:ea typeface="Arial" pitchFamily="34" charset="-122"/>
                <a:cs typeface="Arial" pitchFamily="34" charset="-120"/>
              </a:rPr>
              <a:t>10,8%</a:t>
            </a:r>
            <a:endParaRPr lang="en-US" sz="1050" dirty="0"/>
          </a:p>
        </p:txBody>
      </p:sp>
      <p:sp>
        <p:nvSpPr>
          <p:cNvPr id="18" name="Text 15"/>
          <p:cNvSpPr/>
          <p:nvPr/>
        </p:nvSpPr>
        <p:spPr>
          <a:xfrm>
            <a:off x="960120" y="4507992"/>
            <a:ext cx="1737360" cy="365760"/>
          </a:xfrm>
          <a:prstGeom prst="rect">
            <a:avLst/>
          </a:prstGeom>
          <a:noFill/>
          <a:ln/>
        </p:spPr>
        <p:txBody>
          <a:bodyPr wrap="square" rtlCol="0" anchor="ctr"/>
          <a:lstStyle/>
          <a:p>
            <a:pPr indent="0" marL="0">
              <a:buNone/>
            </a:pPr>
            <a:r>
              <a:rPr lang="en-US" sz="1050" dirty="0">
                <a:solidFill>
                  <a:srgbClr val="16255C"/>
                </a:solidFill>
                <a:latin typeface="Arial" pitchFamily="34" charset="0"/>
                <a:ea typeface="Arial" pitchFamily="34" charset="-122"/>
                <a:cs typeface="Arial" pitchFamily="34" charset="-120"/>
              </a:rPr>
              <a:t>Marchio proprio</a:t>
            </a:r>
            <a:endParaRPr lang="en-US" sz="1050" dirty="0"/>
          </a:p>
        </p:txBody>
      </p:sp>
      <p:sp>
        <p:nvSpPr>
          <p:cNvPr id="19" name="Shape 16"/>
          <p:cNvSpPr/>
          <p:nvPr/>
        </p:nvSpPr>
        <p:spPr>
          <a:xfrm>
            <a:off x="2743200" y="4562856"/>
            <a:ext cx="400032" cy="256032"/>
          </a:xfrm>
          <a:prstGeom prst="roundRect">
            <a:avLst>
              <a:gd name="adj" fmla="val 10714"/>
            </a:avLst>
          </a:prstGeom>
          <a:solidFill>
            <a:srgbClr val="7FA6CE"/>
          </a:solidFill>
          <a:ln/>
        </p:spPr>
      </p:sp>
      <p:sp>
        <p:nvSpPr>
          <p:cNvPr id="20" name="Text 17"/>
          <p:cNvSpPr/>
          <p:nvPr/>
        </p:nvSpPr>
        <p:spPr>
          <a:xfrm>
            <a:off x="3234672" y="4489704"/>
            <a:ext cx="914400" cy="402336"/>
          </a:xfrm>
          <a:prstGeom prst="rect">
            <a:avLst/>
          </a:prstGeom>
          <a:noFill/>
          <a:ln/>
        </p:spPr>
        <p:txBody>
          <a:bodyPr wrap="square" rtlCol="0" anchor="ctr"/>
          <a:lstStyle/>
          <a:p>
            <a:pPr indent="0" marL="0">
              <a:buNone/>
            </a:pPr>
            <a:r>
              <a:rPr lang="en-US" sz="1050" b="1" dirty="0">
                <a:solidFill>
                  <a:srgbClr val="16255C"/>
                </a:solidFill>
                <a:latin typeface="Arial" pitchFamily="34" charset="0"/>
                <a:ea typeface="Arial" pitchFamily="34" charset="-122"/>
                <a:cs typeface="Arial" pitchFamily="34" charset="-120"/>
              </a:rPr>
              <a:t>9,7%</a:t>
            </a:r>
            <a:endParaRPr lang="en-US" sz="1050" dirty="0"/>
          </a:p>
        </p:txBody>
      </p:sp>
      <p:sp>
        <p:nvSpPr>
          <p:cNvPr id="21" name="Text 18"/>
          <p:cNvSpPr/>
          <p:nvPr/>
        </p:nvSpPr>
        <p:spPr>
          <a:xfrm>
            <a:off x="960120" y="5010912"/>
            <a:ext cx="1737360" cy="365760"/>
          </a:xfrm>
          <a:prstGeom prst="rect">
            <a:avLst/>
          </a:prstGeom>
          <a:noFill/>
          <a:ln/>
        </p:spPr>
        <p:txBody>
          <a:bodyPr wrap="square" rtlCol="0" anchor="ctr"/>
          <a:lstStyle/>
          <a:p>
            <a:pPr indent="0" marL="0">
              <a:buNone/>
            </a:pPr>
            <a:r>
              <a:rPr lang="en-US" sz="1050" dirty="0">
                <a:solidFill>
                  <a:srgbClr val="16255C"/>
                </a:solidFill>
                <a:latin typeface="Arial" pitchFamily="34" charset="0"/>
                <a:ea typeface="Arial" pitchFamily="34" charset="-122"/>
                <a:cs typeface="Arial" pitchFamily="34" charset="-120"/>
              </a:rPr>
              <a:t>Flotta interna</a:t>
            </a:r>
            <a:endParaRPr lang="en-US" sz="1050" dirty="0"/>
          </a:p>
        </p:txBody>
      </p:sp>
      <p:sp>
        <p:nvSpPr>
          <p:cNvPr id="22" name="Shape 19"/>
          <p:cNvSpPr/>
          <p:nvPr/>
        </p:nvSpPr>
        <p:spPr>
          <a:xfrm>
            <a:off x="2743200" y="5065776"/>
            <a:ext cx="156714" cy="256032"/>
          </a:xfrm>
          <a:prstGeom prst="roundRect">
            <a:avLst>
              <a:gd name="adj" fmla="val 17504"/>
            </a:avLst>
          </a:prstGeom>
          <a:solidFill>
            <a:srgbClr val="D8901A"/>
          </a:solidFill>
          <a:ln/>
        </p:spPr>
      </p:sp>
      <p:sp>
        <p:nvSpPr>
          <p:cNvPr id="23" name="Text 20"/>
          <p:cNvSpPr/>
          <p:nvPr/>
        </p:nvSpPr>
        <p:spPr>
          <a:xfrm>
            <a:off x="2991354" y="4992624"/>
            <a:ext cx="914400" cy="402336"/>
          </a:xfrm>
          <a:prstGeom prst="rect">
            <a:avLst/>
          </a:prstGeom>
          <a:noFill/>
          <a:ln/>
        </p:spPr>
        <p:txBody>
          <a:bodyPr wrap="square" rtlCol="0" anchor="ctr"/>
          <a:lstStyle/>
          <a:p>
            <a:pPr indent="0" marL="0">
              <a:buNone/>
            </a:pPr>
            <a:r>
              <a:rPr lang="en-US" sz="1050" b="1" dirty="0">
                <a:solidFill>
                  <a:srgbClr val="16255C"/>
                </a:solidFill>
                <a:latin typeface="Arial" pitchFamily="34" charset="0"/>
                <a:ea typeface="Arial" pitchFamily="34" charset="-122"/>
                <a:cs typeface="Arial" pitchFamily="34" charset="-120"/>
              </a:rPr>
              <a:t>3,8%</a:t>
            </a:r>
            <a:endParaRPr lang="en-US" sz="1050" dirty="0"/>
          </a:p>
        </p:txBody>
      </p:sp>
      <p:sp>
        <p:nvSpPr>
          <p:cNvPr id="24" name="Text 21"/>
          <p:cNvSpPr/>
          <p:nvPr/>
        </p:nvSpPr>
        <p:spPr>
          <a:xfrm>
            <a:off x="6400800" y="2514600"/>
            <a:ext cx="5120640" cy="274320"/>
          </a:xfrm>
          <a:prstGeom prst="rect">
            <a:avLst/>
          </a:prstGeom>
          <a:noFill/>
          <a:ln/>
        </p:spPr>
        <p:txBody>
          <a:bodyPr wrap="square" rtlCol="0" anchor="ctr"/>
          <a:lstStyle/>
          <a:p>
            <a:pPr indent="0" marL="0">
              <a:buNone/>
            </a:pPr>
            <a:r>
              <a:rPr lang="en-US" sz="950" b="1" spc="120" kern="0" dirty="0">
                <a:solidFill>
                  <a:srgbClr val="8A929B"/>
                </a:solidFill>
                <a:latin typeface="Arial" pitchFamily="34" charset="0"/>
                <a:ea typeface="Arial" pitchFamily="34" charset="-122"/>
                <a:cs typeface="Arial" pitchFamily="34" charset="-120"/>
              </a:rPr>
              <a:t>UN PORTAFOGLIO CENTRATO SULL'URGENZA</a:t>
            </a:r>
            <a:endParaRPr lang="en-US" sz="950" dirty="0"/>
          </a:p>
        </p:txBody>
      </p:sp>
      <p:sp>
        <p:nvSpPr>
          <p:cNvPr id="25" name="Shape 22"/>
          <p:cNvSpPr/>
          <p:nvPr/>
        </p:nvSpPr>
        <p:spPr>
          <a:xfrm>
            <a:off x="6400800" y="2935224"/>
            <a:ext cx="100584" cy="100584"/>
          </a:xfrm>
          <a:prstGeom prst="rect">
            <a:avLst/>
          </a:prstGeom>
          <a:solidFill>
            <a:srgbClr val="1E7DC2"/>
          </a:solidFill>
          <a:ln/>
        </p:spPr>
      </p:sp>
      <p:sp>
        <p:nvSpPr>
          <p:cNvPr id="26" name="Text 23"/>
          <p:cNvSpPr/>
          <p:nvPr/>
        </p:nvSpPr>
        <p:spPr>
          <a:xfrm>
            <a:off x="6638544" y="2852928"/>
            <a:ext cx="4882896" cy="658368"/>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Express &amp; domestico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DHL Express Domestic è il servizio più usato: 39.224 spedizioni</a:t>
            </a:r>
            <a:endParaRPr lang="en-US" sz="1100" dirty="0"/>
          </a:p>
        </p:txBody>
      </p:sp>
      <p:sp>
        <p:nvSpPr>
          <p:cNvPr id="27" name="Shape 24"/>
          <p:cNvSpPr/>
          <p:nvPr/>
        </p:nvSpPr>
        <p:spPr>
          <a:xfrm>
            <a:off x="6400800" y="3593592"/>
            <a:ext cx="100584" cy="100584"/>
          </a:xfrm>
          <a:prstGeom prst="rect">
            <a:avLst/>
          </a:prstGeom>
          <a:solidFill>
            <a:srgbClr val="1E7DC2"/>
          </a:solidFill>
          <a:ln/>
        </p:spPr>
      </p:sp>
      <p:sp>
        <p:nvSpPr>
          <p:cNvPr id="28" name="Text 25"/>
          <p:cNvSpPr/>
          <p:nvPr/>
        </p:nvSpPr>
        <p:spPr>
          <a:xfrm>
            <a:off x="6638544" y="3511296"/>
            <a:ext cx="4882896" cy="658368"/>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Time-definite premium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Express 9:00 e 12:00: 7.564 spedizioni complessive</a:t>
            </a:r>
            <a:endParaRPr lang="en-US" sz="1100" dirty="0"/>
          </a:p>
        </p:txBody>
      </p:sp>
      <p:sp>
        <p:nvSpPr>
          <p:cNvPr id="29" name="Shape 26"/>
          <p:cNvSpPr/>
          <p:nvPr/>
        </p:nvSpPr>
        <p:spPr>
          <a:xfrm>
            <a:off x="6400800" y="4251960"/>
            <a:ext cx="100584" cy="100584"/>
          </a:xfrm>
          <a:prstGeom prst="rect">
            <a:avLst/>
          </a:prstGeom>
          <a:solidFill>
            <a:srgbClr val="1E7DC2"/>
          </a:solidFill>
          <a:ln/>
        </p:spPr>
      </p:sp>
      <p:sp>
        <p:nvSpPr>
          <p:cNvPr id="30" name="Text 27"/>
          <p:cNvSpPr/>
          <p:nvPr/>
        </p:nvSpPr>
        <p:spPr>
          <a:xfrm>
            <a:off x="6638544" y="4169664"/>
            <a:ext cx="4882896" cy="658368"/>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Internazionale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Worldwide, International Priority ed Express Saver</a:t>
            </a:r>
            <a:endParaRPr lang="en-US" sz="1100" dirty="0"/>
          </a:p>
        </p:txBody>
      </p:sp>
      <p:sp>
        <p:nvSpPr>
          <p:cNvPr id="31" name="Shape 28"/>
          <p:cNvSpPr/>
          <p:nvPr/>
        </p:nvSpPr>
        <p:spPr>
          <a:xfrm>
            <a:off x="6400800" y="4910328"/>
            <a:ext cx="100584" cy="100584"/>
          </a:xfrm>
          <a:prstGeom prst="rect">
            <a:avLst/>
          </a:prstGeom>
          <a:solidFill>
            <a:srgbClr val="1E7DC2"/>
          </a:solidFill>
          <a:ln/>
        </p:spPr>
      </p:sp>
      <p:sp>
        <p:nvSpPr>
          <p:cNvPr id="32" name="Text 29"/>
          <p:cNvSpPr/>
          <p:nvPr/>
        </p:nvSpPr>
        <p:spPr>
          <a:xfrm>
            <a:off x="6638544" y="4828032"/>
            <a:ext cx="4882896" cy="658368"/>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Merce ad alto valore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12,6% di spedizioni assicurate, valore medio €2.419</a:t>
            </a:r>
            <a:endParaRPr lang="en-US" sz="1100" dirty="0"/>
          </a:p>
        </p:txBody>
      </p:sp>
      <p:sp>
        <p:nvSpPr>
          <p:cNvPr id="33" name="Shape 30"/>
          <p:cNvSpPr/>
          <p:nvPr/>
        </p:nvSpPr>
        <p:spPr>
          <a:xfrm>
            <a:off x="640080" y="5870448"/>
            <a:ext cx="10911535" cy="438912"/>
          </a:xfrm>
          <a:prstGeom prst="roundRect">
            <a:avLst>
              <a:gd name="adj" fmla="val 10417"/>
            </a:avLst>
          </a:prstGeom>
          <a:solidFill>
            <a:srgbClr val="DEE8F3"/>
          </a:solidFill>
          <a:ln/>
        </p:spPr>
      </p:sp>
      <p:sp>
        <p:nvSpPr>
          <p:cNvPr id="34" name="Shape 31"/>
          <p:cNvSpPr/>
          <p:nvPr/>
        </p:nvSpPr>
        <p:spPr>
          <a:xfrm>
            <a:off x="640080" y="5870448"/>
            <a:ext cx="64008" cy="438912"/>
          </a:xfrm>
          <a:prstGeom prst="rect">
            <a:avLst/>
          </a:prstGeom>
          <a:solidFill>
            <a:srgbClr val="1E7DC2"/>
          </a:solidFill>
          <a:ln/>
        </p:spPr>
      </p:sp>
      <p:sp>
        <p:nvSpPr>
          <p:cNvPr id="35" name="Text 32"/>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La forza è la flessibilità; il limite è la dipendenza quasi totale (96,4%) dai vettori terzi.</a:t>
            </a:r>
            <a:endParaRPr lang="en-US" sz="850" dirty="0"/>
          </a:p>
        </p:txBody>
      </p:sp>
      <p:sp>
        <p:nvSpPr>
          <p:cNvPr id="36" name="Shape 33"/>
          <p:cNvSpPr/>
          <p:nvPr/>
        </p:nvSpPr>
        <p:spPr>
          <a:xfrm>
            <a:off x="640080" y="6437376"/>
            <a:ext cx="10911535" cy="0"/>
          </a:xfrm>
          <a:prstGeom prst="line">
            <a:avLst/>
          </a:prstGeom>
          <a:noFill/>
          <a:ln w="12700">
            <a:solidFill>
              <a:srgbClr val="E4E1D9"/>
            </a:solidFill>
            <a:prstDash val="solid"/>
          </a:ln>
        </p:spPr>
      </p:sp>
      <p:sp>
        <p:nvSpPr>
          <p:cNvPr id="37" name="Text 34"/>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38" name="Text 35"/>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04 / 22</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02 · ESPERIENZA &amp; METODO</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Dall'esperienza operativa alla decisione data-driven</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Text 3"/>
          <p:cNvSpPr/>
          <p:nvPr/>
        </p:nvSpPr>
        <p:spPr>
          <a:xfrm>
            <a:off x="640080" y="1572768"/>
            <a:ext cx="5760720" cy="1554480"/>
          </a:xfrm>
          <a:prstGeom prst="rect">
            <a:avLst/>
          </a:prstGeom>
          <a:noFill/>
          <a:ln/>
        </p:spPr>
        <p:txBody>
          <a:bodyPr wrap="square" rtlCol="0" anchor="t"/>
          <a:lstStyle/>
          <a:p>
            <a:pPr algn="l" indent="0" marL="0">
              <a:lnSpc>
                <a:spcPct val="130000"/>
              </a:lnSpc>
              <a:buNone/>
            </a:pPr>
            <a:r>
              <a:rPr lang="en-US" sz="1250" dirty="0">
                <a:solidFill>
                  <a:srgbClr val="4C5563"/>
                </a:solidFill>
                <a:latin typeface="Arial" pitchFamily="34" charset="0"/>
                <a:ea typeface="Arial" pitchFamily="34" charset="-122"/>
                <a:cs typeface="Arial" pitchFamily="34" charset="-120"/>
              </a:rPr>
              <a:t>L'analisi nasce dall'esperienza diretta di stage in TMWE, nella gestione quotidiana di ritiri e spedizioni nazionali e internazionali. Il perimetro operativo copriva l'intero ciclo di vita della pratica, dalla presa in carico alla prova di consegna.</a:t>
            </a:r>
            <a:endParaRPr lang="en-US" sz="1250" dirty="0"/>
          </a:p>
        </p:txBody>
      </p:sp>
      <p:sp>
        <p:nvSpPr>
          <p:cNvPr id="7" name="Shape 4"/>
          <p:cNvSpPr/>
          <p:nvPr/>
        </p:nvSpPr>
        <p:spPr>
          <a:xfrm>
            <a:off x="640080" y="3255264"/>
            <a:ext cx="100584" cy="100584"/>
          </a:xfrm>
          <a:prstGeom prst="rect">
            <a:avLst/>
          </a:prstGeom>
          <a:solidFill>
            <a:srgbClr val="1E7DC2"/>
          </a:solidFill>
          <a:ln/>
        </p:spPr>
      </p:sp>
      <p:sp>
        <p:nvSpPr>
          <p:cNvPr id="8" name="Text 5"/>
          <p:cNvSpPr/>
          <p:nvPr/>
        </p:nvSpPr>
        <p:spPr>
          <a:xfrm>
            <a:off x="877824" y="3172968"/>
            <a:ext cx="5522976" cy="603504"/>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Apertura pratiche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inserimento a sistema delle richieste di ritiro</a:t>
            </a:r>
            <a:endParaRPr lang="en-US" sz="1100" dirty="0"/>
          </a:p>
        </p:txBody>
      </p:sp>
      <p:sp>
        <p:nvSpPr>
          <p:cNvPr id="9" name="Shape 6"/>
          <p:cNvSpPr/>
          <p:nvPr/>
        </p:nvSpPr>
        <p:spPr>
          <a:xfrm>
            <a:off x="640080" y="3858768"/>
            <a:ext cx="100584" cy="100584"/>
          </a:xfrm>
          <a:prstGeom prst="rect">
            <a:avLst/>
          </a:prstGeom>
          <a:solidFill>
            <a:srgbClr val="1E7DC2"/>
          </a:solidFill>
          <a:ln/>
        </p:spPr>
      </p:sp>
      <p:sp>
        <p:nvSpPr>
          <p:cNvPr id="10" name="Text 7"/>
          <p:cNvSpPr/>
          <p:nvPr/>
        </p:nvSpPr>
        <p:spPr>
          <a:xfrm>
            <a:off x="877824" y="3776472"/>
            <a:ext cx="5522976" cy="603504"/>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Monitoraggio tracking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presidio delle milestone e delle eccezioni</a:t>
            </a:r>
            <a:endParaRPr lang="en-US" sz="1100" dirty="0"/>
          </a:p>
        </p:txBody>
      </p:sp>
      <p:sp>
        <p:nvSpPr>
          <p:cNvPr id="11" name="Shape 8"/>
          <p:cNvSpPr/>
          <p:nvPr/>
        </p:nvSpPr>
        <p:spPr>
          <a:xfrm>
            <a:off x="640080" y="4462272"/>
            <a:ext cx="100584" cy="100584"/>
          </a:xfrm>
          <a:prstGeom prst="rect">
            <a:avLst/>
          </a:prstGeom>
          <a:solidFill>
            <a:srgbClr val="1E7DC2"/>
          </a:solidFill>
          <a:ln/>
        </p:spPr>
      </p:sp>
      <p:sp>
        <p:nvSpPr>
          <p:cNvPr id="12" name="Text 9"/>
          <p:cNvSpPr/>
          <p:nvPr/>
        </p:nvSpPr>
        <p:spPr>
          <a:xfrm>
            <a:off x="877824" y="4379976"/>
            <a:ext cx="5522976" cy="603504"/>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Verifica esiti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segnalazione tempestiva dei casi critici</a:t>
            </a:r>
            <a:endParaRPr lang="en-US" sz="1100" dirty="0"/>
          </a:p>
        </p:txBody>
      </p:sp>
      <p:sp>
        <p:nvSpPr>
          <p:cNvPr id="13" name="Shape 10"/>
          <p:cNvSpPr/>
          <p:nvPr/>
        </p:nvSpPr>
        <p:spPr>
          <a:xfrm>
            <a:off x="640080" y="5065776"/>
            <a:ext cx="100584" cy="100584"/>
          </a:xfrm>
          <a:prstGeom prst="rect">
            <a:avLst/>
          </a:prstGeom>
          <a:solidFill>
            <a:srgbClr val="1E7DC2"/>
          </a:solidFill>
          <a:ln/>
        </p:spPr>
      </p:sp>
      <p:sp>
        <p:nvSpPr>
          <p:cNvPr id="14" name="Text 11"/>
          <p:cNvSpPr/>
          <p:nvPr/>
        </p:nvSpPr>
        <p:spPr>
          <a:xfrm>
            <a:off x="877824" y="4983480"/>
            <a:ext cx="5522976" cy="603504"/>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Assistenza al cliente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dalla preventivazione alla prova di consegna</a:t>
            </a:r>
            <a:endParaRPr lang="en-US" sz="1100" dirty="0"/>
          </a:p>
        </p:txBody>
      </p:sp>
      <p:sp>
        <p:nvSpPr>
          <p:cNvPr id="15" name="Shape 12"/>
          <p:cNvSpPr/>
          <p:nvPr/>
        </p:nvSpPr>
        <p:spPr>
          <a:xfrm>
            <a:off x="6720840" y="1572768"/>
            <a:ext cx="4828032" cy="4023360"/>
          </a:xfrm>
          <a:prstGeom prst="roundRect">
            <a:avLst>
              <a:gd name="adj" fmla="val 1818"/>
            </a:avLst>
          </a:prstGeom>
          <a:solidFill>
            <a:srgbClr val="16255C"/>
          </a:solidFill>
          <a:ln w="12700">
            <a:solidFill>
              <a:srgbClr val="16255C"/>
            </a:solidFill>
            <a:prstDash val="solid"/>
          </a:ln>
          <a:effectLst>
            <a:outerShdw sx="100000" sy="100000" kx="0" ky="0" algn="bl" rotWithShape="0" blurRad="88900" dist="25400" dir="5400000">
              <a:srgbClr val="D9D5CC">
                <a:alpha val="40000"/>
              </a:srgbClr>
            </a:outerShdw>
          </a:effectLst>
        </p:spPr>
      </p:sp>
      <p:sp>
        <p:nvSpPr>
          <p:cNvPr id="16" name="Text 13"/>
          <p:cNvSpPr/>
          <p:nvPr/>
        </p:nvSpPr>
        <p:spPr>
          <a:xfrm>
            <a:off x="7040880" y="1847088"/>
            <a:ext cx="4206240" cy="274320"/>
          </a:xfrm>
          <a:prstGeom prst="rect">
            <a:avLst/>
          </a:prstGeom>
          <a:noFill/>
          <a:ln/>
        </p:spPr>
        <p:txBody>
          <a:bodyPr wrap="square" rtlCol="0" anchor="ctr"/>
          <a:lstStyle/>
          <a:p>
            <a:pPr indent="0" marL="0">
              <a:buNone/>
            </a:pPr>
            <a:r>
              <a:rPr lang="en-US" sz="1000" b="1" spc="200" kern="0" dirty="0">
                <a:solidFill>
                  <a:srgbClr val="9DB9DD"/>
                </a:solidFill>
                <a:latin typeface="Arial" pitchFamily="34" charset="0"/>
                <a:ea typeface="Arial" pitchFamily="34" charset="-122"/>
                <a:cs typeface="Arial" pitchFamily="34" charset="-120"/>
              </a:rPr>
              <a:t>LA BASE DELL'ANALISI</a:t>
            </a:r>
            <a:endParaRPr lang="en-US" sz="1000" dirty="0"/>
          </a:p>
        </p:txBody>
      </p:sp>
      <p:sp>
        <p:nvSpPr>
          <p:cNvPr id="17" name="Text 14"/>
          <p:cNvSpPr/>
          <p:nvPr/>
        </p:nvSpPr>
        <p:spPr>
          <a:xfrm>
            <a:off x="7040880" y="2139696"/>
            <a:ext cx="4206240" cy="822960"/>
          </a:xfrm>
          <a:prstGeom prst="rect">
            <a:avLst/>
          </a:prstGeom>
          <a:noFill/>
          <a:ln/>
        </p:spPr>
        <p:txBody>
          <a:bodyPr wrap="square" rtlCol="0" anchor="t"/>
          <a:lstStyle/>
          <a:p>
            <a:pPr algn="l" indent="0" marL="0">
              <a:lnSpc>
                <a:spcPct val="130000"/>
              </a:lnSpc>
              <a:buNone/>
            </a:pPr>
            <a:r>
              <a:rPr lang="en-US" sz="1150" dirty="0">
                <a:solidFill>
                  <a:srgbClr val="E7EEF7"/>
                </a:solidFill>
                <a:latin typeface="Arial" pitchFamily="34" charset="0"/>
                <a:ea typeface="Arial" pitchFamily="34" charset="-122"/>
                <a:cs typeface="Arial" pitchFamily="34" charset="-120"/>
              </a:rPr>
              <a:t>Il contributo si è concretizzato nella strutturazione del database consolidato e nella costruzione del reporting che ha reso possibile l'analisi di fattibilità.</a:t>
            </a:r>
            <a:endParaRPr lang="en-US" sz="1150" dirty="0"/>
          </a:p>
        </p:txBody>
      </p:sp>
      <p:sp>
        <p:nvSpPr>
          <p:cNvPr id="18" name="Text 15"/>
          <p:cNvSpPr/>
          <p:nvPr/>
        </p:nvSpPr>
        <p:spPr>
          <a:xfrm>
            <a:off x="7040880" y="3200400"/>
            <a:ext cx="2103120" cy="457200"/>
          </a:xfrm>
          <a:prstGeom prst="rect">
            <a:avLst/>
          </a:prstGeom>
          <a:noFill/>
          <a:ln/>
        </p:spPr>
        <p:txBody>
          <a:bodyPr wrap="square" rtlCol="0" anchor="b"/>
          <a:lstStyle/>
          <a:p>
            <a:pPr indent="0" marL="0">
              <a:buNone/>
            </a:pPr>
            <a:r>
              <a:rPr lang="en-US" sz="2600" dirty="0">
                <a:solidFill>
                  <a:srgbClr val="9DB9DD"/>
                </a:solidFill>
                <a:latin typeface="Georgia" pitchFamily="34" charset="0"/>
                <a:ea typeface="Georgia" pitchFamily="34" charset="-122"/>
                <a:cs typeface="Georgia" pitchFamily="34" charset="-120"/>
              </a:rPr>
              <a:t>82.766</a:t>
            </a:r>
            <a:endParaRPr lang="en-US" sz="2600" dirty="0"/>
          </a:p>
        </p:txBody>
      </p:sp>
      <p:sp>
        <p:nvSpPr>
          <p:cNvPr id="19" name="Text 16"/>
          <p:cNvSpPr/>
          <p:nvPr/>
        </p:nvSpPr>
        <p:spPr>
          <a:xfrm>
            <a:off x="7040880" y="3675888"/>
            <a:ext cx="2103120" cy="548640"/>
          </a:xfrm>
          <a:prstGeom prst="rect">
            <a:avLst/>
          </a:prstGeom>
          <a:noFill/>
          <a:ln/>
        </p:spPr>
        <p:txBody>
          <a:bodyPr wrap="square" rtlCol="0" anchor="ctr"/>
          <a:lstStyle/>
          <a:p>
            <a:pPr indent="0" marL="0">
              <a:lnSpc>
                <a:spcPct val="95000"/>
              </a:lnSpc>
              <a:buNone/>
            </a:pPr>
            <a:r>
              <a:rPr lang="en-US" sz="950" dirty="0">
                <a:solidFill>
                  <a:srgbClr val="E7EEF7"/>
                </a:solidFill>
                <a:latin typeface="Arial" pitchFamily="34" charset="0"/>
                <a:ea typeface="Arial" pitchFamily="34" charset="-122"/>
                <a:cs typeface="Arial" pitchFamily="34" charset="-120"/>
              </a:rPr>
              <a:t>record normalizzati</a:t>
            </a:r>
            <a:endParaRPr lang="en-US" sz="950" dirty="0"/>
          </a:p>
        </p:txBody>
      </p:sp>
      <p:sp>
        <p:nvSpPr>
          <p:cNvPr id="20" name="Text 17"/>
          <p:cNvSpPr/>
          <p:nvPr/>
        </p:nvSpPr>
        <p:spPr>
          <a:xfrm>
            <a:off x="9235440" y="3200400"/>
            <a:ext cx="2103120" cy="457200"/>
          </a:xfrm>
          <a:prstGeom prst="rect">
            <a:avLst/>
          </a:prstGeom>
          <a:noFill/>
          <a:ln/>
        </p:spPr>
        <p:txBody>
          <a:bodyPr wrap="square" rtlCol="0" anchor="b"/>
          <a:lstStyle/>
          <a:p>
            <a:pPr indent="0" marL="0">
              <a:buNone/>
            </a:pPr>
            <a:r>
              <a:rPr lang="en-US" sz="2600" dirty="0">
                <a:solidFill>
                  <a:srgbClr val="9DB9DD"/>
                </a:solidFill>
                <a:latin typeface="Georgia" pitchFamily="34" charset="0"/>
                <a:ea typeface="Georgia" pitchFamily="34" charset="-122"/>
                <a:cs typeface="Georgia" pitchFamily="34" charset="-120"/>
              </a:rPr>
              <a:t>17</a:t>
            </a:r>
            <a:endParaRPr lang="en-US" sz="2600" dirty="0"/>
          </a:p>
        </p:txBody>
      </p:sp>
      <p:sp>
        <p:nvSpPr>
          <p:cNvPr id="21" name="Text 18"/>
          <p:cNvSpPr/>
          <p:nvPr/>
        </p:nvSpPr>
        <p:spPr>
          <a:xfrm>
            <a:off x="9235440" y="3675888"/>
            <a:ext cx="2103120" cy="548640"/>
          </a:xfrm>
          <a:prstGeom prst="rect">
            <a:avLst/>
          </a:prstGeom>
          <a:noFill/>
          <a:ln/>
        </p:spPr>
        <p:txBody>
          <a:bodyPr wrap="square" rtlCol="0" anchor="ctr"/>
          <a:lstStyle/>
          <a:p>
            <a:pPr indent="0" marL="0">
              <a:lnSpc>
                <a:spcPct val="95000"/>
              </a:lnSpc>
              <a:buNone/>
            </a:pPr>
            <a:r>
              <a:rPr lang="en-US" sz="950" dirty="0">
                <a:solidFill>
                  <a:srgbClr val="E7EEF7"/>
                </a:solidFill>
                <a:latin typeface="Arial" pitchFamily="34" charset="0"/>
                <a:ea typeface="Arial" pitchFamily="34" charset="-122"/>
                <a:cs typeface="Arial" pitchFamily="34" charset="-120"/>
              </a:rPr>
              <a:t>variabili operative ed economiche</a:t>
            </a:r>
            <a:endParaRPr lang="en-US" sz="950" dirty="0"/>
          </a:p>
        </p:txBody>
      </p:sp>
      <p:sp>
        <p:nvSpPr>
          <p:cNvPr id="22" name="Text 19"/>
          <p:cNvSpPr/>
          <p:nvPr/>
        </p:nvSpPr>
        <p:spPr>
          <a:xfrm>
            <a:off x="7040880" y="4343400"/>
            <a:ext cx="2103120" cy="457200"/>
          </a:xfrm>
          <a:prstGeom prst="rect">
            <a:avLst/>
          </a:prstGeom>
          <a:noFill/>
          <a:ln/>
        </p:spPr>
        <p:txBody>
          <a:bodyPr wrap="square" rtlCol="0" anchor="b"/>
          <a:lstStyle/>
          <a:p>
            <a:pPr indent="0" marL="0">
              <a:buNone/>
            </a:pPr>
            <a:r>
              <a:rPr lang="en-US" sz="2600" dirty="0">
                <a:solidFill>
                  <a:srgbClr val="9DB9DD"/>
                </a:solidFill>
                <a:latin typeface="Georgia" pitchFamily="34" charset="0"/>
                <a:ea typeface="Georgia" pitchFamily="34" charset="-122"/>
                <a:cs typeface="Georgia" pitchFamily="34" charset="-120"/>
              </a:rPr>
              <a:t>420</a:t>
            </a:r>
            <a:endParaRPr lang="en-US" sz="2600" dirty="0"/>
          </a:p>
        </p:txBody>
      </p:sp>
      <p:sp>
        <p:nvSpPr>
          <p:cNvPr id="23" name="Text 20"/>
          <p:cNvSpPr/>
          <p:nvPr/>
        </p:nvSpPr>
        <p:spPr>
          <a:xfrm>
            <a:off x="7040880" y="4818888"/>
            <a:ext cx="2103120" cy="548640"/>
          </a:xfrm>
          <a:prstGeom prst="rect">
            <a:avLst/>
          </a:prstGeom>
          <a:noFill/>
          <a:ln/>
        </p:spPr>
        <p:txBody>
          <a:bodyPr wrap="square" rtlCol="0" anchor="ctr"/>
          <a:lstStyle/>
          <a:p>
            <a:pPr indent="0" marL="0">
              <a:lnSpc>
                <a:spcPct val="95000"/>
              </a:lnSpc>
              <a:buNone/>
            </a:pPr>
            <a:r>
              <a:rPr lang="en-US" sz="950" dirty="0">
                <a:solidFill>
                  <a:srgbClr val="E7EEF7"/>
                </a:solidFill>
                <a:latin typeface="Arial" pitchFamily="34" charset="0"/>
                <a:ea typeface="Arial" pitchFamily="34" charset="-122"/>
                <a:cs typeface="Arial" pitchFamily="34" charset="-120"/>
              </a:rPr>
              <a:t>città ricondotte a nomi univoci</a:t>
            </a:r>
            <a:endParaRPr lang="en-US" sz="950" dirty="0"/>
          </a:p>
        </p:txBody>
      </p:sp>
      <p:sp>
        <p:nvSpPr>
          <p:cNvPr id="24" name="Text 21"/>
          <p:cNvSpPr/>
          <p:nvPr/>
        </p:nvSpPr>
        <p:spPr>
          <a:xfrm>
            <a:off x="9235440" y="4343400"/>
            <a:ext cx="2103120" cy="457200"/>
          </a:xfrm>
          <a:prstGeom prst="rect">
            <a:avLst/>
          </a:prstGeom>
          <a:noFill/>
          <a:ln/>
        </p:spPr>
        <p:txBody>
          <a:bodyPr wrap="square" rtlCol="0" anchor="b"/>
          <a:lstStyle/>
          <a:p>
            <a:pPr indent="0" marL="0">
              <a:buNone/>
            </a:pPr>
            <a:r>
              <a:rPr lang="en-US" sz="2600" dirty="0">
                <a:solidFill>
                  <a:srgbClr val="9DB9DD"/>
                </a:solidFill>
                <a:latin typeface="Georgia" pitchFamily="34" charset="0"/>
                <a:ea typeface="Georgia" pitchFamily="34" charset="-122"/>
                <a:cs typeface="Georgia" pitchFamily="34" charset="-120"/>
              </a:rPr>
              <a:t>222</a:t>
            </a:r>
            <a:endParaRPr lang="en-US" sz="2600" dirty="0"/>
          </a:p>
        </p:txBody>
      </p:sp>
      <p:sp>
        <p:nvSpPr>
          <p:cNvPr id="25" name="Text 22"/>
          <p:cNvSpPr/>
          <p:nvPr/>
        </p:nvSpPr>
        <p:spPr>
          <a:xfrm>
            <a:off x="9235440" y="4818888"/>
            <a:ext cx="2103120" cy="548640"/>
          </a:xfrm>
          <a:prstGeom prst="rect">
            <a:avLst/>
          </a:prstGeom>
          <a:noFill/>
          <a:ln/>
        </p:spPr>
        <p:txBody>
          <a:bodyPr wrap="square" rtlCol="0" anchor="ctr"/>
          <a:lstStyle/>
          <a:p>
            <a:pPr indent="0" marL="0">
              <a:lnSpc>
                <a:spcPct val="95000"/>
              </a:lnSpc>
              <a:buNone/>
            </a:pPr>
            <a:r>
              <a:rPr lang="en-US" sz="950" dirty="0">
                <a:solidFill>
                  <a:srgbClr val="E7EEF7"/>
                </a:solidFill>
                <a:latin typeface="Arial" pitchFamily="34" charset="0"/>
                <a:ea typeface="Arial" pitchFamily="34" charset="-122"/>
                <a:cs typeface="Arial" pitchFamily="34" charset="-120"/>
              </a:rPr>
              <a:t>incoerenze città/regione corrette</a:t>
            </a:r>
            <a:endParaRPr lang="en-US" sz="950" dirty="0"/>
          </a:p>
        </p:txBody>
      </p:sp>
      <p:sp>
        <p:nvSpPr>
          <p:cNvPr id="26" name="Shape 23"/>
          <p:cNvSpPr/>
          <p:nvPr/>
        </p:nvSpPr>
        <p:spPr>
          <a:xfrm>
            <a:off x="640080" y="5870448"/>
            <a:ext cx="10911535" cy="438912"/>
          </a:xfrm>
          <a:prstGeom prst="roundRect">
            <a:avLst>
              <a:gd name="adj" fmla="val 10417"/>
            </a:avLst>
          </a:prstGeom>
          <a:solidFill>
            <a:srgbClr val="DEE8F3"/>
          </a:solidFill>
          <a:ln/>
        </p:spPr>
      </p:sp>
      <p:sp>
        <p:nvSpPr>
          <p:cNvPr id="27" name="Shape 24"/>
          <p:cNvSpPr/>
          <p:nvPr/>
        </p:nvSpPr>
        <p:spPr>
          <a:xfrm>
            <a:off x="640080" y="5870448"/>
            <a:ext cx="64008" cy="438912"/>
          </a:xfrm>
          <a:prstGeom prst="rect">
            <a:avLst/>
          </a:prstGeom>
          <a:solidFill>
            <a:srgbClr val="1E7DC2"/>
          </a:solidFill>
          <a:ln/>
        </p:spPr>
      </p:sp>
      <p:sp>
        <p:nvSpPr>
          <p:cNvPr id="28" name="Text 25"/>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Un passaggio da gestione esperienziale a decision making fondato su un database consolidato.</a:t>
            </a:r>
            <a:endParaRPr lang="en-US" sz="850" dirty="0"/>
          </a:p>
        </p:txBody>
      </p:sp>
      <p:sp>
        <p:nvSpPr>
          <p:cNvPr id="29" name="Shape 26"/>
          <p:cNvSpPr/>
          <p:nvPr/>
        </p:nvSpPr>
        <p:spPr>
          <a:xfrm>
            <a:off x="640080" y="6437376"/>
            <a:ext cx="10911535" cy="0"/>
          </a:xfrm>
          <a:prstGeom prst="line">
            <a:avLst/>
          </a:prstGeom>
          <a:noFill/>
          <a:ln w="12700">
            <a:solidFill>
              <a:srgbClr val="E4E1D9"/>
            </a:solidFill>
            <a:prstDash val="solid"/>
          </a:ln>
        </p:spPr>
      </p:sp>
      <p:sp>
        <p:nvSpPr>
          <p:cNvPr id="30" name="Text 27"/>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31" name="Text 28"/>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05 / 22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03 · RITIRI DALL'ESTERO</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Un flusso internazionale sottile, selettivo e presidiabile</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54480"/>
            <a:ext cx="5943600" cy="3703320"/>
          </a:xfrm>
          <a:prstGeom prst="roundRect">
            <a:avLst>
              <a:gd name="adj" fmla="val 1975"/>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esteri_bar.png">    </p:cNvPr>
          <p:cNvPicPr>
            <a:picLocks noChangeAspect="1"/>
          </p:cNvPicPr>
          <p:nvPr/>
        </p:nvPicPr>
        <p:blipFill>
          <a:blip r:embed="rId2"/>
          <a:stretch>
            <a:fillRect/>
          </a:stretch>
        </p:blipFill>
        <p:spPr>
          <a:xfrm>
            <a:off x="804672" y="1814752"/>
            <a:ext cx="5614416" cy="3182776"/>
          </a:xfrm>
          <a:prstGeom prst="rect">
            <a:avLst/>
          </a:prstGeom>
        </p:spPr>
      </p:pic>
      <p:sp>
        <p:nvSpPr>
          <p:cNvPr id="8" name="Text 4"/>
          <p:cNvSpPr/>
          <p:nvPr/>
        </p:nvSpPr>
        <p:spPr>
          <a:xfrm>
            <a:off x="640080" y="5285232"/>
            <a:ext cx="594360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3.1 — Top 5 nazioni estere per ritiri: la Germania pesa più di Francia e Spagna sommate.</a:t>
            </a:r>
            <a:endParaRPr lang="en-US" sz="850" dirty="0"/>
          </a:p>
        </p:txBody>
      </p:sp>
      <p:sp>
        <p:nvSpPr>
          <p:cNvPr id="9" name="Text 5"/>
          <p:cNvSpPr/>
          <p:nvPr/>
        </p:nvSpPr>
        <p:spPr>
          <a:xfrm>
            <a:off x="6812280" y="1572768"/>
            <a:ext cx="4754880" cy="100584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I ritiri esteri sono 1.122, appena l'1,36% del totale, ma cinque nazioni concentrano il 94,8% del flusso: una rete selettiva, presidiabile con pochi accordi di corrispondenza e senza hub oltreconfine.</a:t>
            </a:r>
            <a:endParaRPr lang="en-US" sz="1200" dirty="0"/>
          </a:p>
        </p:txBody>
      </p:sp>
      <p:sp>
        <p:nvSpPr>
          <p:cNvPr id="10" name="Shape 6"/>
          <p:cNvSpPr/>
          <p:nvPr/>
        </p:nvSpPr>
        <p:spPr>
          <a:xfrm>
            <a:off x="6812280" y="2798064"/>
            <a:ext cx="100584" cy="100584"/>
          </a:xfrm>
          <a:prstGeom prst="rect">
            <a:avLst/>
          </a:prstGeom>
          <a:solidFill>
            <a:srgbClr val="1E7DC2"/>
          </a:solidFill>
          <a:ln/>
        </p:spPr>
      </p:sp>
      <p:sp>
        <p:nvSpPr>
          <p:cNvPr id="11" name="Text 7"/>
          <p:cNvSpPr/>
          <p:nvPr/>
        </p:nvSpPr>
        <p:spPr>
          <a:xfrm>
            <a:off x="7050024" y="2715768"/>
            <a:ext cx="4517136" cy="841248"/>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Germania · 38,1%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corridoio a maggior valore (peso medio 12,4 kg, OTD 80,3%): consolidamento groupage sul Brennero</a:t>
            </a:r>
            <a:endParaRPr lang="en-US" sz="1050" dirty="0"/>
          </a:p>
        </p:txBody>
      </p:sp>
      <p:sp>
        <p:nvSpPr>
          <p:cNvPr id="12" name="Shape 8"/>
          <p:cNvSpPr/>
          <p:nvPr/>
        </p:nvSpPr>
        <p:spPr>
          <a:xfrm>
            <a:off x="6812280" y="3639312"/>
            <a:ext cx="100584" cy="100584"/>
          </a:xfrm>
          <a:prstGeom prst="rect">
            <a:avLst/>
          </a:prstGeom>
          <a:solidFill>
            <a:srgbClr val="1E7DC2"/>
          </a:solidFill>
          <a:ln/>
        </p:spPr>
      </p:sp>
      <p:sp>
        <p:nvSpPr>
          <p:cNvPr id="13" name="Text 9"/>
          <p:cNvSpPr/>
          <p:nvPr/>
        </p:nvSpPr>
        <p:spPr>
          <a:xfrm>
            <a:off x="7050024" y="3557016"/>
            <a:ext cx="4517136" cy="841248"/>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Francia e Spagna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margini su transit time e mix vettore; Madrid candidata al groupage stradale (−20/30%)</a:t>
            </a:r>
            <a:endParaRPr lang="en-US" sz="1050" dirty="0"/>
          </a:p>
        </p:txBody>
      </p:sp>
      <p:sp>
        <p:nvSpPr>
          <p:cNvPr id="14" name="Shape 10"/>
          <p:cNvSpPr/>
          <p:nvPr/>
        </p:nvSpPr>
        <p:spPr>
          <a:xfrm>
            <a:off x="6812280" y="4480560"/>
            <a:ext cx="100584" cy="100584"/>
          </a:xfrm>
          <a:prstGeom prst="rect">
            <a:avLst/>
          </a:prstGeom>
          <a:solidFill>
            <a:srgbClr val="1E7DC2"/>
          </a:solidFill>
          <a:ln/>
        </p:spPr>
      </p:sp>
      <p:sp>
        <p:nvSpPr>
          <p:cNvPr id="15" name="Text 11"/>
          <p:cNvSpPr/>
          <p:nvPr/>
        </p:nvSpPr>
        <p:spPr>
          <a:xfrm>
            <a:off x="7050024" y="4398264"/>
            <a:ext cx="4517136" cy="841248"/>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USA e Singapore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flussi intercontinentali leggeri, con criticità doganali e di coincidenza aerea</a:t>
            </a:r>
            <a:endParaRPr lang="en-US" sz="1050" dirty="0"/>
          </a:p>
        </p:txBody>
      </p:sp>
      <p:sp>
        <p:nvSpPr>
          <p:cNvPr id="16" name="Shape 12"/>
          <p:cNvSpPr/>
          <p:nvPr/>
        </p:nvSpPr>
        <p:spPr>
          <a:xfrm>
            <a:off x="640080" y="5870448"/>
            <a:ext cx="10911535" cy="438912"/>
          </a:xfrm>
          <a:prstGeom prst="roundRect">
            <a:avLst>
              <a:gd name="adj" fmla="val 10417"/>
            </a:avLst>
          </a:prstGeom>
          <a:solidFill>
            <a:srgbClr val="DEE8F3"/>
          </a:solidFill>
          <a:ln/>
        </p:spPr>
      </p:sp>
      <p:sp>
        <p:nvSpPr>
          <p:cNvPr id="17" name="Shape 13"/>
          <p:cNvSpPr/>
          <p:nvPr/>
        </p:nvSpPr>
        <p:spPr>
          <a:xfrm>
            <a:off x="640080" y="5870448"/>
            <a:ext cx="64008" cy="438912"/>
          </a:xfrm>
          <a:prstGeom prst="rect">
            <a:avLst/>
          </a:prstGeom>
          <a:solidFill>
            <a:srgbClr val="1E7DC2"/>
          </a:solidFill>
          <a:ln/>
        </p:spPr>
      </p:sp>
      <p:sp>
        <p:nvSpPr>
          <p:cNvPr id="18" name="Text 14"/>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I volumi esteri non impongono un hub estero, ma premiano una sede sull'asse del Brennero.</a:t>
            </a:r>
            <a:endParaRPr lang="en-US" sz="850" dirty="0"/>
          </a:p>
        </p:txBody>
      </p:sp>
      <p:sp>
        <p:nvSpPr>
          <p:cNvPr id="19" name="Shape 15"/>
          <p:cNvSpPr/>
          <p:nvPr/>
        </p:nvSpPr>
        <p:spPr>
          <a:xfrm>
            <a:off x="640080" y="6437376"/>
            <a:ext cx="10911535" cy="0"/>
          </a:xfrm>
          <a:prstGeom prst="line">
            <a:avLst/>
          </a:prstGeom>
          <a:noFill/>
          <a:ln w="12700">
            <a:solidFill>
              <a:srgbClr val="E4E1D9"/>
            </a:solidFill>
            <a:prstDash val="solid"/>
          </a:ln>
        </p:spPr>
      </p:sp>
      <p:sp>
        <p:nvSpPr>
          <p:cNvPr id="20" name="Text 16"/>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1" name="Text 17"/>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06 / 22</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03.1 · LETTURA DEI CORRIDOI</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Il corridoio tedesco punta al suo terminale naturale</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54480"/>
            <a:ext cx="6583680" cy="4069080"/>
          </a:xfrm>
          <a:prstGeom prst="roundRect">
            <a:avLst>
              <a:gd name="adj" fmla="val 1798"/>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esteri_map.png">    </p:cNvPr>
          <p:cNvPicPr>
            <a:picLocks noChangeAspect="1"/>
          </p:cNvPicPr>
          <p:nvPr/>
        </p:nvPicPr>
        <p:blipFill>
          <a:blip r:embed="rId2"/>
          <a:stretch>
            <a:fillRect/>
          </a:stretch>
        </p:blipFill>
        <p:spPr>
          <a:xfrm>
            <a:off x="1358872" y="1719072"/>
            <a:ext cx="5146097" cy="3739896"/>
          </a:xfrm>
          <a:prstGeom prst="rect">
            <a:avLst/>
          </a:prstGeom>
        </p:spPr>
      </p:pic>
      <p:sp>
        <p:nvSpPr>
          <p:cNvPr id="8" name="Text 4"/>
          <p:cNvSpPr/>
          <p:nvPr/>
        </p:nvSpPr>
        <p:spPr>
          <a:xfrm>
            <a:off x="640080" y="5650992"/>
            <a:ext cx="658368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3.2 — Mappa dei flussi internazionali di ritiro verso la rete italiana.</a:t>
            </a:r>
            <a:endParaRPr lang="en-US" sz="850" dirty="0"/>
          </a:p>
        </p:txBody>
      </p:sp>
      <p:sp>
        <p:nvSpPr>
          <p:cNvPr id="9" name="Text 5"/>
          <p:cNvSpPr/>
          <p:nvPr/>
        </p:nvSpPr>
        <p:spPr>
          <a:xfrm>
            <a:off x="7452360" y="1600200"/>
            <a:ext cx="4114800" cy="1828800"/>
          </a:xfrm>
          <a:prstGeom prst="rect">
            <a:avLst/>
          </a:prstGeom>
          <a:noFill/>
          <a:ln/>
        </p:spPr>
        <p:txBody>
          <a:bodyPr wrap="square" rtlCol="0" anchor="t"/>
          <a:lstStyle/>
          <a:p>
            <a:pPr algn="l" indent="0" marL="0">
              <a:lnSpc>
                <a:spcPct val="130000"/>
              </a:lnSpc>
              <a:buNone/>
            </a:pPr>
            <a:r>
              <a:rPr lang="en-US" sz="1250" dirty="0">
                <a:solidFill>
                  <a:srgbClr val="4C5563"/>
                </a:solidFill>
                <a:latin typeface="Arial" pitchFamily="34" charset="0"/>
                <a:ea typeface="Arial" pitchFamily="34" charset="-122"/>
                <a:cs typeface="Arial" pitchFamily="34" charset="-120"/>
              </a:rPr>
              <a:t>L'implicazione operativa è netta: la localizzazione del nuovo nodo non deve essere orientata all'estero, ma capace di ricevere il corridoio tedesco — il 38% del flusso internazionale — senza rotture di carico aggiuntive.</a:t>
            </a:r>
            <a:endParaRPr lang="en-US" sz="1250" dirty="0"/>
          </a:p>
        </p:txBody>
      </p:sp>
      <p:sp>
        <p:nvSpPr>
          <p:cNvPr id="10" name="Shape 6"/>
          <p:cNvSpPr/>
          <p:nvPr/>
        </p:nvSpPr>
        <p:spPr>
          <a:xfrm>
            <a:off x="7452360" y="3611880"/>
            <a:ext cx="4114800" cy="1874520"/>
          </a:xfrm>
          <a:prstGeom prst="roundRect">
            <a:avLst>
              <a:gd name="adj" fmla="val 3902"/>
            </a:avLst>
          </a:prstGeom>
          <a:solidFill>
            <a:srgbClr val="DEE8F3"/>
          </a:solidFill>
          <a:ln w="12700">
            <a:solidFill>
              <a:srgbClr val="C4D6EA"/>
            </a:solidFill>
            <a:prstDash val="solid"/>
          </a:ln>
          <a:effectLst>
            <a:outerShdw sx="100000" sy="100000" kx="0" ky="0" algn="bl" rotWithShape="0" blurRad="88900" dist="25400" dir="5400000">
              <a:srgbClr val="D9D5CC">
                <a:alpha val="40000"/>
              </a:srgbClr>
            </a:outerShdw>
          </a:effectLst>
        </p:spPr>
      </p:sp>
      <p:sp>
        <p:nvSpPr>
          <p:cNvPr id="11" name="Text 7"/>
          <p:cNvSpPr/>
          <p:nvPr/>
        </p:nvSpPr>
        <p:spPr>
          <a:xfrm>
            <a:off x="7726680" y="3767328"/>
            <a:ext cx="3657600" cy="365760"/>
          </a:xfrm>
          <a:prstGeom prst="rect">
            <a:avLst/>
          </a:prstGeom>
          <a:noFill/>
          <a:ln/>
        </p:spPr>
        <p:txBody>
          <a:bodyPr wrap="square" rtlCol="0" anchor="ctr"/>
          <a:lstStyle/>
          <a:p>
            <a:pPr indent="0" marL="0">
              <a:buNone/>
            </a:pPr>
            <a:r>
              <a:rPr lang="en-US" sz="1700" dirty="0">
                <a:solidFill>
                  <a:srgbClr val="16255C"/>
                </a:solidFill>
                <a:latin typeface="Georgia" pitchFamily="34" charset="0"/>
                <a:ea typeface="Georgia" pitchFamily="34" charset="-122"/>
                <a:cs typeface="Georgia" pitchFamily="34" charset="-120"/>
              </a:rPr>
              <a:t>Bologna sul TEN-T</a:t>
            </a:r>
            <a:endParaRPr lang="en-US" sz="1700" dirty="0"/>
          </a:p>
        </p:txBody>
      </p:sp>
      <p:sp>
        <p:nvSpPr>
          <p:cNvPr id="12" name="Text 8"/>
          <p:cNvSpPr/>
          <p:nvPr/>
        </p:nvSpPr>
        <p:spPr>
          <a:xfrm>
            <a:off x="7726680" y="4160520"/>
            <a:ext cx="3611880" cy="1280160"/>
          </a:xfrm>
          <a:prstGeom prst="rect">
            <a:avLst/>
          </a:prstGeom>
          <a:noFill/>
          <a:ln/>
        </p:spPr>
        <p:txBody>
          <a:bodyPr wrap="square" rtlCol="0" anchor="t"/>
          <a:lstStyle/>
          <a:p>
            <a:pPr algn="l" indent="0" marL="0">
              <a:lnSpc>
                <a:spcPct val="128000"/>
              </a:lnSpc>
              <a:buNone/>
            </a:pPr>
            <a:r>
              <a:rPr lang="en-US" sz="1100" dirty="0">
                <a:solidFill>
                  <a:srgbClr val="24406F"/>
                </a:solidFill>
                <a:latin typeface="Arial" pitchFamily="34" charset="0"/>
                <a:ea typeface="Arial" pitchFamily="34" charset="-122"/>
                <a:cs typeface="Arial" pitchFamily="34" charset="-120"/>
              </a:rPr>
              <a:t>Il valico del Brennero ha in Bologna il terminale naturale del corridoio TEN-T Scandinavo-Mediterraneo: una sede sull'asse A1/Brennero intercetta il corridoio a maggior valore.</a:t>
            </a:r>
            <a:endParaRPr lang="en-US" sz="1100" dirty="0"/>
          </a:p>
        </p:txBody>
      </p:sp>
      <p:sp>
        <p:nvSpPr>
          <p:cNvPr id="13" name="Shape 9"/>
          <p:cNvSpPr/>
          <p:nvPr/>
        </p:nvSpPr>
        <p:spPr>
          <a:xfrm>
            <a:off x="640080" y="6437376"/>
            <a:ext cx="10911535" cy="0"/>
          </a:xfrm>
          <a:prstGeom prst="line">
            <a:avLst/>
          </a:prstGeom>
          <a:noFill/>
          <a:ln w="12700">
            <a:solidFill>
              <a:srgbClr val="E4E1D9"/>
            </a:solidFill>
            <a:prstDash val="solid"/>
          </a:ln>
        </p:spPr>
      </p:sp>
      <p:sp>
        <p:nvSpPr>
          <p:cNvPr id="14" name="Text 10"/>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15" name="Text 11"/>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07 / 22</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04 · ANALISI GEOGRAFICA</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La domanda nazionale vive sulla dorsale padana</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Text 3"/>
          <p:cNvSpPr/>
          <p:nvPr/>
        </p:nvSpPr>
        <p:spPr>
          <a:xfrm>
            <a:off x="640080" y="1554480"/>
            <a:ext cx="10881360" cy="54864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I ritiri nazionali sono 81.644, il 98,6% del totale. La ripartizione per macroaree mostra una concentrazione fortissima al Nord, con Centro e Sud serviti da flussi regolari ma sottili.</a:t>
            </a:r>
            <a:endParaRPr lang="en-US" sz="1200" dirty="0"/>
          </a:p>
        </p:txBody>
      </p:sp>
      <p:sp>
        <p:nvSpPr>
          <p:cNvPr id="7" name="Shape 4"/>
          <p:cNvSpPr/>
          <p:nvPr/>
        </p:nvSpPr>
        <p:spPr>
          <a:xfrm>
            <a:off x="640080" y="2194560"/>
            <a:ext cx="6858000" cy="3246120"/>
          </a:xfrm>
          <a:prstGeom prst="roundRect">
            <a:avLst>
              <a:gd name="adj" fmla="val 2254"/>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8" name="Image 1" descr="/home/user/PptxGenJS/assets-tmwe/fig_macroaree_bar.png">    </p:cNvPr>
          <p:cNvPicPr>
            <a:picLocks noChangeAspect="1"/>
          </p:cNvPicPr>
          <p:nvPr/>
        </p:nvPicPr>
        <p:blipFill>
          <a:blip r:embed="rId2"/>
          <a:stretch>
            <a:fillRect/>
          </a:stretch>
        </p:blipFill>
        <p:spPr>
          <a:xfrm>
            <a:off x="1051510" y="2359152"/>
            <a:ext cx="6035141" cy="2916936"/>
          </a:xfrm>
          <a:prstGeom prst="rect">
            <a:avLst/>
          </a:prstGeom>
        </p:spPr>
      </p:pic>
      <p:sp>
        <p:nvSpPr>
          <p:cNvPr id="9" name="Text 5"/>
          <p:cNvSpPr/>
          <p:nvPr/>
        </p:nvSpPr>
        <p:spPr>
          <a:xfrm>
            <a:off x="640080" y="5468112"/>
            <a:ext cx="685800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4.1 — Ritiri nazionali per macroarea (giorni lavorativi: 250/anno).</a:t>
            </a:r>
            <a:endParaRPr lang="en-US" sz="850" dirty="0"/>
          </a:p>
        </p:txBody>
      </p:sp>
      <p:sp>
        <p:nvSpPr>
          <p:cNvPr id="10" name="Text 6"/>
          <p:cNvSpPr/>
          <p:nvPr/>
        </p:nvSpPr>
        <p:spPr>
          <a:xfrm>
            <a:off x="7772400" y="2286000"/>
            <a:ext cx="1463040" cy="640080"/>
          </a:xfrm>
          <a:prstGeom prst="rect">
            <a:avLst/>
          </a:prstGeom>
          <a:noFill/>
          <a:ln/>
        </p:spPr>
        <p:txBody>
          <a:bodyPr wrap="square" rtlCol="0" anchor="ctr"/>
          <a:lstStyle/>
          <a:p>
            <a:pPr indent="0" marL="0">
              <a:buNone/>
            </a:pPr>
            <a:r>
              <a:rPr lang="en-US" sz="2800" dirty="0">
                <a:solidFill>
                  <a:srgbClr val="1E3A7B"/>
                </a:solidFill>
                <a:latin typeface="Georgia" pitchFamily="34" charset="0"/>
                <a:ea typeface="Georgia" pitchFamily="34" charset="-122"/>
                <a:cs typeface="Georgia" pitchFamily="34" charset="-120"/>
              </a:rPr>
              <a:t>90,0%</a:t>
            </a:r>
            <a:endParaRPr lang="en-US" sz="2800" dirty="0"/>
          </a:p>
        </p:txBody>
      </p:sp>
      <p:sp>
        <p:nvSpPr>
          <p:cNvPr id="11" name="Text 7"/>
          <p:cNvSpPr/>
          <p:nvPr/>
        </p:nvSpPr>
        <p:spPr>
          <a:xfrm>
            <a:off x="9281160" y="2331720"/>
            <a:ext cx="2286000" cy="365760"/>
          </a:xfrm>
          <a:prstGeom prst="rect">
            <a:avLst/>
          </a:prstGeom>
          <a:noFill/>
          <a:ln/>
        </p:spPr>
        <p:txBody>
          <a:bodyPr wrap="square" rtlCol="0" anchor="ctr"/>
          <a:lstStyle/>
          <a:p>
            <a:pPr indent="0" marL="0">
              <a:buNone/>
            </a:pPr>
            <a:r>
              <a:rPr lang="en-US" sz="1250" b="1" dirty="0">
                <a:solidFill>
                  <a:srgbClr val="16255C"/>
                </a:solidFill>
                <a:latin typeface="Arial" pitchFamily="34" charset="0"/>
                <a:ea typeface="Arial" pitchFamily="34" charset="-122"/>
                <a:cs typeface="Arial" pitchFamily="34" charset="-120"/>
              </a:rPr>
              <a:t>Nord Italia</a:t>
            </a:r>
            <a:endParaRPr lang="en-US" sz="1250" dirty="0"/>
          </a:p>
        </p:txBody>
      </p:sp>
      <p:sp>
        <p:nvSpPr>
          <p:cNvPr id="12" name="Text 8"/>
          <p:cNvSpPr/>
          <p:nvPr/>
        </p:nvSpPr>
        <p:spPr>
          <a:xfrm>
            <a:off x="9281160" y="2670048"/>
            <a:ext cx="2286000" cy="457200"/>
          </a:xfrm>
          <a:prstGeom prst="rect">
            <a:avLst/>
          </a:prstGeom>
          <a:noFill/>
          <a:ln/>
        </p:spPr>
        <p:txBody>
          <a:bodyPr wrap="square" rtlCol="0" anchor="ctr"/>
          <a:lstStyle/>
          <a:p>
            <a:pPr indent="0" marL="0">
              <a:lnSpc>
                <a:spcPct val="95000"/>
              </a:lnSpc>
              <a:buNone/>
            </a:pPr>
            <a:r>
              <a:rPr lang="en-US" sz="950" dirty="0">
                <a:solidFill>
                  <a:srgbClr val="8A929B"/>
                </a:solidFill>
                <a:latin typeface="Arial" pitchFamily="34" charset="0"/>
                <a:ea typeface="Arial" pitchFamily="34" charset="-122"/>
                <a:cs typeface="Arial" pitchFamily="34" charset="-120"/>
              </a:rPr>
              <a:t>231 ritiri per città attiva</a:t>
            </a:r>
            <a:endParaRPr lang="en-US" sz="950" dirty="0"/>
          </a:p>
        </p:txBody>
      </p:sp>
      <p:sp>
        <p:nvSpPr>
          <p:cNvPr id="13" name="Shape 9"/>
          <p:cNvSpPr/>
          <p:nvPr/>
        </p:nvSpPr>
        <p:spPr>
          <a:xfrm>
            <a:off x="7772400" y="3218688"/>
            <a:ext cx="3776472" cy="0"/>
          </a:xfrm>
          <a:prstGeom prst="line">
            <a:avLst/>
          </a:prstGeom>
          <a:noFill/>
          <a:ln w="12700">
            <a:solidFill>
              <a:srgbClr val="E4E1D9"/>
            </a:solidFill>
            <a:prstDash val="solid"/>
          </a:ln>
        </p:spPr>
      </p:sp>
      <p:sp>
        <p:nvSpPr>
          <p:cNvPr id="14" name="Text 10"/>
          <p:cNvSpPr/>
          <p:nvPr/>
        </p:nvSpPr>
        <p:spPr>
          <a:xfrm>
            <a:off x="7772400" y="3337560"/>
            <a:ext cx="1463040" cy="640080"/>
          </a:xfrm>
          <a:prstGeom prst="rect">
            <a:avLst/>
          </a:prstGeom>
          <a:noFill/>
          <a:ln/>
        </p:spPr>
        <p:txBody>
          <a:bodyPr wrap="square" rtlCol="0" anchor="ctr"/>
          <a:lstStyle/>
          <a:p>
            <a:pPr indent="0" marL="0">
              <a:buNone/>
            </a:pPr>
            <a:r>
              <a:rPr lang="en-US" sz="2800" dirty="0">
                <a:solidFill>
                  <a:srgbClr val="1E7DC2"/>
                </a:solidFill>
                <a:latin typeface="Georgia" pitchFamily="34" charset="0"/>
                <a:ea typeface="Georgia" pitchFamily="34" charset="-122"/>
                <a:cs typeface="Georgia" pitchFamily="34" charset="-120"/>
              </a:rPr>
              <a:t>7,0%</a:t>
            </a:r>
            <a:endParaRPr lang="en-US" sz="2800" dirty="0"/>
          </a:p>
        </p:txBody>
      </p:sp>
      <p:sp>
        <p:nvSpPr>
          <p:cNvPr id="15" name="Text 11"/>
          <p:cNvSpPr/>
          <p:nvPr/>
        </p:nvSpPr>
        <p:spPr>
          <a:xfrm>
            <a:off x="9281160" y="3383280"/>
            <a:ext cx="2286000" cy="365760"/>
          </a:xfrm>
          <a:prstGeom prst="rect">
            <a:avLst/>
          </a:prstGeom>
          <a:noFill/>
          <a:ln/>
        </p:spPr>
        <p:txBody>
          <a:bodyPr wrap="square" rtlCol="0" anchor="ctr"/>
          <a:lstStyle/>
          <a:p>
            <a:pPr indent="0" marL="0">
              <a:buNone/>
            </a:pPr>
            <a:r>
              <a:rPr lang="en-US" sz="1250" b="1" dirty="0">
                <a:solidFill>
                  <a:srgbClr val="16255C"/>
                </a:solidFill>
                <a:latin typeface="Arial" pitchFamily="34" charset="0"/>
                <a:ea typeface="Arial" pitchFamily="34" charset="-122"/>
                <a:cs typeface="Arial" pitchFamily="34" charset="-120"/>
              </a:rPr>
              <a:t>Centro Italia</a:t>
            </a:r>
            <a:endParaRPr lang="en-US" sz="1250" dirty="0"/>
          </a:p>
        </p:txBody>
      </p:sp>
      <p:sp>
        <p:nvSpPr>
          <p:cNvPr id="16" name="Text 12"/>
          <p:cNvSpPr/>
          <p:nvPr/>
        </p:nvSpPr>
        <p:spPr>
          <a:xfrm>
            <a:off x="9281160" y="3721608"/>
            <a:ext cx="2286000" cy="457200"/>
          </a:xfrm>
          <a:prstGeom prst="rect">
            <a:avLst/>
          </a:prstGeom>
          <a:noFill/>
          <a:ln/>
        </p:spPr>
        <p:txBody>
          <a:bodyPr wrap="square" rtlCol="0" anchor="ctr"/>
          <a:lstStyle/>
          <a:p>
            <a:pPr indent="0" marL="0">
              <a:lnSpc>
                <a:spcPct val="95000"/>
              </a:lnSpc>
              <a:buNone/>
            </a:pPr>
            <a:r>
              <a:rPr lang="en-US" sz="950" dirty="0">
                <a:solidFill>
                  <a:srgbClr val="8A929B"/>
                </a:solidFill>
                <a:latin typeface="Arial" pitchFamily="34" charset="0"/>
                <a:ea typeface="Arial" pitchFamily="34" charset="-122"/>
                <a:cs typeface="Arial" pitchFamily="34" charset="-120"/>
              </a:rPr>
              <a:t>presidio leggero, flussi sottili</a:t>
            </a:r>
            <a:endParaRPr lang="en-US" sz="950" dirty="0"/>
          </a:p>
        </p:txBody>
      </p:sp>
      <p:sp>
        <p:nvSpPr>
          <p:cNvPr id="17" name="Shape 13"/>
          <p:cNvSpPr/>
          <p:nvPr/>
        </p:nvSpPr>
        <p:spPr>
          <a:xfrm>
            <a:off x="7772400" y="4270248"/>
            <a:ext cx="3776472" cy="0"/>
          </a:xfrm>
          <a:prstGeom prst="line">
            <a:avLst/>
          </a:prstGeom>
          <a:noFill/>
          <a:ln w="12700">
            <a:solidFill>
              <a:srgbClr val="E4E1D9"/>
            </a:solidFill>
            <a:prstDash val="solid"/>
          </a:ln>
        </p:spPr>
      </p:sp>
      <p:sp>
        <p:nvSpPr>
          <p:cNvPr id="18" name="Text 14"/>
          <p:cNvSpPr/>
          <p:nvPr/>
        </p:nvSpPr>
        <p:spPr>
          <a:xfrm>
            <a:off x="7772400" y="4389120"/>
            <a:ext cx="1463040" cy="640080"/>
          </a:xfrm>
          <a:prstGeom prst="rect">
            <a:avLst/>
          </a:prstGeom>
          <a:noFill/>
          <a:ln/>
        </p:spPr>
        <p:txBody>
          <a:bodyPr wrap="square" rtlCol="0" anchor="ctr"/>
          <a:lstStyle/>
          <a:p>
            <a:pPr indent="0" marL="0">
              <a:buNone/>
            </a:pPr>
            <a:r>
              <a:rPr lang="en-US" sz="2800" dirty="0">
                <a:solidFill>
                  <a:srgbClr val="8A929B"/>
                </a:solidFill>
                <a:latin typeface="Georgia" pitchFamily="34" charset="0"/>
                <a:ea typeface="Georgia" pitchFamily="34" charset="-122"/>
                <a:cs typeface="Georgia" pitchFamily="34" charset="-120"/>
              </a:rPr>
              <a:t>3,0%</a:t>
            </a:r>
            <a:endParaRPr lang="en-US" sz="2800" dirty="0"/>
          </a:p>
        </p:txBody>
      </p:sp>
      <p:sp>
        <p:nvSpPr>
          <p:cNvPr id="19" name="Text 15"/>
          <p:cNvSpPr/>
          <p:nvPr/>
        </p:nvSpPr>
        <p:spPr>
          <a:xfrm>
            <a:off x="9281160" y="4434840"/>
            <a:ext cx="2286000" cy="365760"/>
          </a:xfrm>
          <a:prstGeom prst="rect">
            <a:avLst/>
          </a:prstGeom>
          <a:noFill/>
          <a:ln/>
        </p:spPr>
        <p:txBody>
          <a:bodyPr wrap="square" rtlCol="0" anchor="ctr"/>
          <a:lstStyle/>
          <a:p>
            <a:pPr indent="0" marL="0">
              <a:buNone/>
            </a:pPr>
            <a:r>
              <a:rPr lang="en-US" sz="1250" b="1" dirty="0">
                <a:solidFill>
                  <a:srgbClr val="16255C"/>
                </a:solidFill>
                <a:latin typeface="Arial" pitchFamily="34" charset="0"/>
                <a:ea typeface="Arial" pitchFamily="34" charset="-122"/>
                <a:cs typeface="Arial" pitchFamily="34" charset="-120"/>
              </a:rPr>
              <a:t>Sud e Isole</a:t>
            </a:r>
            <a:endParaRPr lang="en-US" sz="1250" dirty="0"/>
          </a:p>
        </p:txBody>
      </p:sp>
      <p:sp>
        <p:nvSpPr>
          <p:cNvPr id="20" name="Text 16"/>
          <p:cNvSpPr/>
          <p:nvPr/>
        </p:nvSpPr>
        <p:spPr>
          <a:xfrm>
            <a:off x="9281160" y="4773168"/>
            <a:ext cx="2286000" cy="457200"/>
          </a:xfrm>
          <a:prstGeom prst="rect">
            <a:avLst/>
          </a:prstGeom>
          <a:noFill/>
          <a:ln/>
        </p:spPr>
        <p:txBody>
          <a:bodyPr wrap="square" rtlCol="0" anchor="ctr"/>
          <a:lstStyle/>
          <a:p>
            <a:pPr indent="0" marL="0">
              <a:lnSpc>
                <a:spcPct val="95000"/>
              </a:lnSpc>
              <a:buNone/>
            </a:pPr>
            <a:r>
              <a:rPr lang="en-US" sz="950" dirty="0">
                <a:solidFill>
                  <a:srgbClr val="8A929B"/>
                </a:solidFill>
                <a:latin typeface="Arial" pitchFamily="34" charset="0"/>
                <a:ea typeface="Arial" pitchFamily="34" charset="-122"/>
                <a:cs typeface="Arial" pitchFamily="34" charset="-120"/>
              </a:rPr>
              <a:t>domanda distribuita su 4 poli</a:t>
            </a:r>
            <a:endParaRPr lang="en-US" sz="950" dirty="0"/>
          </a:p>
        </p:txBody>
      </p:sp>
      <p:sp>
        <p:nvSpPr>
          <p:cNvPr id="21" name="Shape 17"/>
          <p:cNvSpPr/>
          <p:nvPr/>
        </p:nvSpPr>
        <p:spPr>
          <a:xfrm>
            <a:off x="640080" y="5870448"/>
            <a:ext cx="10911535" cy="438912"/>
          </a:xfrm>
          <a:prstGeom prst="roundRect">
            <a:avLst>
              <a:gd name="adj" fmla="val 10417"/>
            </a:avLst>
          </a:prstGeom>
          <a:solidFill>
            <a:srgbClr val="DEE8F3"/>
          </a:solidFill>
          <a:ln/>
        </p:spPr>
      </p:sp>
      <p:sp>
        <p:nvSpPr>
          <p:cNvPr id="22" name="Shape 18"/>
          <p:cNvSpPr/>
          <p:nvPr/>
        </p:nvSpPr>
        <p:spPr>
          <a:xfrm>
            <a:off x="640080" y="5870448"/>
            <a:ext cx="64008" cy="438912"/>
          </a:xfrm>
          <a:prstGeom prst="rect">
            <a:avLst/>
          </a:prstGeom>
          <a:solidFill>
            <a:srgbClr val="1E7DC2"/>
          </a:solidFill>
          <a:ln/>
        </p:spPr>
      </p:sp>
      <p:sp>
        <p:nvSpPr>
          <p:cNvPr id="23" name="Text 19"/>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Fuori dalla Lombardia, l'Emilia-Romagna è la prima regione: 7.700 ritiri, il naturale secondo polo.</a:t>
            </a:r>
            <a:endParaRPr lang="en-US" sz="850" dirty="0"/>
          </a:p>
        </p:txBody>
      </p:sp>
      <p:sp>
        <p:nvSpPr>
          <p:cNvPr id="24" name="Shape 20"/>
          <p:cNvSpPr/>
          <p:nvPr/>
        </p:nvSpPr>
        <p:spPr>
          <a:xfrm>
            <a:off x="640080" y="6437376"/>
            <a:ext cx="10911535" cy="0"/>
          </a:xfrm>
          <a:prstGeom prst="line">
            <a:avLst/>
          </a:prstGeom>
          <a:noFill/>
          <a:ln w="12700">
            <a:solidFill>
              <a:srgbClr val="E4E1D9"/>
            </a:solidFill>
            <a:prstDash val="solid"/>
          </a:ln>
        </p:spPr>
      </p:sp>
      <p:sp>
        <p:nvSpPr>
          <p:cNvPr id="25" name="Text 21"/>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6" name="Text 22"/>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08 / 22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04 · DORSALE LOMBARDIA–EMILIA</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L'87% dei volumi su un unico asse territoriale</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72768"/>
            <a:ext cx="4434840" cy="4069080"/>
          </a:xfrm>
          <a:prstGeom prst="roundRect">
            <a:avLst>
              <a:gd name="adj" fmla="val 1798"/>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heatmap.png">    </p:cNvPr>
          <p:cNvPicPr>
            <a:picLocks noChangeAspect="1"/>
          </p:cNvPicPr>
          <p:nvPr/>
        </p:nvPicPr>
        <p:blipFill>
          <a:blip r:embed="rId2"/>
          <a:stretch>
            <a:fillRect/>
          </a:stretch>
        </p:blipFill>
        <p:spPr>
          <a:xfrm>
            <a:off x="903404" y="1737360"/>
            <a:ext cx="3908191" cy="3739896"/>
          </a:xfrm>
          <a:prstGeom prst="rect">
            <a:avLst/>
          </a:prstGeom>
        </p:spPr>
      </p:pic>
      <p:sp>
        <p:nvSpPr>
          <p:cNvPr id="8" name="Text 4"/>
          <p:cNvSpPr/>
          <p:nvPr/>
        </p:nvSpPr>
        <p:spPr>
          <a:xfrm>
            <a:off x="640080" y="5669280"/>
            <a:ext cx="443484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4.2 — Heat map regionale dei ritiri (scala logaritmica).</a:t>
            </a:r>
            <a:endParaRPr lang="en-US" sz="850" dirty="0"/>
          </a:p>
        </p:txBody>
      </p:sp>
      <p:sp>
        <p:nvSpPr>
          <p:cNvPr id="9" name="Text 5"/>
          <p:cNvSpPr/>
          <p:nvPr/>
        </p:nvSpPr>
        <p:spPr>
          <a:xfrm>
            <a:off x="5394960" y="1600200"/>
            <a:ext cx="6126480" cy="914400"/>
          </a:xfrm>
          <a:prstGeom prst="rect">
            <a:avLst/>
          </a:prstGeom>
          <a:noFill/>
          <a:ln/>
        </p:spPr>
        <p:txBody>
          <a:bodyPr wrap="square" rtlCol="0" anchor="t"/>
          <a:lstStyle/>
          <a:p>
            <a:pPr algn="l" indent="0" marL="0">
              <a:lnSpc>
                <a:spcPct val="130000"/>
              </a:lnSpc>
              <a:buNone/>
            </a:pPr>
            <a:r>
              <a:rPr lang="en-US" sz="1250" dirty="0">
                <a:solidFill>
                  <a:srgbClr val="4C5563"/>
                </a:solidFill>
                <a:latin typeface="Arial" pitchFamily="34" charset="0"/>
                <a:ea typeface="Arial" pitchFamily="34" charset="-122"/>
                <a:cs typeface="Arial" pitchFamily="34" charset="-120"/>
              </a:rPr>
              <a:t>La dorsale Lombardia–Emilia concentra da sola l'87,0% dei volumi nazionali. Due regioni dominano il quadro e definiscono il perimetro di ogni scelta di localizzazione.</a:t>
            </a:r>
            <a:endParaRPr lang="en-US" sz="1250" dirty="0"/>
          </a:p>
        </p:txBody>
      </p:sp>
      <p:sp>
        <p:nvSpPr>
          <p:cNvPr id="10" name="Shape 6"/>
          <p:cNvSpPr/>
          <p:nvPr/>
        </p:nvSpPr>
        <p:spPr>
          <a:xfrm>
            <a:off x="5394960" y="2752344"/>
            <a:ext cx="100584" cy="100584"/>
          </a:xfrm>
          <a:prstGeom prst="rect">
            <a:avLst/>
          </a:prstGeom>
          <a:solidFill>
            <a:srgbClr val="1E7DC2"/>
          </a:solidFill>
          <a:ln/>
        </p:spPr>
      </p:sp>
      <p:sp>
        <p:nvSpPr>
          <p:cNvPr id="11" name="Text 7"/>
          <p:cNvSpPr/>
          <p:nvPr/>
        </p:nvSpPr>
        <p:spPr>
          <a:xfrm>
            <a:off x="5632704" y="2670048"/>
            <a:ext cx="5888736" cy="777240"/>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Lombardia · 63.361 ritiri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77,6% del totale nazionale — già pienamente presidiata dal nodo di Milano</a:t>
            </a:r>
            <a:endParaRPr lang="en-US" sz="1100" dirty="0"/>
          </a:p>
        </p:txBody>
      </p:sp>
      <p:sp>
        <p:nvSpPr>
          <p:cNvPr id="12" name="Shape 8"/>
          <p:cNvSpPr/>
          <p:nvPr/>
        </p:nvSpPr>
        <p:spPr>
          <a:xfrm>
            <a:off x="5394960" y="3529584"/>
            <a:ext cx="100584" cy="100584"/>
          </a:xfrm>
          <a:prstGeom prst="rect">
            <a:avLst/>
          </a:prstGeom>
          <a:solidFill>
            <a:srgbClr val="1E7DC2"/>
          </a:solidFill>
          <a:ln/>
        </p:spPr>
      </p:sp>
      <p:sp>
        <p:nvSpPr>
          <p:cNvPr id="13" name="Text 9"/>
          <p:cNvSpPr/>
          <p:nvPr/>
        </p:nvSpPr>
        <p:spPr>
          <a:xfrm>
            <a:off x="5632704" y="3447288"/>
            <a:ext cx="5888736" cy="777240"/>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Emilia-Romagna · 7.700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9,4%: seconda regione d'Italia e prima fuori dal presidio lombardo</a:t>
            </a:r>
            <a:endParaRPr lang="en-US" sz="1100" dirty="0"/>
          </a:p>
        </p:txBody>
      </p:sp>
      <p:sp>
        <p:nvSpPr>
          <p:cNvPr id="14" name="Shape 10"/>
          <p:cNvSpPr/>
          <p:nvPr/>
        </p:nvSpPr>
        <p:spPr>
          <a:xfrm>
            <a:off x="5394960" y="4306824"/>
            <a:ext cx="100584" cy="100584"/>
          </a:xfrm>
          <a:prstGeom prst="rect">
            <a:avLst/>
          </a:prstGeom>
          <a:solidFill>
            <a:srgbClr val="1E7DC2"/>
          </a:solidFill>
          <a:ln/>
        </p:spPr>
      </p:sp>
      <p:sp>
        <p:nvSpPr>
          <p:cNvPr id="15" name="Text 11"/>
          <p:cNvSpPr/>
          <p:nvPr/>
        </p:nvSpPr>
        <p:spPr>
          <a:xfrm>
            <a:off x="5632704" y="4224528"/>
            <a:ext cx="5888736" cy="777240"/>
          </a:xfrm>
          <a:prstGeom prst="rect">
            <a:avLst/>
          </a:prstGeom>
          <a:noFill/>
          <a:ln/>
        </p:spPr>
        <p:txBody>
          <a:bodyPr wrap="square" rtlCol="0" anchor="t"/>
          <a:lstStyle/>
          <a:p>
            <a:pPr indent="0" marL="0">
              <a:lnSpc>
                <a:spcPct val="105000"/>
              </a:lnSpc>
              <a:buNone/>
            </a:pPr>
            <a:r>
              <a:rPr lang="en-US" sz="1100" b="1" dirty="0">
                <a:solidFill>
                  <a:srgbClr val="16255C"/>
                </a:solidFill>
                <a:latin typeface="Arial" pitchFamily="34" charset="0"/>
                <a:ea typeface="Arial" pitchFamily="34" charset="-122"/>
                <a:cs typeface="Arial" pitchFamily="34" charset="-120"/>
              </a:rPr>
              <a:t>Arco padano  </a:t>
            </a:r>
            <a:pPr indent="0" marL="0">
              <a:lnSpc>
                <a:spcPct val="105000"/>
              </a:lnSpc>
              <a:buNone/>
            </a:pPr>
            <a:r>
              <a:rPr lang="en-US" sz="1100" dirty="0">
                <a:solidFill>
                  <a:srgbClr val="4C5563"/>
                </a:solidFill>
                <a:latin typeface="Arial" pitchFamily="34" charset="0"/>
                <a:ea typeface="Arial" pitchFamily="34" charset="-122"/>
                <a:cs typeface="Arial" pitchFamily="34" charset="-120"/>
              </a:rPr>
              <a:t>Veneto (1.034), Liguria (750) e Piemonte (626) completano oltre 73 mila movimenti/anno</a:t>
            </a:r>
            <a:endParaRPr lang="en-US" sz="1100" dirty="0"/>
          </a:p>
        </p:txBody>
      </p:sp>
      <p:sp>
        <p:nvSpPr>
          <p:cNvPr id="16" name="Shape 12"/>
          <p:cNvSpPr/>
          <p:nvPr/>
        </p:nvSpPr>
        <p:spPr>
          <a:xfrm>
            <a:off x="640080" y="5870448"/>
            <a:ext cx="10911535" cy="438912"/>
          </a:xfrm>
          <a:prstGeom prst="roundRect">
            <a:avLst>
              <a:gd name="adj" fmla="val 10417"/>
            </a:avLst>
          </a:prstGeom>
          <a:solidFill>
            <a:srgbClr val="DEE8F3"/>
          </a:solidFill>
          <a:ln/>
        </p:spPr>
      </p:sp>
      <p:sp>
        <p:nvSpPr>
          <p:cNvPr id="17" name="Shape 13"/>
          <p:cNvSpPr/>
          <p:nvPr/>
        </p:nvSpPr>
        <p:spPr>
          <a:xfrm>
            <a:off x="640080" y="5870448"/>
            <a:ext cx="64008" cy="438912"/>
          </a:xfrm>
          <a:prstGeom prst="rect">
            <a:avLst/>
          </a:prstGeom>
          <a:solidFill>
            <a:srgbClr val="1E7DC2"/>
          </a:solidFill>
          <a:ln/>
        </p:spPr>
      </p:sp>
      <p:sp>
        <p:nvSpPr>
          <p:cNvPr id="18" name="Text 14"/>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Qualunque nuova sede deve restare agganciata alla dorsale: allontanarsene significa rinunciare al 90% della domanda.</a:t>
            </a:r>
            <a:endParaRPr lang="en-US" sz="850" dirty="0"/>
          </a:p>
        </p:txBody>
      </p:sp>
      <p:sp>
        <p:nvSpPr>
          <p:cNvPr id="19" name="Shape 15"/>
          <p:cNvSpPr/>
          <p:nvPr/>
        </p:nvSpPr>
        <p:spPr>
          <a:xfrm>
            <a:off x="640080" y="6437376"/>
            <a:ext cx="10911535" cy="0"/>
          </a:xfrm>
          <a:prstGeom prst="line">
            <a:avLst/>
          </a:prstGeom>
          <a:noFill/>
          <a:ln w="12700">
            <a:solidFill>
              <a:srgbClr val="E4E1D9"/>
            </a:solidFill>
            <a:prstDash val="solid"/>
          </a:ln>
        </p:spPr>
      </p:sp>
      <p:sp>
        <p:nvSpPr>
          <p:cNvPr id="20" name="Text 16"/>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1" name="Text 17"/>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09 / 22</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05 · DENSITÀ OPERATIVA</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Solo tre nodi superano la soglia di sostenibilità</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Text 3"/>
          <p:cNvSpPr/>
          <p:nvPr/>
        </p:nvSpPr>
        <p:spPr>
          <a:xfrm>
            <a:off x="640080" y="1554480"/>
            <a:ext cx="10881360" cy="54864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La soglia critica è di 10 ritiri/giorno: sotto questo valore una presenza fisica dedicata non è economicamente sensata. Solo tre nodi la superano — e due sono in Lombardia.</a:t>
            </a:r>
            <a:endParaRPr lang="en-US" sz="1200" dirty="0"/>
          </a:p>
        </p:txBody>
      </p:sp>
      <p:sp>
        <p:nvSpPr>
          <p:cNvPr id="7" name="Shape 4"/>
          <p:cNvSpPr/>
          <p:nvPr/>
        </p:nvSpPr>
        <p:spPr>
          <a:xfrm>
            <a:off x="640080" y="2148840"/>
            <a:ext cx="7315200" cy="3291840"/>
          </a:xfrm>
          <a:prstGeom prst="roundRect">
            <a:avLst>
              <a:gd name="adj" fmla="val 2222"/>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8" name="Image 1" descr="/home/user/PptxGenJS/assets-tmwe/fig_topcitta.png">    </p:cNvPr>
          <p:cNvPicPr>
            <a:picLocks noChangeAspect="1"/>
          </p:cNvPicPr>
          <p:nvPr/>
        </p:nvPicPr>
        <p:blipFill>
          <a:blip r:embed="rId2"/>
          <a:stretch>
            <a:fillRect/>
          </a:stretch>
        </p:blipFill>
        <p:spPr>
          <a:xfrm>
            <a:off x="819522" y="2313432"/>
            <a:ext cx="6956316" cy="2962656"/>
          </a:xfrm>
          <a:prstGeom prst="rect">
            <a:avLst/>
          </a:prstGeom>
        </p:spPr>
      </p:pic>
      <p:sp>
        <p:nvSpPr>
          <p:cNvPr id="9" name="Text 5"/>
          <p:cNvSpPr/>
          <p:nvPr/>
        </p:nvSpPr>
        <p:spPr>
          <a:xfrm>
            <a:off x="640080" y="5468112"/>
            <a:ext cx="731520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5.1 — Top 5 città per macroarea (si noti la scala differente per area).</a:t>
            </a:r>
            <a:endParaRPr lang="en-US" sz="850" dirty="0"/>
          </a:p>
        </p:txBody>
      </p:sp>
      <p:sp>
        <p:nvSpPr>
          <p:cNvPr id="10" name="Text 6"/>
          <p:cNvSpPr/>
          <p:nvPr/>
        </p:nvSpPr>
        <p:spPr>
          <a:xfrm>
            <a:off x="8138160" y="2194560"/>
            <a:ext cx="3383280" cy="274320"/>
          </a:xfrm>
          <a:prstGeom prst="rect">
            <a:avLst/>
          </a:prstGeom>
          <a:noFill/>
          <a:ln/>
        </p:spPr>
        <p:txBody>
          <a:bodyPr wrap="square" rtlCol="0" anchor="ctr"/>
          <a:lstStyle/>
          <a:p>
            <a:pPr indent="0" marL="0">
              <a:buNone/>
            </a:pPr>
            <a:r>
              <a:rPr lang="en-US" sz="950" b="1" spc="150" kern="0" dirty="0">
                <a:solidFill>
                  <a:srgbClr val="8A929B"/>
                </a:solidFill>
                <a:latin typeface="Arial" pitchFamily="34" charset="0"/>
                <a:ea typeface="Arial" pitchFamily="34" charset="-122"/>
                <a:cs typeface="Arial" pitchFamily="34" charset="-120"/>
              </a:rPr>
              <a:t>SOPRA LA SOGLIA</a:t>
            </a:r>
            <a:endParaRPr lang="en-US" sz="950" dirty="0"/>
          </a:p>
        </p:txBody>
      </p:sp>
      <p:sp>
        <p:nvSpPr>
          <p:cNvPr id="11" name="Shape 7"/>
          <p:cNvSpPr/>
          <p:nvPr/>
        </p:nvSpPr>
        <p:spPr>
          <a:xfrm>
            <a:off x="8138160" y="2560320"/>
            <a:ext cx="3401568" cy="777240"/>
          </a:xfrm>
          <a:prstGeom prst="roundRect">
            <a:avLst>
              <a:gd name="adj" fmla="val 9412"/>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2" name="Text 8"/>
          <p:cNvSpPr/>
          <p:nvPr/>
        </p:nvSpPr>
        <p:spPr>
          <a:xfrm>
            <a:off x="8321040" y="2651760"/>
            <a:ext cx="1554480" cy="594360"/>
          </a:xfrm>
          <a:prstGeom prst="rect">
            <a:avLst/>
          </a:prstGeom>
          <a:noFill/>
          <a:ln/>
        </p:spPr>
        <p:txBody>
          <a:bodyPr wrap="square" rtlCol="0" anchor="ctr"/>
          <a:lstStyle/>
          <a:p>
            <a:pPr indent="0" marL="0">
              <a:buNone/>
            </a:pPr>
            <a:r>
              <a:rPr lang="en-US" sz="1700" dirty="0">
                <a:solidFill>
                  <a:srgbClr val="16255C"/>
                </a:solidFill>
                <a:latin typeface="Georgia" pitchFamily="34" charset="0"/>
                <a:ea typeface="Georgia" pitchFamily="34" charset="-122"/>
                <a:cs typeface="Georgia" pitchFamily="34" charset="-120"/>
              </a:rPr>
              <a:t>Milano</a:t>
            </a:r>
            <a:endParaRPr lang="en-US" sz="1700" dirty="0"/>
          </a:p>
        </p:txBody>
      </p:sp>
      <p:sp>
        <p:nvSpPr>
          <p:cNvPr id="13" name="Text 9"/>
          <p:cNvSpPr/>
          <p:nvPr/>
        </p:nvSpPr>
        <p:spPr>
          <a:xfrm>
            <a:off x="9601200" y="2651760"/>
            <a:ext cx="914400" cy="365760"/>
          </a:xfrm>
          <a:prstGeom prst="rect">
            <a:avLst/>
          </a:prstGeom>
          <a:noFill/>
          <a:ln/>
        </p:spPr>
        <p:txBody>
          <a:bodyPr wrap="square" rtlCol="0" anchor="ctr"/>
          <a:lstStyle/>
          <a:p>
            <a:pPr algn="r" indent="0" marL="0">
              <a:buNone/>
            </a:pPr>
            <a:r>
              <a:rPr lang="en-US" sz="1300" b="1" dirty="0">
                <a:solidFill>
                  <a:srgbClr val="1E3A7B"/>
                </a:solidFill>
                <a:latin typeface="Arial" pitchFamily="34" charset="0"/>
                <a:ea typeface="Arial" pitchFamily="34" charset="-122"/>
                <a:cs typeface="Arial" pitchFamily="34" charset="-120"/>
              </a:rPr>
              <a:t>225 /gg</a:t>
            </a:r>
            <a:endParaRPr lang="en-US" sz="1300" dirty="0"/>
          </a:p>
        </p:txBody>
      </p:sp>
      <p:sp>
        <p:nvSpPr>
          <p:cNvPr id="14" name="Text 10"/>
          <p:cNvSpPr/>
          <p:nvPr/>
        </p:nvSpPr>
        <p:spPr>
          <a:xfrm>
            <a:off x="9326880" y="2999232"/>
            <a:ext cx="2103120" cy="274320"/>
          </a:xfrm>
          <a:prstGeom prst="rect">
            <a:avLst/>
          </a:prstGeom>
          <a:noFill/>
          <a:ln/>
        </p:spPr>
        <p:txBody>
          <a:bodyPr wrap="square" rtlCol="0" anchor="ctr"/>
          <a:lstStyle/>
          <a:p>
            <a:pPr algn="r" indent="0" marL="0">
              <a:buNone/>
            </a:pPr>
            <a:r>
              <a:rPr lang="en-US" sz="850" dirty="0">
                <a:solidFill>
                  <a:srgbClr val="8A929B"/>
                </a:solidFill>
                <a:latin typeface="Arial" pitchFamily="34" charset="0"/>
                <a:ea typeface="Arial" pitchFamily="34" charset="-122"/>
                <a:cs typeface="Arial" pitchFamily="34" charset="-120"/>
              </a:rPr>
              <a:t>Lombardia</a:t>
            </a:r>
            <a:endParaRPr lang="en-US" sz="850" dirty="0"/>
          </a:p>
        </p:txBody>
      </p:sp>
      <p:sp>
        <p:nvSpPr>
          <p:cNvPr id="15" name="Shape 11"/>
          <p:cNvSpPr/>
          <p:nvPr/>
        </p:nvSpPr>
        <p:spPr>
          <a:xfrm>
            <a:off x="8138160" y="3474720"/>
            <a:ext cx="3401568" cy="777240"/>
          </a:xfrm>
          <a:prstGeom prst="roundRect">
            <a:avLst>
              <a:gd name="adj" fmla="val 9412"/>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6" name="Text 12"/>
          <p:cNvSpPr/>
          <p:nvPr/>
        </p:nvSpPr>
        <p:spPr>
          <a:xfrm>
            <a:off x="8321040" y="3566160"/>
            <a:ext cx="1554480" cy="594360"/>
          </a:xfrm>
          <a:prstGeom prst="rect">
            <a:avLst/>
          </a:prstGeom>
          <a:noFill/>
          <a:ln/>
        </p:spPr>
        <p:txBody>
          <a:bodyPr wrap="square" rtlCol="0" anchor="ctr"/>
          <a:lstStyle/>
          <a:p>
            <a:pPr indent="0" marL="0">
              <a:buNone/>
            </a:pPr>
            <a:r>
              <a:rPr lang="en-US" sz="1700" dirty="0">
                <a:solidFill>
                  <a:srgbClr val="16255C"/>
                </a:solidFill>
                <a:latin typeface="Georgia" pitchFamily="34" charset="0"/>
                <a:ea typeface="Georgia" pitchFamily="34" charset="-122"/>
                <a:cs typeface="Georgia" pitchFamily="34" charset="-120"/>
              </a:rPr>
              <a:t>Origgio</a:t>
            </a:r>
            <a:endParaRPr lang="en-US" sz="1700" dirty="0"/>
          </a:p>
        </p:txBody>
      </p:sp>
      <p:sp>
        <p:nvSpPr>
          <p:cNvPr id="17" name="Text 13"/>
          <p:cNvSpPr/>
          <p:nvPr/>
        </p:nvSpPr>
        <p:spPr>
          <a:xfrm>
            <a:off x="9601200" y="3566160"/>
            <a:ext cx="914400" cy="365760"/>
          </a:xfrm>
          <a:prstGeom prst="rect">
            <a:avLst/>
          </a:prstGeom>
          <a:noFill/>
          <a:ln/>
        </p:spPr>
        <p:txBody>
          <a:bodyPr wrap="square" rtlCol="0" anchor="ctr"/>
          <a:lstStyle/>
          <a:p>
            <a:pPr algn="r" indent="0" marL="0">
              <a:buNone/>
            </a:pPr>
            <a:r>
              <a:rPr lang="en-US" sz="1300" b="1" dirty="0">
                <a:solidFill>
                  <a:srgbClr val="1E3A7B"/>
                </a:solidFill>
                <a:latin typeface="Arial" pitchFamily="34" charset="0"/>
                <a:ea typeface="Arial" pitchFamily="34" charset="-122"/>
                <a:cs typeface="Arial" pitchFamily="34" charset="-120"/>
              </a:rPr>
              <a:t>46 /gg</a:t>
            </a:r>
            <a:endParaRPr lang="en-US" sz="1300" dirty="0"/>
          </a:p>
        </p:txBody>
      </p:sp>
      <p:sp>
        <p:nvSpPr>
          <p:cNvPr id="18" name="Text 14"/>
          <p:cNvSpPr/>
          <p:nvPr/>
        </p:nvSpPr>
        <p:spPr>
          <a:xfrm>
            <a:off x="9326880" y="3913632"/>
            <a:ext cx="2103120" cy="274320"/>
          </a:xfrm>
          <a:prstGeom prst="rect">
            <a:avLst/>
          </a:prstGeom>
          <a:noFill/>
          <a:ln/>
        </p:spPr>
        <p:txBody>
          <a:bodyPr wrap="square" rtlCol="0" anchor="ctr"/>
          <a:lstStyle/>
          <a:p>
            <a:pPr algn="r" indent="0" marL="0">
              <a:buNone/>
            </a:pPr>
            <a:r>
              <a:rPr lang="en-US" sz="850" dirty="0">
                <a:solidFill>
                  <a:srgbClr val="8A929B"/>
                </a:solidFill>
                <a:latin typeface="Arial" pitchFamily="34" charset="0"/>
                <a:ea typeface="Arial" pitchFamily="34" charset="-122"/>
                <a:cs typeface="Arial" pitchFamily="34" charset="-120"/>
              </a:rPr>
              <a:t>Lombardia</a:t>
            </a:r>
            <a:endParaRPr lang="en-US" sz="850" dirty="0"/>
          </a:p>
        </p:txBody>
      </p:sp>
      <p:sp>
        <p:nvSpPr>
          <p:cNvPr id="19" name="Shape 15"/>
          <p:cNvSpPr/>
          <p:nvPr/>
        </p:nvSpPr>
        <p:spPr>
          <a:xfrm>
            <a:off x="8138160" y="4389120"/>
            <a:ext cx="3401568" cy="777240"/>
          </a:xfrm>
          <a:prstGeom prst="roundRect">
            <a:avLst>
              <a:gd name="adj" fmla="val 9412"/>
            </a:avLst>
          </a:prstGeom>
          <a:solidFill>
            <a:srgbClr val="DEE8F3"/>
          </a:solidFill>
          <a:ln w="12700">
            <a:solidFill>
              <a:srgbClr val="C4D6EA"/>
            </a:solidFill>
            <a:prstDash val="solid"/>
          </a:ln>
          <a:effectLst>
            <a:outerShdw sx="100000" sy="100000" kx="0" ky="0" algn="bl" rotWithShape="0" blurRad="88900" dist="25400" dir="5400000">
              <a:srgbClr val="D9D5CC">
                <a:alpha val="40000"/>
              </a:srgbClr>
            </a:outerShdw>
          </a:effectLst>
        </p:spPr>
      </p:sp>
      <p:sp>
        <p:nvSpPr>
          <p:cNvPr id="20" name="Text 16"/>
          <p:cNvSpPr/>
          <p:nvPr/>
        </p:nvSpPr>
        <p:spPr>
          <a:xfrm>
            <a:off x="8321040" y="4480560"/>
            <a:ext cx="1554480" cy="594360"/>
          </a:xfrm>
          <a:prstGeom prst="rect">
            <a:avLst/>
          </a:prstGeom>
          <a:noFill/>
          <a:ln/>
        </p:spPr>
        <p:txBody>
          <a:bodyPr wrap="square" rtlCol="0" anchor="ctr"/>
          <a:lstStyle/>
          <a:p>
            <a:pPr indent="0" marL="0">
              <a:buNone/>
            </a:pPr>
            <a:r>
              <a:rPr lang="en-US" sz="1700" dirty="0">
                <a:solidFill>
                  <a:srgbClr val="16255C"/>
                </a:solidFill>
                <a:latin typeface="Georgia" pitchFamily="34" charset="0"/>
                <a:ea typeface="Georgia" pitchFamily="34" charset="-122"/>
                <a:cs typeface="Georgia" pitchFamily="34" charset="-120"/>
              </a:rPr>
              <a:t>Bologna</a:t>
            </a:r>
            <a:endParaRPr lang="en-US" sz="1700" dirty="0"/>
          </a:p>
        </p:txBody>
      </p:sp>
      <p:sp>
        <p:nvSpPr>
          <p:cNvPr id="21" name="Text 17"/>
          <p:cNvSpPr/>
          <p:nvPr/>
        </p:nvSpPr>
        <p:spPr>
          <a:xfrm>
            <a:off x="9601200" y="4480560"/>
            <a:ext cx="914400" cy="365760"/>
          </a:xfrm>
          <a:prstGeom prst="rect">
            <a:avLst/>
          </a:prstGeom>
          <a:noFill/>
          <a:ln/>
        </p:spPr>
        <p:txBody>
          <a:bodyPr wrap="square" rtlCol="0" anchor="ctr"/>
          <a:lstStyle/>
          <a:p>
            <a:pPr algn="r" indent="0" marL="0">
              <a:buNone/>
            </a:pPr>
            <a:r>
              <a:rPr lang="en-US" sz="1300" b="1" dirty="0">
                <a:solidFill>
                  <a:srgbClr val="1E7DC2"/>
                </a:solidFill>
                <a:latin typeface="Arial" pitchFamily="34" charset="0"/>
                <a:ea typeface="Arial" pitchFamily="34" charset="-122"/>
                <a:cs typeface="Arial" pitchFamily="34" charset="-120"/>
              </a:rPr>
              <a:t>30 /gg</a:t>
            </a:r>
            <a:endParaRPr lang="en-US" sz="1300" dirty="0"/>
          </a:p>
        </p:txBody>
      </p:sp>
      <p:sp>
        <p:nvSpPr>
          <p:cNvPr id="22" name="Text 18"/>
          <p:cNvSpPr/>
          <p:nvPr/>
        </p:nvSpPr>
        <p:spPr>
          <a:xfrm>
            <a:off x="9326880" y="4828032"/>
            <a:ext cx="2103120" cy="274320"/>
          </a:xfrm>
          <a:prstGeom prst="rect">
            <a:avLst/>
          </a:prstGeom>
          <a:noFill/>
          <a:ln/>
        </p:spPr>
        <p:txBody>
          <a:bodyPr wrap="square" rtlCol="0" anchor="ctr"/>
          <a:lstStyle/>
          <a:p>
            <a:pPr algn="r" indent="0" marL="0">
              <a:buNone/>
            </a:pPr>
            <a:r>
              <a:rPr lang="en-US" sz="850" dirty="0">
                <a:solidFill>
                  <a:srgbClr val="8A929B"/>
                </a:solidFill>
                <a:latin typeface="Arial" pitchFamily="34" charset="0"/>
                <a:ea typeface="Arial" pitchFamily="34" charset="-122"/>
                <a:cs typeface="Arial" pitchFamily="34" charset="-120"/>
              </a:rPr>
              <a:t>candidabile</a:t>
            </a:r>
            <a:endParaRPr lang="en-US" sz="850" dirty="0"/>
          </a:p>
        </p:txBody>
      </p:sp>
      <p:sp>
        <p:nvSpPr>
          <p:cNvPr id="23" name="Shape 19"/>
          <p:cNvSpPr/>
          <p:nvPr/>
        </p:nvSpPr>
        <p:spPr>
          <a:xfrm>
            <a:off x="640080" y="5870448"/>
            <a:ext cx="10911535" cy="438912"/>
          </a:xfrm>
          <a:prstGeom prst="roundRect">
            <a:avLst>
              <a:gd name="adj" fmla="val 10417"/>
            </a:avLst>
          </a:prstGeom>
          <a:solidFill>
            <a:srgbClr val="DEE8F3"/>
          </a:solidFill>
          <a:ln/>
        </p:spPr>
      </p:sp>
      <p:sp>
        <p:nvSpPr>
          <p:cNvPr id="24" name="Shape 20"/>
          <p:cNvSpPr/>
          <p:nvPr/>
        </p:nvSpPr>
        <p:spPr>
          <a:xfrm>
            <a:off x="640080" y="5870448"/>
            <a:ext cx="64008" cy="438912"/>
          </a:xfrm>
          <a:prstGeom prst="rect">
            <a:avLst/>
          </a:prstGeom>
          <a:solidFill>
            <a:srgbClr val="1E7DC2"/>
          </a:solidFill>
          <a:ln/>
        </p:spPr>
      </p:sp>
      <p:sp>
        <p:nvSpPr>
          <p:cNvPr id="25" name="Text 21"/>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Milano e Origgio sono in Lombardia: Bologna è l'unico candidato che supera la soglia altrove.</a:t>
            </a:r>
            <a:endParaRPr lang="en-US" sz="850" dirty="0"/>
          </a:p>
        </p:txBody>
      </p:sp>
      <p:sp>
        <p:nvSpPr>
          <p:cNvPr id="26" name="Shape 22"/>
          <p:cNvSpPr/>
          <p:nvPr/>
        </p:nvSpPr>
        <p:spPr>
          <a:xfrm>
            <a:off x="640080" y="6437376"/>
            <a:ext cx="10911535" cy="0"/>
          </a:xfrm>
          <a:prstGeom prst="line">
            <a:avLst/>
          </a:prstGeom>
          <a:noFill/>
          <a:ln w="12700">
            <a:solidFill>
              <a:srgbClr val="E4E1D9"/>
            </a:solidFill>
            <a:prstDash val="solid"/>
          </a:ln>
        </p:spPr>
      </p:sp>
      <p:sp>
        <p:nvSpPr>
          <p:cNvPr id="27" name="Text 23"/>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8" name="Text 24"/>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10 / 22</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06 · APPROFONDIMENTO TERRITORIALE</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Milano domina, Bologna guida il resto d'Italia</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72768"/>
            <a:ext cx="4297680" cy="4069080"/>
          </a:xfrm>
          <a:prstGeom prst="roundRect">
            <a:avLst>
              <a:gd name="adj" fmla="val 1798"/>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bubble_map.png">    </p:cNvPr>
          <p:cNvPicPr>
            <a:picLocks noChangeAspect="1"/>
          </p:cNvPicPr>
          <p:nvPr/>
        </p:nvPicPr>
        <p:blipFill>
          <a:blip r:embed="rId2"/>
          <a:stretch>
            <a:fillRect/>
          </a:stretch>
        </p:blipFill>
        <p:spPr>
          <a:xfrm>
            <a:off x="926452" y="1737360"/>
            <a:ext cx="3724936" cy="3739896"/>
          </a:xfrm>
          <a:prstGeom prst="rect">
            <a:avLst/>
          </a:prstGeom>
        </p:spPr>
      </p:pic>
      <p:sp>
        <p:nvSpPr>
          <p:cNvPr id="8" name="Text 4"/>
          <p:cNvSpPr/>
          <p:nvPr/>
        </p:nvSpPr>
        <p:spPr>
          <a:xfrm>
            <a:off x="640080" y="5669280"/>
            <a:ext cx="429768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6.1 — Mappa dei ritiri per città: la bolla è proporzionale al volume.</a:t>
            </a:r>
            <a:endParaRPr lang="en-US" sz="850" dirty="0"/>
          </a:p>
        </p:txBody>
      </p:sp>
      <p:sp>
        <p:nvSpPr>
          <p:cNvPr id="9" name="Text 5"/>
          <p:cNvSpPr/>
          <p:nvPr/>
        </p:nvSpPr>
        <p:spPr>
          <a:xfrm>
            <a:off x="5257800" y="1600200"/>
            <a:ext cx="6263640" cy="96012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L'analisi dei primi tre nodi di ogni macroarea conferma il quadro: un baricentro lombardo maturo, un unico polo emiliano sopra soglia e poli di Centro e Sud da presidiare solo con accordi di corrispondenza.</a:t>
            </a:r>
            <a:endParaRPr lang="en-US" sz="1200" dirty="0"/>
          </a:p>
        </p:txBody>
      </p:sp>
      <p:sp>
        <p:nvSpPr>
          <p:cNvPr id="10" name="Shape 6"/>
          <p:cNvSpPr/>
          <p:nvPr/>
        </p:nvSpPr>
        <p:spPr>
          <a:xfrm>
            <a:off x="5257800" y="2798064"/>
            <a:ext cx="100584" cy="100584"/>
          </a:xfrm>
          <a:prstGeom prst="rect">
            <a:avLst/>
          </a:prstGeom>
          <a:solidFill>
            <a:srgbClr val="1E7DC2"/>
          </a:solidFill>
          <a:ln/>
        </p:spPr>
      </p:sp>
      <p:sp>
        <p:nvSpPr>
          <p:cNvPr id="11" name="Text 7"/>
          <p:cNvSpPr/>
          <p:nvPr/>
        </p:nvSpPr>
        <p:spPr>
          <a:xfrm>
            <a:off x="5495544" y="2715768"/>
            <a:ext cx="6025896" cy="731520"/>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Milano · 49.935 ritiri (61,2%)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nodo maturo e già presidiato; costo/ritiro più basso della rete (€19,77)</a:t>
            </a:r>
            <a:endParaRPr lang="en-US" sz="1050" dirty="0"/>
          </a:p>
        </p:txBody>
      </p:sp>
      <p:sp>
        <p:nvSpPr>
          <p:cNvPr id="12" name="Shape 8"/>
          <p:cNvSpPr/>
          <p:nvPr/>
        </p:nvSpPr>
        <p:spPr>
          <a:xfrm>
            <a:off x="5257800" y="3529584"/>
            <a:ext cx="100584" cy="100584"/>
          </a:xfrm>
          <a:prstGeom prst="rect">
            <a:avLst/>
          </a:prstGeom>
          <a:solidFill>
            <a:srgbClr val="1E7DC2"/>
          </a:solidFill>
          <a:ln/>
        </p:spPr>
      </p:sp>
      <p:sp>
        <p:nvSpPr>
          <p:cNvPr id="13" name="Text 9"/>
          <p:cNvSpPr/>
          <p:nvPr/>
        </p:nvSpPr>
        <p:spPr>
          <a:xfrm>
            <a:off x="5495544" y="3447288"/>
            <a:ext cx="6025896" cy="731520"/>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Bologna · 7.520 (9,2%)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unico nodo non lombardo sopra soglia; 28,3% assicurate, coerente col laboratorio</a:t>
            </a:r>
            <a:endParaRPr lang="en-US" sz="1050" dirty="0"/>
          </a:p>
        </p:txBody>
      </p:sp>
      <p:sp>
        <p:nvSpPr>
          <p:cNvPr id="14" name="Shape 10"/>
          <p:cNvSpPr/>
          <p:nvPr/>
        </p:nvSpPr>
        <p:spPr>
          <a:xfrm>
            <a:off x="5257800" y="4261104"/>
            <a:ext cx="100584" cy="100584"/>
          </a:xfrm>
          <a:prstGeom prst="rect">
            <a:avLst/>
          </a:prstGeom>
          <a:solidFill>
            <a:srgbClr val="1E7DC2"/>
          </a:solidFill>
          <a:ln/>
        </p:spPr>
      </p:sp>
      <p:sp>
        <p:nvSpPr>
          <p:cNvPr id="15" name="Text 11"/>
          <p:cNvSpPr/>
          <p:nvPr/>
        </p:nvSpPr>
        <p:spPr>
          <a:xfrm>
            <a:off x="5495544" y="4178808"/>
            <a:ext cx="6025896" cy="731520"/>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Origgio · 10.214 (12,5%)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satellite funzionale di Milano: nessun potenziale come sede alternativa</a:t>
            </a:r>
            <a:endParaRPr lang="en-US" sz="1050" dirty="0"/>
          </a:p>
        </p:txBody>
      </p:sp>
      <p:sp>
        <p:nvSpPr>
          <p:cNvPr id="16" name="Shape 12"/>
          <p:cNvSpPr/>
          <p:nvPr/>
        </p:nvSpPr>
        <p:spPr>
          <a:xfrm>
            <a:off x="5257800" y="4992624"/>
            <a:ext cx="100584" cy="100584"/>
          </a:xfrm>
          <a:prstGeom prst="rect">
            <a:avLst/>
          </a:prstGeom>
          <a:solidFill>
            <a:srgbClr val="1E7DC2"/>
          </a:solidFill>
          <a:ln/>
        </p:spPr>
      </p:sp>
      <p:sp>
        <p:nvSpPr>
          <p:cNvPr id="17" name="Text 13"/>
          <p:cNvSpPr/>
          <p:nvPr/>
        </p:nvSpPr>
        <p:spPr>
          <a:xfrm>
            <a:off x="5495544" y="4910328"/>
            <a:ext cx="6025896" cy="731520"/>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Centro e Sud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poli da 2-3 ritiri/giorno: si servono, non si presidiano</a:t>
            </a:r>
            <a:endParaRPr lang="en-US" sz="1050" dirty="0"/>
          </a:p>
        </p:txBody>
      </p:sp>
      <p:sp>
        <p:nvSpPr>
          <p:cNvPr id="18" name="Shape 14"/>
          <p:cNvSpPr/>
          <p:nvPr/>
        </p:nvSpPr>
        <p:spPr>
          <a:xfrm>
            <a:off x="640080" y="5870448"/>
            <a:ext cx="10911535" cy="438912"/>
          </a:xfrm>
          <a:prstGeom prst="roundRect">
            <a:avLst>
              <a:gd name="adj" fmla="val 10417"/>
            </a:avLst>
          </a:prstGeom>
          <a:solidFill>
            <a:srgbClr val="DEE8F3"/>
          </a:solidFill>
          <a:ln/>
        </p:spPr>
      </p:sp>
      <p:sp>
        <p:nvSpPr>
          <p:cNvPr id="19" name="Shape 15"/>
          <p:cNvSpPr/>
          <p:nvPr/>
        </p:nvSpPr>
        <p:spPr>
          <a:xfrm>
            <a:off x="640080" y="5870448"/>
            <a:ext cx="64008" cy="438912"/>
          </a:xfrm>
          <a:prstGeom prst="rect">
            <a:avLst/>
          </a:prstGeom>
          <a:solidFill>
            <a:srgbClr val="1E7DC2"/>
          </a:solidFill>
          <a:ln/>
        </p:spPr>
      </p:sp>
      <p:sp>
        <p:nvSpPr>
          <p:cNvPr id="20" name="Text 16"/>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Escludendo la Lombardia, Bologna è l'unico nodo con massa critica reale.</a:t>
            </a:r>
            <a:endParaRPr lang="en-US" sz="850" dirty="0"/>
          </a:p>
        </p:txBody>
      </p:sp>
      <p:sp>
        <p:nvSpPr>
          <p:cNvPr id="21" name="Shape 17"/>
          <p:cNvSpPr/>
          <p:nvPr/>
        </p:nvSpPr>
        <p:spPr>
          <a:xfrm>
            <a:off x="640080" y="6437376"/>
            <a:ext cx="10911535" cy="0"/>
          </a:xfrm>
          <a:prstGeom prst="line">
            <a:avLst/>
          </a:prstGeom>
          <a:noFill/>
          <a:ln w="12700">
            <a:solidFill>
              <a:srgbClr val="E4E1D9"/>
            </a:solidFill>
            <a:prstDash val="solid"/>
          </a:ln>
        </p:spPr>
      </p:sp>
      <p:sp>
        <p:nvSpPr>
          <p:cNvPr id="22" name="Text 18"/>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3" name="Text 19"/>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11 / 22</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06 · COSTO VS PUNTUALITÀ</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Bologna combina volumi rilevanti e la miglior puntualità</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72768"/>
            <a:ext cx="6400800" cy="4023360"/>
          </a:xfrm>
          <a:prstGeom prst="roundRect">
            <a:avLst>
              <a:gd name="adj" fmla="val 1818"/>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scatter_kpi.png">    </p:cNvPr>
          <p:cNvPicPr>
            <a:picLocks noChangeAspect="1"/>
          </p:cNvPicPr>
          <p:nvPr/>
        </p:nvPicPr>
        <p:blipFill>
          <a:blip r:embed="rId2"/>
          <a:stretch>
            <a:fillRect/>
          </a:stretch>
        </p:blipFill>
        <p:spPr>
          <a:xfrm>
            <a:off x="1042142" y="1737360"/>
            <a:ext cx="5596677" cy="3694176"/>
          </a:xfrm>
          <a:prstGeom prst="rect">
            <a:avLst/>
          </a:prstGeom>
        </p:spPr>
      </p:pic>
      <p:sp>
        <p:nvSpPr>
          <p:cNvPr id="8" name="Text 4"/>
          <p:cNvSpPr/>
          <p:nvPr/>
        </p:nvSpPr>
        <p:spPr>
          <a:xfrm>
            <a:off x="640080" y="5632704"/>
            <a:ext cx="640080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6.2 — Posizionamento costo/puntualità dei principali nodi (bolla = volumi).</a:t>
            </a:r>
            <a:endParaRPr lang="en-US" sz="850" dirty="0"/>
          </a:p>
        </p:txBody>
      </p:sp>
      <p:sp>
        <p:nvSpPr>
          <p:cNvPr id="9" name="Text 5"/>
          <p:cNvSpPr/>
          <p:nvPr/>
        </p:nvSpPr>
        <p:spPr>
          <a:xfrm>
            <a:off x="7269480" y="1600200"/>
            <a:ext cx="4297680" cy="137160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Incrociando costo medio per ritiro e puntualità (OTD), Bologna occupa la posizione più favorevole tra i nodi rilevanti: alta puntualità e volumi significativi, con ampio margine di miglioramento sul transit time.</a:t>
            </a:r>
            <a:endParaRPr lang="en-US" sz="1200" dirty="0"/>
          </a:p>
        </p:txBody>
      </p:sp>
      <p:sp>
        <p:nvSpPr>
          <p:cNvPr id="10" name="Shape 6"/>
          <p:cNvSpPr/>
          <p:nvPr/>
        </p:nvSpPr>
        <p:spPr>
          <a:xfrm>
            <a:off x="7269480" y="3200400"/>
            <a:ext cx="4297680" cy="2377440"/>
          </a:xfrm>
          <a:prstGeom prst="roundRect">
            <a:avLst>
              <a:gd name="adj" fmla="val 3077"/>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1" name="Text 7"/>
          <p:cNvSpPr/>
          <p:nvPr/>
        </p:nvSpPr>
        <p:spPr>
          <a:xfrm>
            <a:off x="7498080" y="3364992"/>
            <a:ext cx="1371600" cy="548640"/>
          </a:xfrm>
          <a:prstGeom prst="rect">
            <a:avLst/>
          </a:prstGeom>
          <a:noFill/>
          <a:ln/>
        </p:spPr>
        <p:txBody>
          <a:bodyPr wrap="square" rtlCol="0" anchor="ctr"/>
          <a:lstStyle/>
          <a:p>
            <a:pPr indent="0" marL="0">
              <a:buNone/>
            </a:pPr>
            <a:r>
              <a:rPr lang="en-US" sz="2200" dirty="0">
                <a:solidFill>
                  <a:srgbClr val="1E3A7B"/>
                </a:solidFill>
                <a:latin typeface="Georgia" pitchFamily="34" charset="0"/>
                <a:ea typeface="Georgia" pitchFamily="34" charset="-122"/>
                <a:cs typeface="Georgia" pitchFamily="34" charset="-120"/>
              </a:rPr>
              <a:t>79,8%</a:t>
            </a:r>
            <a:endParaRPr lang="en-US" sz="2200" dirty="0"/>
          </a:p>
        </p:txBody>
      </p:sp>
      <p:sp>
        <p:nvSpPr>
          <p:cNvPr id="12" name="Text 8"/>
          <p:cNvSpPr/>
          <p:nvPr/>
        </p:nvSpPr>
        <p:spPr>
          <a:xfrm>
            <a:off x="8915400" y="3364992"/>
            <a:ext cx="2514600" cy="640080"/>
          </a:xfrm>
          <a:prstGeom prst="rect">
            <a:avLst/>
          </a:prstGeom>
          <a:noFill/>
          <a:ln/>
        </p:spPr>
        <p:txBody>
          <a:bodyPr wrap="square" rtlCol="0" anchor="ctr"/>
          <a:lstStyle/>
          <a:p>
            <a:pPr indent="0" marL="0">
              <a:lnSpc>
                <a:spcPct val="105000"/>
              </a:lnSpc>
              <a:buNone/>
            </a:pPr>
            <a:r>
              <a:rPr lang="en-US" sz="1000" dirty="0">
                <a:solidFill>
                  <a:srgbClr val="4C5563"/>
                </a:solidFill>
                <a:latin typeface="Arial" pitchFamily="34" charset="0"/>
                <a:ea typeface="Arial" pitchFamily="34" charset="-122"/>
                <a:cs typeface="Arial" pitchFamily="34" charset="-120"/>
              </a:rPr>
              <a:t>OTD — miglior valore tra i grandi nodi</a:t>
            </a:r>
            <a:endParaRPr lang="en-US" sz="1000" dirty="0"/>
          </a:p>
        </p:txBody>
      </p:sp>
      <p:sp>
        <p:nvSpPr>
          <p:cNvPr id="13" name="Shape 9"/>
          <p:cNvSpPr/>
          <p:nvPr/>
        </p:nvSpPr>
        <p:spPr>
          <a:xfrm>
            <a:off x="7498080" y="4005072"/>
            <a:ext cx="3840480" cy="0"/>
          </a:xfrm>
          <a:prstGeom prst="line">
            <a:avLst/>
          </a:prstGeom>
          <a:noFill/>
          <a:ln w="12700">
            <a:solidFill>
              <a:srgbClr val="E4E1D9"/>
            </a:solidFill>
            <a:prstDash val="solid"/>
          </a:ln>
        </p:spPr>
      </p:sp>
      <p:sp>
        <p:nvSpPr>
          <p:cNvPr id="14" name="Text 10"/>
          <p:cNvSpPr/>
          <p:nvPr/>
        </p:nvSpPr>
        <p:spPr>
          <a:xfrm>
            <a:off x="7498080" y="4078224"/>
            <a:ext cx="1371600" cy="548640"/>
          </a:xfrm>
          <a:prstGeom prst="rect">
            <a:avLst/>
          </a:prstGeom>
          <a:noFill/>
          <a:ln/>
        </p:spPr>
        <p:txBody>
          <a:bodyPr wrap="square" rtlCol="0" anchor="ctr"/>
          <a:lstStyle/>
          <a:p>
            <a:pPr indent="0" marL="0">
              <a:buNone/>
            </a:pPr>
            <a:r>
              <a:rPr lang="en-US" sz="2200" dirty="0">
                <a:solidFill>
                  <a:srgbClr val="1E3A7B"/>
                </a:solidFill>
                <a:latin typeface="Georgia" pitchFamily="34" charset="0"/>
                <a:ea typeface="Georgia" pitchFamily="34" charset="-122"/>
                <a:cs typeface="Georgia" pitchFamily="34" charset="-120"/>
              </a:rPr>
              <a:t>3,08 gg</a:t>
            </a:r>
            <a:endParaRPr lang="en-US" sz="2200" dirty="0"/>
          </a:p>
        </p:txBody>
      </p:sp>
      <p:sp>
        <p:nvSpPr>
          <p:cNvPr id="15" name="Text 11"/>
          <p:cNvSpPr/>
          <p:nvPr/>
        </p:nvSpPr>
        <p:spPr>
          <a:xfrm>
            <a:off x="8915400" y="4078224"/>
            <a:ext cx="2514600" cy="640080"/>
          </a:xfrm>
          <a:prstGeom prst="rect">
            <a:avLst/>
          </a:prstGeom>
          <a:noFill/>
          <a:ln/>
        </p:spPr>
        <p:txBody>
          <a:bodyPr wrap="square" rtlCol="0" anchor="ctr"/>
          <a:lstStyle/>
          <a:p>
            <a:pPr indent="0" marL="0">
              <a:lnSpc>
                <a:spcPct val="105000"/>
              </a:lnSpc>
              <a:buNone/>
            </a:pPr>
            <a:r>
              <a:rPr lang="en-US" sz="1000" dirty="0">
                <a:solidFill>
                  <a:srgbClr val="4C5563"/>
                </a:solidFill>
                <a:latin typeface="Arial" pitchFamily="34" charset="0"/>
                <a:ea typeface="Arial" pitchFamily="34" charset="-122"/>
                <a:cs typeface="Arial" pitchFamily="34" charset="-120"/>
              </a:rPr>
              <a:t>transit time reale, riducibile con presidio diretto</a:t>
            </a:r>
            <a:endParaRPr lang="en-US" sz="1000" dirty="0"/>
          </a:p>
        </p:txBody>
      </p:sp>
      <p:sp>
        <p:nvSpPr>
          <p:cNvPr id="16" name="Shape 12"/>
          <p:cNvSpPr/>
          <p:nvPr/>
        </p:nvSpPr>
        <p:spPr>
          <a:xfrm>
            <a:off x="7498080" y="4718304"/>
            <a:ext cx="3840480" cy="0"/>
          </a:xfrm>
          <a:prstGeom prst="line">
            <a:avLst/>
          </a:prstGeom>
          <a:noFill/>
          <a:ln w="12700">
            <a:solidFill>
              <a:srgbClr val="E4E1D9"/>
            </a:solidFill>
            <a:prstDash val="solid"/>
          </a:ln>
        </p:spPr>
      </p:sp>
      <p:sp>
        <p:nvSpPr>
          <p:cNvPr id="17" name="Text 13"/>
          <p:cNvSpPr/>
          <p:nvPr/>
        </p:nvSpPr>
        <p:spPr>
          <a:xfrm>
            <a:off x="7498080" y="4791456"/>
            <a:ext cx="1371600" cy="548640"/>
          </a:xfrm>
          <a:prstGeom prst="rect">
            <a:avLst/>
          </a:prstGeom>
          <a:noFill/>
          <a:ln/>
        </p:spPr>
        <p:txBody>
          <a:bodyPr wrap="square" rtlCol="0" anchor="ctr"/>
          <a:lstStyle/>
          <a:p>
            <a:pPr indent="0" marL="0">
              <a:buNone/>
            </a:pPr>
            <a:r>
              <a:rPr lang="en-US" sz="2200" dirty="0">
                <a:solidFill>
                  <a:srgbClr val="1E3A7B"/>
                </a:solidFill>
                <a:latin typeface="Georgia" pitchFamily="34" charset="0"/>
                <a:ea typeface="Georgia" pitchFamily="34" charset="-122"/>
                <a:cs typeface="Georgia" pitchFamily="34" charset="-120"/>
              </a:rPr>
              <a:t>28,3%</a:t>
            </a:r>
            <a:endParaRPr lang="en-US" sz="2200" dirty="0"/>
          </a:p>
        </p:txBody>
      </p:sp>
      <p:sp>
        <p:nvSpPr>
          <p:cNvPr id="18" name="Text 14"/>
          <p:cNvSpPr/>
          <p:nvPr/>
        </p:nvSpPr>
        <p:spPr>
          <a:xfrm>
            <a:off x="8915400" y="4791456"/>
            <a:ext cx="2514600" cy="640080"/>
          </a:xfrm>
          <a:prstGeom prst="rect">
            <a:avLst/>
          </a:prstGeom>
          <a:noFill/>
          <a:ln/>
        </p:spPr>
        <p:txBody>
          <a:bodyPr wrap="square" rtlCol="0" anchor="ctr"/>
          <a:lstStyle/>
          <a:p>
            <a:pPr indent="0" marL="0">
              <a:lnSpc>
                <a:spcPct val="105000"/>
              </a:lnSpc>
              <a:buNone/>
            </a:pPr>
            <a:r>
              <a:rPr lang="en-US" sz="1000" dirty="0">
                <a:solidFill>
                  <a:srgbClr val="4C5563"/>
                </a:solidFill>
                <a:latin typeface="Arial" pitchFamily="34" charset="0"/>
                <a:ea typeface="Arial" pitchFamily="34" charset="-122"/>
                <a:cs typeface="Arial" pitchFamily="34" charset="-120"/>
              </a:rPr>
              <a:t>spedizioni assicurate (2,2× la media di rete)</a:t>
            </a:r>
            <a:endParaRPr lang="en-US" sz="1000" dirty="0"/>
          </a:p>
        </p:txBody>
      </p:sp>
      <p:sp>
        <p:nvSpPr>
          <p:cNvPr id="19" name="Shape 15"/>
          <p:cNvSpPr/>
          <p:nvPr/>
        </p:nvSpPr>
        <p:spPr>
          <a:xfrm>
            <a:off x="640080" y="5870448"/>
            <a:ext cx="10911535" cy="438912"/>
          </a:xfrm>
          <a:prstGeom prst="roundRect">
            <a:avLst>
              <a:gd name="adj" fmla="val 10417"/>
            </a:avLst>
          </a:prstGeom>
          <a:solidFill>
            <a:srgbClr val="DEE8F3"/>
          </a:solidFill>
          <a:ln/>
        </p:spPr>
      </p:sp>
      <p:sp>
        <p:nvSpPr>
          <p:cNvPr id="20" name="Shape 16"/>
          <p:cNvSpPr/>
          <p:nvPr/>
        </p:nvSpPr>
        <p:spPr>
          <a:xfrm>
            <a:off x="640080" y="5870448"/>
            <a:ext cx="64008" cy="438912"/>
          </a:xfrm>
          <a:prstGeom prst="rect">
            <a:avLst/>
          </a:prstGeom>
          <a:solidFill>
            <a:srgbClr val="1E7DC2"/>
          </a:solidFill>
          <a:ln/>
        </p:spPr>
      </p:sp>
      <p:sp>
        <p:nvSpPr>
          <p:cNvPr id="21" name="Text 17"/>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Bologna parte da una base di servizio già alta: il presidio diretto la porterà oltre il 90% di OTD.</a:t>
            </a:r>
            <a:endParaRPr lang="en-US" sz="850" dirty="0"/>
          </a:p>
        </p:txBody>
      </p:sp>
      <p:sp>
        <p:nvSpPr>
          <p:cNvPr id="22" name="Shape 18"/>
          <p:cNvSpPr/>
          <p:nvPr/>
        </p:nvSpPr>
        <p:spPr>
          <a:xfrm>
            <a:off x="640080" y="6437376"/>
            <a:ext cx="10911535" cy="0"/>
          </a:xfrm>
          <a:prstGeom prst="line">
            <a:avLst/>
          </a:prstGeom>
          <a:noFill/>
          <a:ln w="12700">
            <a:solidFill>
              <a:srgbClr val="E4E1D9"/>
            </a:solidFill>
            <a:prstDash val="solid"/>
          </a:ln>
        </p:spPr>
      </p:sp>
      <p:sp>
        <p:nvSpPr>
          <p:cNvPr id="23" name="Text 19"/>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4" name="Text 20"/>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12 / 22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07 · IL DATO CHE DECIDE</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Escludendo la Lombardia, non esiste una seconda opzione</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72768"/>
            <a:ext cx="5943600" cy="4023360"/>
          </a:xfrm>
          <a:prstGeom prst="roundRect">
            <a:avLst>
              <a:gd name="adj" fmla="val 1818"/>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classifica.png">    </p:cNvPr>
          <p:cNvPicPr>
            <a:picLocks noChangeAspect="1"/>
          </p:cNvPicPr>
          <p:nvPr/>
        </p:nvPicPr>
        <p:blipFill>
          <a:blip r:embed="rId2"/>
          <a:stretch>
            <a:fillRect/>
          </a:stretch>
        </p:blipFill>
        <p:spPr>
          <a:xfrm>
            <a:off x="804672" y="1741239"/>
            <a:ext cx="5614416" cy="3686419"/>
          </a:xfrm>
          <a:prstGeom prst="rect">
            <a:avLst/>
          </a:prstGeom>
        </p:spPr>
      </p:pic>
      <p:sp>
        <p:nvSpPr>
          <p:cNvPr id="8" name="Text 4"/>
          <p:cNvSpPr/>
          <p:nvPr/>
        </p:nvSpPr>
        <p:spPr>
          <a:xfrm>
            <a:off x="640080" y="5632704"/>
            <a:ext cx="594360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7.1 — Classifica nazionale in scala logaritmica delle principali città.</a:t>
            </a:r>
            <a:endParaRPr lang="en-US" sz="850" dirty="0"/>
          </a:p>
        </p:txBody>
      </p:sp>
      <p:sp>
        <p:nvSpPr>
          <p:cNvPr id="9" name="Text 5"/>
          <p:cNvSpPr/>
          <p:nvPr/>
        </p:nvSpPr>
        <p:spPr>
          <a:xfrm>
            <a:off x="6812280" y="1600200"/>
            <a:ext cx="4754880" cy="91440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Escludendo la Lombardia (già presidiata), il mercato residuo vale 18.283 ritiri/anno. Bologna ne concentra da sola il 41,1%: le nove città successive, sommate, arrivano al 44%.</a:t>
            </a:r>
            <a:endParaRPr lang="en-US" sz="1200" dirty="0"/>
          </a:p>
        </p:txBody>
      </p:sp>
      <p:sp>
        <p:nvSpPr>
          <p:cNvPr id="10" name="Shape 6"/>
          <p:cNvSpPr/>
          <p:nvPr/>
        </p:nvSpPr>
        <p:spPr>
          <a:xfrm>
            <a:off x="6812280" y="2697480"/>
            <a:ext cx="2286000" cy="1463040"/>
          </a:xfrm>
          <a:prstGeom prst="roundRect">
            <a:avLst>
              <a:gd name="adj" fmla="val 5000"/>
            </a:avLst>
          </a:prstGeom>
          <a:solidFill>
            <a:srgbClr val="1E3A7B"/>
          </a:solidFill>
          <a:ln w="12700">
            <a:solidFill>
              <a:srgbClr val="1E3A7B"/>
            </a:solidFill>
            <a:prstDash val="solid"/>
          </a:ln>
          <a:effectLst>
            <a:outerShdw sx="100000" sy="100000" kx="0" ky="0" algn="bl" rotWithShape="0" blurRad="88900" dist="25400" dir="5400000">
              <a:srgbClr val="D9D5CC">
                <a:alpha val="40000"/>
              </a:srgbClr>
            </a:outerShdw>
          </a:effectLst>
        </p:spPr>
      </p:sp>
      <p:sp>
        <p:nvSpPr>
          <p:cNvPr id="11" name="Text 7"/>
          <p:cNvSpPr/>
          <p:nvPr/>
        </p:nvSpPr>
        <p:spPr>
          <a:xfrm>
            <a:off x="6812280" y="2834640"/>
            <a:ext cx="2286000" cy="822960"/>
          </a:xfrm>
          <a:prstGeom prst="rect">
            <a:avLst/>
          </a:prstGeom>
          <a:noFill/>
          <a:ln/>
        </p:spPr>
        <p:txBody>
          <a:bodyPr wrap="square" rtlCol="0" anchor="ctr"/>
          <a:lstStyle/>
          <a:p>
            <a:pPr algn="ctr" indent="0" marL="0">
              <a:buNone/>
            </a:pPr>
            <a:r>
              <a:rPr lang="en-US" sz="4000" dirty="0">
                <a:solidFill>
                  <a:srgbClr val="FFFFFF"/>
                </a:solidFill>
                <a:latin typeface="Georgia" pitchFamily="34" charset="0"/>
                <a:ea typeface="Georgia" pitchFamily="34" charset="-122"/>
                <a:cs typeface="Georgia" pitchFamily="34" charset="-120"/>
              </a:rPr>
              <a:t>41,1%</a:t>
            </a:r>
            <a:endParaRPr lang="en-US" sz="4000" dirty="0"/>
          </a:p>
        </p:txBody>
      </p:sp>
      <p:sp>
        <p:nvSpPr>
          <p:cNvPr id="12" name="Text 8"/>
          <p:cNvSpPr/>
          <p:nvPr/>
        </p:nvSpPr>
        <p:spPr>
          <a:xfrm>
            <a:off x="6812280" y="3611880"/>
            <a:ext cx="2286000" cy="502920"/>
          </a:xfrm>
          <a:prstGeom prst="rect">
            <a:avLst/>
          </a:prstGeom>
          <a:noFill/>
          <a:ln/>
        </p:spPr>
        <p:txBody>
          <a:bodyPr wrap="square" rtlCol="0" anchor="ctr"/>
          <a:lstStyle/>
          <a:p>
            <a:pPr algn="ctr" indent="0" marL="0">
              <a:lnSpc>
                <a:spcPct val="95000"/>
              </a:lnSpc>
              <a:buNone/>
            </a:pPr>
            <a:r>
              <a:rPr lang="en-US" sz="950" dirty="0">
                <a:solidFill>
                  <a:srgbClr val="E7EEF7"/>
                </a:solidFill>
                <a:latin typeface="Arial" pitchFamily="34" charset="0"/>
                <a:ea typeface="Arial" pitchFamily="34" charset="-122"/>
                <a:cs typeface="Arial" pitchFamily="34" charset="-120"/>
              </a:rPr>
              <a:t>del mercato</a:t>
            </a:r>
            <a:endParaRPr lang="en-US" sz="950" dirty="0"/>
          </a:p>
          <a:p>
            <a:pPr algn="ctr" indent="0" marL="0">
              <a:lnSpc>
                <a:spcPct val="95000"/>
              </a:lnSpc>
              <a:buNone/>
            </a:pPr>
            <a:r>
              <a:rPr lang="en-US" sz="950" dirty="0">
                <a:solidFill>
                  <a:srgbClr val="E7EEF7"/>
                </a:solidFill>
                <a:latin typeface="Arial" pitchFamily="34" charset="0"/>
                <a:ea typeface="Arial" pitchFamily="34" charset="-122"/>
                <a:cs typeface="Arial" pitchFamily="34" charset="-120"/>
              </a:rPr>
              <a:t>extra-Lombardia</a:t>
            </a:r>
            <a:endParaRPr lang="en-US" sz="950" dirty="0"/>
          </a:p>
        </p:txBody>
      </p:sp>
      <p:sp>
        <p:nvSpPr>
          <p:cNvPr id="13" name="Shape 9"/>
          <p:cNvSpPr/>
          <p:nvPr/>
        </p:nvSpPr>
        <p:spPr>
          <a:xfrm>
            <a:off x="9253728" y="2697480"/>
            <a:ext cx="2286000" cy="1463040"/>
          </a:xfrm>
          <a:prstGeom prst="roundRect">
            <a:avLst>
              <a:gd name="adj" fmla="val 5000"/>
            </a:avLst>
          </a:prstGeom>
          <a:solidFill>
            <a:srgbClr val="F4E9CE"/>
          </a:solidFill>
          <a:ln w="12700">
            <a:solidFill>
              <a:srgbClr val="E7D6AE"/>
            </a:solidFill>
            <a:prstDash val="solid"/>
          </a:ln>
          <a:effectLst>
            <a:outerShdw sx="100000" sy="100000" kx="0" ky="0" algn="bl" rotWithShape="0" blurRad="88900" dist="25400" dir="5400000">
              <a:srgbClr val="D9D5CC">
                <a:alpha val="40000"/>
              </a:srgbClr>
            </a:outerShdw>
          </a:effectLst>
        </p:spPr>
      </p:sp>
      <p:sp>
        <p:nvSpPr>
          <p:cNvPr id="14" name="Text 10"/>
          <p:cNvSpPr/>
          <p:nvPr/>
        </p:nvSpPr>
        <p:spPr>
          <a:xfrm>
            <a:off x="9253728" y="2834640"/>
            <a:ext cx="2286000" cy="822960"/>
          </a:xfrm>
          <a:prstGeom prst="rect">
            <a:avLst/>
          </a:prstGeom>
          <a:noFill/>
          <a:ln/>
        </p:spPr>
        <p:txBody>
          <a:bodyPr wrap="square" rtlCol="0" anchor="ctr"/>
          <a:lstStyle/>
          <a:p>
            <a:pPr algn="ctr" indent="0" marL="0">
              <a:buNone/>
            </a:pPr>
            <a:r>
              <a:rPr lang="en-US" sz="4000" dirty="0">
                <a:solidFill>
                  <a:srgbClr val="D8901A"/>
                </a:solidFill>
                <a:latin typeface="Georgia" pitchFamily="34" charset="0"/>
                <a:ea typeface="Georgia" pitchFamily="34" charset="-122"/>
                <a:cs typeface="Georgia" pitchFamily="34" charset="-120"/>
              </a:rPr>
              <a:t>2,6×</a:t>
            </a:r>
            <a:endParaRPr lang="en-US" sz="4000" dirty="0"/>
          </a:p>
        </p:txBody>
      </p:sp>
      <p:sp>
        <p:nvSpPr>
          <p:cNvPr id="15" name="Text 11"/>
          <p:cNvSpPr/>
          <p:nvPr/>
        </p:nvSpPr>
        <p:spPr>
          <a:xfrm>
            <a:off x="9253728" y="3611880"/>
            <a:ext cx="2286000" cy="502920"/>
          </a:xfrm>
          <a:prstGeom prst="rect">
            <a:avLst/>
          </a:prstGeom>
          <a:noFill/>
          <a:ln/>
        </p:spPr>
        <p:txBody>
          <a:bodyPr wrap="square" rtlCol="0" anchor="ctr"/>
          <a:lstStyle/>
          <a:p>
            <a:pPr algn="ctr" indent="0" marL="0">
              <a:lnSpc>
                <a:spcPct val="95000"/>
              </a:lnSpc>
              <a:buNone/>
            </a:pPr>
            <a:r>
              <a:rPr lang="en-US" sz="950" dirty="0">
                <a:solidFill>
                  <a:srgbClr val="7A6220"/>
                </a:solidFill>
                <a:latin typeface="Arial" pitchFamily="34" charset="0"/>
                <a:ea typeface="Arial" pitchFamily="34" charset="-122"/>
                <a:cs typeface="Arial" pitchFamily="34" charset="-120"/>
              </a:rPr>
              <a:t>distacco sulla</a:t>
            </a:r>
            <a:endParaRPr lang="en-US" sz="950" dirty="0"/>
          </a:p>
          <a:p>
            <a:pPr algn="ctr" indent="0" marL="0">
              <a:lnSpc>
                <a:spcPct val="95000"/>
              </a:lnSpc>
              <a:buNone/>
            </a:pPr>
            <a:r>
              <a:rPr lang="en-US" sz="950" dirty="0">
                <a:solidFill>
                  <a:srgbClr val="7A6220"/>
                </a:solidFill>
                <a:latin typeface="Arial" pitchFamily="34" charset="0"/>
                <a:ea typeface="Arial" pitchFamily="34" charset="-122"/>
                <a:cs typeface="Arial" pitchFamily="34" charset="-120"/>
              </a:rPr>
              <a:t>prima alternativa</a:t>
            </a:r>
            <a:endParaRPr lang="en-US" sz="950" dirty="0"/>
          </a:p>
        </p:txBody>
      </p:sp>
      <p:sp>
        <p:nvSpPr>
          <p:cNvPr id="16" name="Text 12"/>
          <p:cNvSpPr/>
          <p:nvPr/>
        </p:nvSpPr>
        <p:spPr>
          <a:xfrm>
            <a:off x="6812280" y="4343400"/>
            <a:ext cx="4754880" cy="1188720"/>
          </a:xfrm>
          <a:prstGeom prst="rect">
            <a:avLst/>
          </a:prstGeom>
          <a:noFill/>
          <a:ln/>
        </p:spPr>
        <p:txBody>
          <a:bodyPr wrap="square" rtlCol="0" anchor="t"/>
          <a:lstStyle/>
          <a:p>
            <a:pPr algn="l" indent="0" marL="0">
              <a:lnSpc>
                <a:spcPct val="130000"/>
              </a:lnSpc>
              <a:buNone/>
            </a:pPr>
            <a:r>
              <a:rPr lang="en-US" sz="1150" dirty="0">
                <a:solidFill>
                  <a:srgbClr val="4C5563"/>
                </a:solidFill>
                <a:latin typeface="Arial" pitchFamily="34" charset="0"/>
                <a:ea typeface="Arial" pitchFamily="34" charset="-122"/>
                <a:cs typeface="Arial" pitchFamily="34" charset="-120"/>
              </a:rPr>
              <a:t>Il distacco tra Bologna e la prima alternativa (Roma) è di 4.659 ritiri/anno, pari a 19 ritiri/giorno: nei dati non esiste una seconda scelta comparabile.</a:t>
            </a:r>
            <a:endParaRPr lang="en-US" sz="1150" dirty="0"/>
          </a:p>
        </p:txBody>
      </p:sp>
      <p:sp>
        <p:nvSpPr>
          <p:cNvPr id="17" name="Shape 13"/>
          <p:cNvSpPr/>
          <p:nvPr/>
        </p:nvSpPr>
        <p:spPr>
          <a:xfrm>
            <a:off x="640080" y="6437376"/>
            <a:ext cx="10911535" cy="0"/>
          </a:xfrm>
          <a:prstGeom prst="line">
            <a:avLst/>
          </a:prstGeom>
          <a:noFill/>
          <a:ln w="12700">
            <a:solidFill>
              <a:srgbClr val="E4E1D9"/>
            </a:solidFill>
            <a:prstDash val="solid"/>
          </a:ln>
        </p:spPr>
      </p:sp>
      <p:sp>
        <p:nvSpPr>
          <p:cNvPr id="18" name="Text 14"/>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19" name="Text 15"/>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13 / 22</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08 · STUDIO DI FATTIBILITÀ</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Un metodo in tre fasi, dalla domanda alla verifica economica</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Text 3"/>
          <p:cNvSpPr/>
          <p:nvPr/>
        </p:nvSpPr>
        <p:spPr>
          <a:xfrm>
            <a:off x="640080" y="1554480"/>
            <a:ext cx="10881360" cy="50292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La selezione è stata condotta in tre fasi sequenziali. Il vincolo posto dall'azienda — l'esclusione della Lombardia — non è arbitrario, ma economicamente fondato: il nodo di Milano lavora già al costo più basso della rete.</a:t>
            </a:r>
            <a:endParaRPr lang="en-US" sz="1200" dirty="0"/>
          </a:p>
        </p:txBody>
      </p:sp>
      <p:sp>
        <p:nvSpPr>
          <p:cNvPr id="7" name="Shape 4"/>
          <p:cNvSpPr/>
          <p:nvPr/>
        </p:nvSpPr>
        <p:spPr>
          <a:xfrm>
            <a:off x="640080" y="2240280"/>
            <a:ext cx="3456432" cy="3017520"/>
          </a:xfrm>
          <a:prstGeom prst="roundRect">
            <a:avLst>
              <a:gd name="adj" fmla="val 2424"/>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8" name="Shape 5"/>
          <p:cNvSpPr/>
          <p:nvPr/>
        </p:nvSpPr>
        <p:spPr>
          <a:xfrm>
            <a:off x="932688" y="2514600"/>
            <a:ext cx="585216" cy="585216"/>
          </a:xfrm>
          <a:prstGeom prst="oval">
            <a:avLst/>
          </a:prstGeom>
          <a:solidFill>
            <a:srgbClr val="1E3A7B"/>
          </a:solidFill>
          <a:ln/>
        </p:spPr>
      </p:sp>
      <p:sp>
        <p:nvSpPr>
          <p:cNvPr id="9" name="Text 6"/>
          <p:cNvSpPr/>
          <p:nvPr/>
        </p:nvSpPr>
        <p:spPr>
          <a:xfrm>
            <a:off x="932688" y="2514600"/>
            <a:ext cx="585216" cy="585216"/>
          </a:xfrm>
          <a:prstGeom prst="rect">
            <a:avLst/>
          </a:prstGeom>
          <a:noFill/>
          <a:ln/>
        </p:spPr>
        <p:txBody>
          <a:bodyPr wrap="square" rtlCol="0" anchor="ctr"/>
          <a:lstStyle/>
          <a:p>
            <a:pPr algn="ctr" indent="0" marL="0">
              <a:buNone/>
            </a:pPr>
            <a:r>
              <a:rPr lang="en-US" sz="1900" dirty="0">
                <a:solidFill>
                  <a:srgbClr val="FFFFFF"/>
                </a:solidFill>
                <a:latin typeface="Georgia" pitchFamily="34" charset="0"/>
                <a:ea typeface="Georgia" pitchFamily="34" charset="-122"/>
                <a:cs typeface="Georgia" pitchFamily="34" charset="-120"/>
              </a:rPr>
              <a:t>01</a:t>
            </a:r>
            <a:endParaRPr lang="en-US" sz="1900" dirty="0"/>
          </a:p>
        </p:txBody>
      </p:sp>
      <p:sp>
        <p:nvSpPr>
          <p:cNvPr id="10" name="Text 7"/>
          <p:cNvSpPr/>
          <p:nvPr/>
        </p:nvSpPr>
        <p:spPr>
          <a:xfrm>
            <a:off x="932688" y="3246120"/>
            <a:ext cx="2871216" cy="640080"/>
          </a:xfrm>
          <a:prstGeom prst="rect">
            <a:avLst/>
          </a:prstGeom>
          <a:noFill/>
          <a:ln/>
        </p:spPr>
        <p:txBody>
          <a:bodyPr wrap="square" rtlCol="0" anchor="ctr"/>
          <a:lstStyle/>
          <a:p>
            <a:pPr indent="0" marL="0">
              <a:lnSpc>
                <a:spcPct val="102000"/>
              </a:lnSpc>
              <a:buNone/>
            </a:pPr>
            <a:r>
              <a:rPr lang="en-US" sz="1600" dirty="0">
                <a:solidFill>
                  <a:srgbClr val="16255C"/>
                </a:solidFill>
                <a:latin typeface="Georgia" pitchFamily="34" charset="0"/>
                <a:ea typeface="Georgia" pitchFamily="34" charset="-122"/>
                <a:cs typeface="Georgia" pitchFamily="34" charset="-120"/>
              </a:rPr>
              <a:t>Screening per massa critica</a:t>
            </a:r>
            <a:endParaRPr lang="en-US" sz="1600" dirty="0"/>
          </a:p>
        </p:txBody>
      </p:sp>
      <p:sp>
        <p:nvSpPr>
          <p:cNvPr id="11" name="Text 8"/>
          <p:cNvSpPr/>
          <p:nvPr/>
        </p:nvSpPr>
        <p:spPr>
          <a:xfrm>
            <a:off x="932688" y="3867912"/>
            <a:ext cx="2889504" cy="914400"/>
          </a:xfrm>
          <a:prstGeom prst="rect">
            <a:avLst/>
          </a:prstGeom>
          <a:noFill/>
          <a:ln/>
        </p:spPr>
        <p:txBody>
          <a:bodyPr wrap="square" rtlCol="0" anchor="t"/>
          <a:lstStyle/>
          <a:p>
            <a:pPr algn="l" indent="0" marL="0">
              <a:lnSpc>
                <a:spcPct val="122000"/>
              </a:lnSpc>
              <a:buNone/>
            </a:pPr>
            <a:r>
              <a:rPr lang="en-US" sz="1050" dirty="0">
                <a:solidFill>
                  <a:srgbClr val="4C5563"/>
                </a:solidFill>
                <a:latin typeface="Arial" pitchFamily="34" charset="0"/>
                <a:ea typeface="Arial" pitchFamily="34" charset="-122"/>
                <a:cs typeface="Arial" pitchFamily="34" charset="-120"/>
              </a:rPr>
              <a:t>Soglia minima ~12.000 ritiri/anno, raggiungibile solo oltre 25-30 ritiri/giorno nel bacino di 50 km.</a:t>
            </a:r>
            <a:endParaRPr lang="en-US" sz="1050" dirty="0"/>
          </a:p>
        </p:txBody>
      </p:sp>
      <p:sp>
        <p:nvSpPr>
          <p:cNvPr id="12" name="Shape 9"/>
          <p:cNvSpPr/>
          <p:nvPr/>
        </p:nvSpPr>
        <p:spPr>
          <a:xfrm>
            <a:off x="932688" y="4782312"/>
            <a:ext cx="2871216" cy="0"/>
          </a:xfrm>
          <a:prstGeom prst="line">
            <a:avLst/>
          </a:prstGeom>
          <a:noFill/>
          <a:ln w="12700">
            <a:solidFill>
              <a:srgbClr val="E4E1D9"/>
            </a:solidFill>
            <a:prstDash val="solid"/>
          </a:ln>
        </p:spPr>
      </p:sp>
      <p:sp>
        <p:nvSpPr>
          <p:cNvPr id="13" name="Text 10"/>
          <p:cNvSpPr/>
          <p:nvPr/>
        </p:nvSpPr>
        <p:spPr>
          <a:xfrm>
            <a:off x="932688" y="4837176"/>
            <a:ext cx="2889504" cy="384048"/>
          </a:xfrm>
          <a:prstGeom prst="rect">
            <a:avLst/>
          </a:prstGeom>
          <a:noFill/>
          <a:ln/>
        </p:spPr>
        <p:txBody>
          <a:bodyPr wrap="square" rtlCol="0" anchor="ctr"/>
          <a:lstStyle/>
          <a:p>
            <a:pPr indent="0" marL="0">
              <a:lnSpc>
                <a:spcPct val="95000"/>
              </a:lnSpc>
              <a:buNone/>
            </a:pPr>
            <a:r>
              <a:rPr lang="en-US" sz="950" b="1" dirty="0">
                <a:solidFill>
                  <a:srgbClr val="D8901A"/>
                </a:solidFill>
                <a:latin typeface="Arial" pitchFamily="34" charset="0"/>
                <a:ea typeface="Arial" pitchFamily="34" charset="-122"/>
                <a:cs typeface="Arial" pitchFamily="34" charset="-120"/>
              </a:rPr>
              <a:t>→ </a:t>
            </a:r>
            <a:pPr indent="0" marL="0">
              <a:lnSpc>
                <a:spcPct val="95000"/>
              </a:lnSpc>
              <a:buNone/>
            </a:pPr>
            <a:r>
              <a:rPr lang="en-US" sz="950" b="1" dirty="0">
                <a:solidFill>
                  <a:srgbClr val="1E3A7B"/>
                </a:solidFill>
                <a:latin typeface="Arial" pitchFamily="34" charset="0"/>
                <a:ea typeface="Arial" pitchFamily="34" charset="-122"/>
                <a:cs typeface="Arial" pitchFamily="34" charset="-120"/>
              </a:rPr>
              <a:t>Bologna è l'unica candidata extra-lombarda a superarla.</a:t>
            </a:r>
            <a:endParaRPr lang="en-US" sz="950" dirty="0"/>
          </a:p>
        </p:txBody>
      </p:sp>
      <p:sp>
        <p:nvSpPr>
          <p:cNvPr id="14" name="Text 11"/>
          <p:cNvSpPr/>
          <p:nvPr/>
        </p:nvSpPr>
        <p:spPr>
          <a:xfrm>
            <a:off x="4078224" y="3474720"/>
            <a:ext cx="274320" cy="548640"/>
          </a:xfrm>
          <a:prstGeom prst="rect">
            <a:avLst/>
          </a:prstGeom>
          <a:noFill/>
          <a:ln/>
        </p:spPr>
        <p:txBody>
          <a:bodyPr wrap="square" rtlCol="0" anchor="ctr"/>
          <a:lstStyle/>
          <a:p>
            <a:pPr algn="ctr" indent="0" marL="0">
              <a:buNone/>
            </a:pPr>
            <a:r>
              <a:rPr lang="en-US" sz="2600" b="1" dirty="0">
                <a:solidFill>
                  <a:srgbClr val="D8901A"/>
                </a:solidFill>
                <a:latin typeface="Arial" pitchFamily="34" charset="0"/>
                <a:ea typeface="Arial" pitchFamily="34" charset="-122"/>
                <a:cs typeface="Arial" pitchFamily="34" charset="-120"/>
              </a:rPr>
              <a:t>›</a:t>
            </a:r>
            <a:endParaRPr lang="en-US" sz="2600" dirty="0"/>
          </a:p>
        </p:txBody>
      </p:sp>
      <p:sp>
        <p:nvSpPr>
          <p:cNvPr id="15" name="Shape 12"/>
          <p:cNvSpPr/>
          <p:nvPr/>
        </p:nvSpPr>
        <p:spPr>
          <a:xfrm>
            <a:off x="4352544" y="2240280"/>
            <a:ext cx="3456432" cy="3017520"/>
          </a:xfrm>
          <a:prstGeom prst="roundRect">
            <a:avLst>
              <a:gd name="adj" fmla="val 2424"/>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6" name="Shape 13"/>
          <p:cNvSpPr/>
          <p:nvPr/>
        </p:nvSpPr>
        <p:spPr>
          <a:xfrm>
            <a:off x="4645152" y="2514600"/>
            <a:ext cx="585216" cy="585216"/>
          </a:xfrm>
          <a:prstGeom prst="oval">
            <a:avLst/>
          </a:prstGeom>
          <a:solidFill>
            <a:srgbClr val="1E3A7B"/>
          </a:solidFill>
          <a:ln/>
        </p:spPr>
      </p:sp>
      <p:sp>
        <p:nvSpPr>
          <p:cNvPr id="17" name="Text 14"/>
          <p:cNvSpPr/>
          <p:nvPr/>
        </p:nvSpPr>
        <p:spPr>
          <a:xfrm>
            <a:off x="4645152" y="2514600"/>
            <a:ext cx="585216" cy="585216"/>
          </a:xfrm>
          <a:prstGeom prst="rect">
            <a:avLst/>
          </a:prstGeom>
          <a:noFill/>
          <a:ln/>
        </p:spPr>
        <p:txBody>
          <a:bodyPr wrap="square" rtlCol="0" anchor="ctr"/>
          <a:lstStyle/>
          <a:p>
            <a:pPr algn="ctr" indent="0" marL="0">
              <a:buNone/>
            </a:pPr>
            <a:r>
              <a:rPr lang="en-US" sz="1900" dirty="0">
                <a:solidFill>
                  <a:srgbClr val="FFFFFF"/>
                </a:solidFill>
                <a:latin typeface="Georgia" pitchFamily="34" charset="0"/>
                <a:ea typeface="Georgia" pitchFamily="34" charset="-122"/>
                <a:cs typeface="Georgia" pitchFamily="34" charset="-120"/>
              </a:rPr>
              <a:t>02</a:t>
            </a:r>
            <a:endParaRPr lang="en-US" sz="1900" dirty="0"/>
          </a:p>
        </p:txBody>
      </p:sp>
      <p:sp>
        <p:nvSpPr>
          <p:cNvPr id="18" name="Text 15"/>
          <p:cNvSpPr/>
          <p:nvPr/>
        </p:nvSpPr>
        <p:spPr>
          <a:xfrm>
            <a:off x="4645152" y="3246120"/>
            <a:ext cx="2871216" cy="640080"/>
          </a:xfrm>
          <a:prstGeom prst="rect">
            <a:avLst/>
          </a:prstGeom>
          <a:noFill/>
          <a:ln/>
        </p:spPr>
        <p:txBody>
          <a:bodyPr wrap="square" rtlCol="0" anchor="ctr"/>
          <a:lstStyle/>
          <a:p>
            <a:pPr indent="0" marL="0">
              <a:lnSpc>
                <a:spcPct val="102000"/>
              </a:lnSpc>
              <a:buNone/>
            </a:pPr>
            <a:r>
              <a:rPr lang="en-US" sz="1600" dirty="0">
                <a:solidFill>
                  <a:srgbClr val="16255C"/>
                </a:solidFill>
                <a:latin typeface="Georgia" pitchFamily="34" charset="0"/>
                <a:ea typeface="Georgia" pitchFamily="34" charset="-122"/>
                <a:cs typeface="Georgia" pitchFamily="34" charset="-120"/>
              </a:rPr>
              <a:t>Valutazione multicriterio</a:t>
            </a:r>
            <a:endParaRPr lang="en-US" sz="1600" dirty="0"/>
          </a:p>
        </p:txBody>
      </p:sp>
      <p:sp>
        <p:nvSpPr>
          <p:cNvPr id="19" name="Text 16"/>
          <p:cNvSpPr/>
          <p:nvPr/>
        </p:nvSpPr>
        <p:spPr>
          <a:xfrm>
            <a:off x="4645152" y="3867912"/>
            <a:ext cx="2889504" cy="914400"/>
          </a:xfrm>
          <a:prstGeom prst="rect">
            <a:avLst/>
          </a:prstGeom>
          <a:noFill/>
          <a:ln/>
        </p:spPr>
        <p:txBody>
          <a:bodyPr wrap="square" rtlCol="0" anchor="t"/>
          <a:lstStyle/>
          <a:p>
            <a:pPr algn="l" indent="0" marL="0">
              <a:lnSpc>
                <a:spcPct val="122000"/>
              </a:lnSpc>
              <a:buNone/>
            </a:pPr>
            <a:r>
              <a:rPr lang="en-US" sz="1050" dirty="0">
                <a:solidFill>
                  <a:srgbClr val="4C5563"/>
                </a:solidFill>
                <a:latin typeface="Arial" pitchFamily="34" charset="0"/>
                <a:ea typeface="Arial" pitchFamily="34" charset="-122"/>
                <a:cs typeface="Arial" pitchFamily="34" charset="-120"/>
              </a:rPr>
              <a:t>Sei dimensioni pesate: volume, baricentricità, accessibilità, intermodalità, costo immobiliare, manodopera.</a:t>
            </a:r>
            <a:endParaRPr lang="en-US" sz="1050" dirty="0"/>
          </a:p>
        </p:txBody>
      </p:sp>
      <p:sp>
        <p:nvSpPr>
          <p:cNvPr id="20" name="Shape 17"/>
          <p:cNvSpPr/>
          <p:nvPr/>
        </p:nvSpPr>
        <p:spPr>
          <a:xfrm>
            <a:off x="4645152" y="4782312"/>
            <a:ext cx="2871216" cy="0"/>
          </a:xfrm>
          <a:prstGeom prst="line">
            <a:avLst/>
          </a:prstGeom>
          <a:noFill/>
          <a:ln w="12700">
            <a:solidFill>
              <a:srgbClr val="E4E1D9"/>
            </a:solidFill>
            <a:prstDash val="solid"/>
          </a:ln>
        </p:spPr>
      </p:sp>
      <p:sp>
        <p:nvSpPr>
          <p:cNvPr id="21" name="Text 18"/>
          <p:cNvSpPr/>
          <p:nvPr/>
        </p:nvSpPr>
        <p:spPr>
          <a:xfrm>
            <a:off x="4645152" y="4837176"/>
            <a:ext cx="2889504" cy="384048"/>
          </a:xfrm>
          <a:prstGeom prst="rect">
            <a:avLst/>
          </a:prstGeom>
          <a:noFill/>
          <a:ln/>
        </p:spPr>
        <p:txBody>
          <a:bodyPr wrap="square" rtlCol="0" anchor="ctr"/>
          <a:lstStyle/>
          <a:p>
            <a:pPr indent="0" marL="0">
              <a:lnSpc>
                <a:spcPct val="95000"/>
              </a:lnSpc>
              <a:buNone/>
            </a:pPr>
            <a:r>
              <a:rPr lang="en-US" sz="950" b="1" dirty="0">
                <a:solidFill>
                  <a:srgbClr val="D8901A"/>
                </a:solidFill>
                <a:latin typeface="Arial" pitchFamily="34" charset="0"/>
                <a:ea typeface="Arial" pitchFamily="34" charset="-122"/>
                <a:cs typeface="Arial" pitchFamily="34" charset="-120"/>
              </a:rPr>
              <a:t>→ </a:t>
            </a:r>
            <a:pPr indent="0" marL="0">
              <a:lnSpc>
                <a:spcPct val="95000"/>
              </a:lnSpc>
              <a:buNone/>
            </a:pPr>
            <a:r>
              <a:rPr lang="en-US" sz="950" b="1" dirty="0">
                <a:solidFill>
                  <a:srgbClr val="1E3A7B"/>
                </a:solidFill>
                <a:latin typeface="Arial" pitchFamily="34" charset="0"/>
                <a:ea typeface="Arial" pitchFamily="34" charset="-122"/>
                <a:cs typeface="Arial" pitchFamily="34" charset="-120"/>
              </a:rPr>
              <a:t>Bologna prevale su 4 criteri su 6.</a:t>
            </a:r>
            <a:endParaRPr lang="en-US" sz="950" dirty="0"/>
          </a:p>
        </p:txBody>
      </p:sp>
      <p:sp>
        <p:nvSpPr>
          <p:cNvPr id="22" name="Text 19"/>
          <p:cNvSpPr/>
          <p:nvPr/>
        </p:nvSpPr>
        <p:spPr>
          <a:xfrm>
            <a:off x="7790688" y="3474720"/>
            <a:ext cx="274320" cy="548640"/>
          </a:xfrm>
          <a:prstGeom prst="rect">
            <a:avLst/>
          </a:prstGeom>
          <a:noFill/>
          <a:ln/>
        </p:spPr>
        <p:txBody>
          <a:bodyPr wrap="square" rtlCol="0" anchor="ctr"/>
          <a:lstStyle/>
          <a:p>
            <a:pPr algn="ctr" indent="0" marL="0">
              <a:buNone/>
            </a:pPr>
            <a:r>
              <a:rPr lang="en-US" sz="2600" b="1" dirty="0">
                <a:solidFill>
                  <a:srgbClr val="D8901A"/>
                </a:solidFill>
                <a:latin typeface="Arial" pitchFamily="34" charset="0"/>
                <a:ea typeface="Arial" pitchFamily="34" charset="-122"/>
                <a:cs typeface="Arial" pitchFamily="34" charset="-120"/>
              </a:rPr>
              <a:t>›</a:t>
            </a:r>
            <a:endParaRPr lang="en-US" sz="2600" dirty="0"/>
          </a:p>
        </p:txBody>
      </p:sp>
      <p:sp>
        <p:nvSpPr>
          <p:cNvPr id="23" name="Shape 20"/>
          <p:cNvSpPr/>
          <p:nvPr/>
        </p:nvSpPr>
        <p:spPr>
          <a:xfrm>
            <a:off x="8065008" y="2240280"/>
            <a:ext cx="3456432" cy="3017520"/>
          </a:xfrm>
          <a:prstGeom prst="roundRect">
            <a:avLst>
              <a:gd name="adj" fmla="val 2424"/>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24" name="Shape 21"/>
          <p:cNvSpPr/>
          <p:nvPr/>
        </p:nvSpPr>
        <p:spPr>
          <a:xfrm>
            <a:off x="8357616" y="2514600"/>
            <a:ext cx="585216" cy="585216"/>
          </a:xfrm>
          <a:prstGeom prst="oval">
            <a:avLst/>
          </a:prstGeom>
          <a:solidFill>
            <a:srgbClr val="1E3A7B"/>
          </a:solidFill>
          <a:ln/>
        </p:spPr>
      </p:sp>
      <p:sp>
        <p:nvSpPr>
          <p:cNvPr id="25" name="Text 22"/>
          <p:cNvSpPr/>
          <p:nvPr/>
        </p:nvSpPr>
        <p:spPr>
          <a:xfrm>
            <a:off x="8357616" y="2514600"/>
            <a:ext cx="585216" cy="585216"/>
          </a:xfrm>
          <a:prstGeom prst="rect">
            <a:avLst/>
          </a:prstGeom>
          <a:noFill/>
          <a:ln/>
        </p:spPr>
        <p:txBody>
          <a:bodyPr wrap="square" rtlCol="0" anchor="ctr"/>
          <a:lstStyle/>
          <a:p>
            <a:pPr algn="ctr" indent="0" marL="0">
              <a:buNone/>
            </a:pPr>
            <a:r>
              <a:rPr lang="en-US" sz="1900" dirty="0">
                <a:solidFill>
                  <a:srgbClr val="FFFFFF"/>
                </a:solidFill>
                <a:latin typeface="Georgia" pitchFamily="34" charset="0"/>
                <a:ea typeface="Georgia" pitchFamily="34" charset="-122"/>
                <a:cs typeface="Georgia" pitchFamily="34" charset="-120"/>
              </a:rPr>
              <a:t>03</a:t>
            </a:r>
            <a:endParaRPr lang="en-US" sz="1900" dirty="0"/>
          </a:p>
        </p:txBody>
      </p:sp>
      <p:sp>
        <p:nvSpPr>
          <p:cNvPr id="26" name="Text 23"/>
          <p:cNvSpPr/>
          <p:nvPr/>
        </p:nvSpPr>
        <p:spPr>
          <a:xfrm>
            <a:off x="8357616" y="3246120"/>
            <a:ext cx="2871216" cy="640080"/>
          </a:xfrm>
          <a:prstGeom prst="rect">
            <a:avLst/>
          </a:prstGeom>
          <a:noFill/>
          <a:ln/>
        </p:spPr>
        <p:txBody>
          <a:bodyPr wrap="square" rtlCol="0" anchor="ctr"/>
          <a:lstStyle/>
          <a:p>
            <a:pPr indent="0" marL="0">
              <a:lnSpc>
                <a:spcPct val="102000"/>
              </a:lnSpc>
              <a:buNone/>
            </a:pPr>
            <a:r>
              <a:rPr lang="en-US" sz="1600" dirty="0">
                <a:solidFill>
                  <a:srgbClr val="16255C"/>
                </a:solidFill>
                <a:latin typeface="Georgia" pitchFamily="34" charset="0"/>
                <a:ea typeface="Georgia" pitchFamily="34" charset="-122"/>
                <a:cs typeface="Georgia" pitchFamily="34" charset="-120"/>
              </a:rPr>
              <a:t>Verifica economico-finanziaria</a:t>
            </a:r>
            <a:endParaRPr lang="en-US" sz="1600" dirty="0"/>
          </a:p>
        </p:txBody>
      </p:sp>
      <p:sp>
        <p:nvSpPr>
          <p:cNvPr id="27" name="Text 24"/>
          <p:cNvSpPr/>
          <p:nvPr/>
        </p:nvSpPr>
        <p:spPr>
          <a:xfrm>
            <a:off x="8357616" y="3867912"/>
            <a:ext cx="2889504" cy="914400"/>
          </a:xfrm>
          <a:prstGeom prst="rect">
            <a:avLst/>
          </a:prstGeom>
          <a:noFill/>
          <a:ln/>
        </p:spPr>
        <p:txBody>
          <a:bodyPr wrap="square" rtlCol="0" anchor="t"/>
          <a:lstStyle/>
          <a:p>
            <a:pPr algn="l" indent="0" marL="0">
              <a:lnSpc>
                <a:spcPct val="122000"/>
              </a:lnSpc>
              <a:buNone/>
            </a:pPr>
            <a:r>
              <a:rPr lang="en-US" sz="1050" dirty="0">
                <a:solidFill>
                  <a:srgbClr val="4C5563"/>
                </a:solidFill>
                <a:latin typeface="Arial" pitchFamily="34" charset="0"/>
                <a:ea typeface="Arial" pitchFamily="34" charset="-122"/>
                <a:cs typeface="Arial" pitchFamily="34" charset="-120"/>
              </a:rPr>
              <a:t>Modello di costi, driver di margine e scenari di ritorno sulla prima classificata.</a:t>
            </a:r>
            <a:endParaRPr lang="en-US" sz="1050" dirty="0"/>
          </a:p>
        </p:txBody>
      </p:sp>
      <p:sp>
        <p:nvSpPr>
          <p:cNvPr id="28" name="Shape 25"/>
          <p:cNvSpPr/>
          <p:nvPr/>
        </p:nvSpPr>
        <p:spPr>
          <a:xfrm>
            <a:off x="8357616" y="4782312"/>
            <a:ext cx="2871216" cy="0"/>
          </a:xfrm>
          <a:prstGeom prst="line">
            <a:avLst/>
          </a:prstGeom>
          <a:noFill/>
          <a:ln w="12700">
            <a:solidFill>
              <a:srgbClr val="E4E1D9"/>
            </a:solidFill>
            <a:prstDash val="solid"/>
          </a:ln>
        </p:spPr>
      </p:sp>
      <p:sp>
        <p:nvSpPr>
          <p:cNvPr id="29" name="Text 26"/>
          <p:cNvSpPr/>
          <p:nvPr/>
        </p:nvSpPr>
        <p:spPr>
          <a:xfrm>
            <a:off x="8357616" y="4837176"/>
            <a:ext cx="2889504" cy="384048"/>
          </a:xfrm>
          <a:prstGeom prst="rect">
            <a:avLst/>
          </a:prstGeom>
          <a:noFill/>
          <a:ln/>
        </p:spPr>
        <p:txBody>
          <a:bodyPr wrap="square" rtlCol="0" anchor="ctr"/>
          <a:lstStyle/>
          <a:p>
            <a:pPr indent="0" marL="0">
              <a:lnSpc>
                <a:spcPct val="95000"/>
              </a:lnSpc>
              <a:buNone/>
            </a:pPr>
            <a:r>
              <a:rPr lang="en-US" sz="950" b="1" dirty="0">
                <a:solidFill>
                  <a:srgbClr val="D8901A"/>
                </a:solidFill>
                <a:latin typeface="Arial" pitchFamily="34" charset="0"/>
                <a:ea typeface="Arial" pitchFamily="34" charset="-122"/>
                <a:cs typeface="Arial" pitchFamily="34" charset="-120"/>
              </a:rPr>
              <a:t>→ </a:t>
            </a:r>
            <a:pPr indent="0" marL="0">
              <a:lnSpc>
                <a:spcPct val="95000"/>
              </a:lnSpc>
              <a:buNone/>
            </a:pPr>
            <a:r>
              <a:rPr lang="en-US" sz="950" b="1" dirty="0">
                <a:solidFill>
                  <a:srgbClr val="1E3A7B"/>
                </a:solidFill>
                <a:latin typeface="Arial" pitchFamily="34" charset="0"/>
                <a:ea typeface="Arial" pitchFamily="34" charset="-122"/>
                <a:cs typeface="Arial" pitchFamily="34" charset="-120"/>
              </a:rPr>
              <a:t>Payback tra 1,0 e 3,9 anni secondo lo scenario.</a:t>
            </a:r>
            <a:endParaRPr lang="en-US" sz="950" dirty="0"/>
          </a:p>
        </p:txBody>
      </p:sp>
      <p:sp>
        <p:nvSpPr>
          <p:cNvPr id="30" name="Shape 27"/>
          <p:cNvSpPr/>
          <p:nvPr/>
        </p:nvSpPr>
        <p:spPr>
          <a:xfrm>
            <a:off x="640080" y="5870448"/>
            <a:ext cx="10911535" cy="438912"/>
          </a:xfrm>
          <a:prstGeom prst="roundRect">
            <a:avLst>
              <a:gd name="adj" fmla="val 10417"/>
            </a:avLst>
          </a:prstGeom>
          <a:solidFill>
            <a:srgbClr val="DEE8F3"/>
          </a:solidFill>
          <a:ln/>
        </p:spPr>
      </p:sp>
      <p:sp>
        <p:nvSpPr>
          <p:cNvPr id="31" name="Shape 28"/>
          <p:cNvSpPr/>
          <p:nvPr/>
        </p:nvSpPr>
        <p:spPr>
          <a:xfrm>
            <a:off x="640080" y="5870448"/>
            <a:ext cx="64008" cy="438912"/>
          </a:xfrm>
          <a:prstGeom prst="rect">
            <a:avLst/>
          </a:prstGeom>
          <a:solidFill>
            <a:srgbClr val="1E7DC2"/>
          </a:solidFill>
          <a:ln/>
        </p:spPr>
      </p:sp>
      <p:sp>
        <p:nvSpPr>
          <p:cNvPr id="32" name="Text 29"/>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Aprire in Lombardia duplicherebbe costi fissi su volumi già serviti: il valore incrementale nasce altrove.</a:t>
            </a:r>
            <a:endParaRPr lang="en-US" sz="850" dirty="0"/>
          </a:p>
        </p:txBody>
      </p:sp>
      <p:sp>
        <p:nvSpPr>
          <p:cNvPr id="33" name="Shape 30"/>
          <p:cNvSpPr/>
          <p:nvPr/>
        </p:nvSpPr>
        <p:spPr>
          <a:xfrm>
            <a:off x="640080" y="6437376"/>
            <a:ext cx="10911535" cy="0"/>
          </a:xfrm>
          <a:prstGeom prst="line">
            <a:avLst/>
          </a:prstGeom>
          <a:noFill/>
          <a:ln w="12700">
            <a:solidFill>
              <a:srgbClr val="E4E1D9"/>
            </a:solidFill>
            <a:prstDash val="solid"/>
          </a:ln>
        </p:spPr>
      </p:sp>
      <p:sp>
        <p:nvSpPr>
          <p:cNvPr id="34" name="Text 31"/>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35" name="Text 32"/>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14 / 22</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08.3 · VALUTAZIONE MULTICRITERIO</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Bologna domina il punteggio ponderato</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Text 3"/>
          <p:cNvSpPr/>
          <p:nvPr/>
        </p:nvSpPr>
        <p:spPr>
          <a:xfrm>
            <a:off x="640080" y="1554480"/>
            <a:ext cx="10881360" cy="50292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Le candidate sono state confrontate su sei dimensioni pesate. Bologna ottiene il punteggio ponderato più alto (8,93), prevalendo su quattro criteri su sei e senza mai risultare ultima.</a:t>
            </a:r>
            <a:endParaRPr lang="en-US" sz="1200" dirty="0"/>
          </a:p>
        </p:txBody>
      </p:sp>
      <p:sp>
        <p:nvSpPr>
          <p:cNvPr id="7" name="Shape 4"/>
          <p:cNvSpPr/>
          <p:nvPr/>
        </p:nvSpPr>
        <p:spPr>
          <a:xfrm>
            <a:off x="640080" y="2148840"/>
            <a:ext cx="7406640" cy="3291840"/>
          </a:xfrm>
          <a:prstGeom prst="roundRect">
            <a:avLst>
              <a:gd name="adj" fmla="val 2222"/>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8" name="Image 1" descr="/home/user/PptxGenJS/assets-tmwe/fig_multicriterio.png">    </p:cNvPr>
          <p:cNvPicPr>
            <a:picLocks noChangeAspect="1"/>
          </p:cNvPicPr>
          <p:nvPr/>
        </p:nvPicPr>
        <p:blipFill>
          <a:blip r:embed="rId2"/>
          <a:stretch>
            <a:fillRect/>
          </a:stretch>
        </p:blipFill>
        <p:spPr>
          <a:xfrm>
            <a:off x="1194097" y="2313432"/>
            <a:ext cx="6298607" cy="2962656"/>
          </a:xfrm>
          <a:prstGeom prst="rect">
            <a:avLst/>
          </a:prstGeom>
        </p:spPr>
      </p:pic>
      <p:sp>
        <p:nvSpPr>
          <p:cNvPr id="9" name="Text 5"/>
          <p:cNvSpPr/>
          <p:nvPr/>
        </p:nvSpPr>
        <p:spPr>
          <a:xfrm>
            <a:off x="640080" y="5468112"/>
            <a:ext cx="740664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8.1 — Matrice multicriterio (scale 1-10) delle localizzazioni candidate.</a:t>
            </a:r>
            <a:endParaRPr lang="en-US" sz="850" dirty="0"/>
          </a:p>
        </p:txBody>
      </p:sp>
      <p:sp>
        <p:nvSpPr>
          <p:cNvPr id="10" name="Text 6"/>
          <p:cNvSpPr/>
          <p:nvPr/>
        </p:nvSpPr>
        <p:spPr>
          <a:xfrm>
            <a:off x="8229600" y="2194560"/>
            <a:ext cx="3291840" cy="274320"/>
          </a:xfrm>
          <a:prstGeom prst="rect">
            <a:avLst/>
          </a:prstGeom>
          <a:noFill/>
          <a:ln/>
        </p:spPr>
        <p:txBody>
          <a:bodyPr wrap="square" rtlCol="0" anchor="ctr"/>
          <a:lstStyle/>
          <a:p>
            <a:pPr indent="0" marL="0">
              <a:buNone/>
            </a:pPr>
            <a:r>
              <a:rPr lang="en-US" sz="950" b="1" spc="130" kern="0" dirty="0">
                <a:solidFill>
                  <a:srgbClr val="8A929B"/>
                </a:solidFill>
                <a:latin typeface="Arial" pitchFamily="34" charset="0"/>
                <a:ea typeface="Arial" pitchFamily="34" charset="-122"/>
                <a:cs typeface="Arial" pitchFamily="34" charset="-120"/>
              </a:rPr>
              <a:t>PUNTEGGIO PONDERATO</a:t>
            </a:r>
            <a:endParaRPr lang="en-US" sz="950" dirty="0"/>
          </a:p>
        </p:txBody>
      </p:sp>
      <p:sp>
        <p:nvSpPr>
          <p:cNvPr id="11" name="Text 7"/>
          <p:cNvSpPr/>
          <p:nvPr/>
        </p:nvSpPr>
        <p:spPr>
          <a:xfrm>
            <a:off x="8229600" y="2560320"/>
            <a:ext cx="2286000" cy="457200"/>
          </a:xfrm>
          <a:prstGeom prst="rect">
            <a:avLst/>
          </a:prstGeom>
          <a:noFill/>
          <a:ln/>
        </p:spPr>
        <p:txBody>
          <a:bodyPr wrap="square" rtlCol="0" anchor="ctr"/>
          <a:lstStyle/>
          <a:p>
            <a:pPr indent="0" marL="0">
              <a:buNone/>
            </a:pPr>
            <a:r>
              <a:rPr lang="en-US" sz="1150" b="1" dirty="0">
                <a:solidFill>
                  <a:srgbClr val="16255C"/>
                </a:solidFill>
                <a:latin typeface="Arial" pitchFamily="34" charset="0"/>
                <a:ea typeface="Arial" pitchFamily="34" charset="-122"/>
                <a:cs typeface="Arial" pitchFamily="34" charset="-120"/>
              </a:rPr>
              <a:t>Bologna</a:t>
            </a:r>
            <a:endParaRPr lang="en-US" sz="1150" dirty="0"/>
          </a:p>
        </p:txBody>
      </p:sp>
      <p:sp>
        <p:nvSpPr>
          <p:cNvPr id="12" name="Text 8"/>
          <p:cNvSpPr/>
          <p:nvPr/>
        </p:nvSpPr>
        <p:spPr>
          <a:xfrm>
            <a:off x="10515600" y="2560320"/>
            <a:ext cx="1005840" cy="457200"/>
          </a:xfrm>
          <a:prstGeom prst="rect">
            <a:avLst/>
          </a:prstGeom>
          <a:noFill/>
          <a:ln/>
        </p:spPr>
        <p:txBody>
          <a:bodyPr wrap="square" rtlCol="0" anchor="ctr"/>
          <a:lstStyle/>
          <a:p>
            <a:pPr algn="r" indent="0" marL="0">
              <a:buNone/>
            </a:pPr>
            <a:r>
              <a:rPr lang="en-US" sz="1800" dirty="0">
                <a:solidFill>
                  <a:srgbClr val="1E3A7B"/>
                </a:solidFill>
                <a:latin typeface="Georgia" pitchFamily="34" charset="0"/>
                <a:ea typeface="Georgia" pitchFamily="34" charset="-122"/>
                <a:cs typeface="Georgia" pitchFamily="34" charset="-120"/>
              </a:rPr>
              <a:t>8,93</a:t>
            </a:r>
            <a:endParaRPr lang="en-US" sz="1800" dirty="0"/>
          </a:p>
        </p:txBody>
      </p:sp>
      <p:sp>
        <p:nvSpPr>
          <p:cNvPr id="13" name="Shape 9"/>
          <p:cNvSpPr/>
          <p:nvPr/>
        </p:nvSpPr>
        <p:spPr>
          <a:xfrm>
            <a:off x="8229600" y="3054096"/>
            <a:ext cx="3291840" cy="0"/>
          </a:xfrm>
          <a:prstGeom prst="line">
            <a:avLst/>
          </a:prstGeom>
          <a:noFill/>
          <a:ln w="9525">
            <a:solidFill>
              <a:srgbClr val="E4E1D9"/>
            </a:solidFill>
            <a:prstDash val="solid"/>
          </a:ln>
        </p:spPr>
      </p:sp>
      <p:sp>
        <p:nvSpPr>
          <p:cNvPr id="14" name="Text 10"/>
          <p:cNvSpPr/>
          <p:nvPr/>
        </p:nvSpPr>
        <p:spPr>
          <a:xfrm>
            <a:off x="8229600" y="3127248"/>
            <a:ext cx="2286000" cy="457200"/>
          </a:xfrm>
          <a:prstGeom prst="rect">
            <a:avLst/>
          </a:prstGeom>
          <a:noFill/>
          <a:ln/>
        </p:spPr>
        <p:txBody>
          <a:bodyPr wrap="square" rtlCol="0" anchor="ctr"/>
          <a:lstStyle/>
          <a:p>
            <a:pPr indent="0" marL="0">
              <a:buNone/>
            </a:pPr>
            <a:r>
              <a:rPr lang="en-US" sz="1150" dirty="0">
                <a:solidFill>
                  <a:srgbClr val="4C5563"/>
                </a:solidFill>
                <a:latin typeface="Arial" pitchFamily="34" charset="0"/>
                <a:ea typeface="Arial" pitchFamily="34" charset="-122"/>
                <a:cs typeface="Arial" pitchFamily="34" charset="-120"/>
              </a:rPr>
              <a:t>Padova/Verona</a:t>
            </a:r>
            <a:endParaRPr lang="en-US" sz="1150" dirty="0"/>
          </a:p>
        </p:txBody>
      </p:sp>
      <p:sp>
        <p:nvSpPr>
          <p:cNvPr id="15" name="Text 11"/>
          <p:cNvSpPr/>
          <p:nvPr/>
        </p:nvSpPr>
        <p:spPr>
          <a:xfrm>
            <a:off x="10515600" y="3127248"/>
            <a:ext cx="1005840" cy="457200"/>
          </a:xfrm>
          <a:prstGeom prst="rect">
            <a:avLst/>
          </a:prstGeom>
          <a:noFill/>
          <a:ln/>
        </p:spPr>
        <p:txBody>
          <a:bodyPr wrap="square" rtlCol="0" anchor="ctr"/>
          <a:lstStyle/>
          <a:p>
            <a:pPr algn="r" indent="0" marL="0">
              <a:buNone/>
            </a:pPr>
            <a:r>
              <a:rPr lang="en-US" sz="1400" dirty="0">
                <a:solidFill>
                  <a:srgbClr val="8A929B"/>
                </a:solidFill>
                <a:latin typeface="Georgia" pitchFamily="34" charset="0"/>
                <a:ea typeface="Georgia" pitchFamily="34" charset="-122"/>
                <a:cs typeface="Georgia" pitchFamily="34" charset="-120"/>
              </a:rPr>
              <a:t>6,73</a:t>
            </a:r>
            <a:endParaRPr lang="en-US" sz="1400" dirty="0"/>
          </a:p>
        </p:txBody>
      </p:sp>
      <p:sp>
        <p:nvSpPr>
          <p:cNvPr id="16" name="Shape 12"/>
          <p:cNvSpPr/>
          <p:nvPr/>
        </p:nvSpPr>
        <p:spPr>
          <a:xfrm>
            <a:off x="8229600" y="3621024"/>
            <a:ext cx="3291840" cy="0"/>
          </a:xfrm>
          <a:prstGeom prst="line">
            <a:avLst/>
          </a:prstGeom>
          <a:noFill/>
          <a:ln w="9525">
            <a:solidFill>
              <a:srgbClr val="E4E1D9"/>
            </a:solidFill>
            <a:prstDash val="solid"/>
          </a:ln>
        </p:spPr>
      </p:sp>
      <p:sp>
        <p:nvSpPr>
          <p:cNvPr id="17" name="Text 13"/>
          <p:cNvSpPr/>
          <p:nvPr/>
        </p:nvSpPr>
        <p:spPr>
          <a:xfrm>
            <a:off x="8229600" y="3694176"/>
            <a:ext cx="2286000" cy="457200"/>
          </a:xfrm>
          <a:prstGeom prst="rect">
            <a:avLst/>
          </a:prstGeom>
          <a:noFill/>
          <a:ln/>
        </p:spPr>
        <p:txBody>
          <a:bodyPr wrap="square" rtlCol="0" anchor="ctr"/>
          <a:lstStyle/>
          <a:p>
            <a:pPr indent="0" marL="0">
              <a:buNone/>
            </a:pPr>
            <a:r>
              <a:rPr lang="en-US" sz="1150" dirty="0">
                <a:solidFill>
                  <a:srgbClr val="4C5563"/>
                </a:solidFill>
                <a:latin typeface="Arial" pitchFamily="34" charset="0"/>
                <a:ea typeface="Arial" pitchFamily="34" charset="-122"/>
                <a:cs typeface="Arial" pitchFamily="34" charset="-120"/>
              </a:rPr>
              <a:t>Torino</a:t>
            </a:r>
            <a:endParaRPr lang="en-US" sz="1150" dirty="0"/>
          </a:p>
        </p:txBody>
      </p:sp>
      <p:sp>
        <p:nvSpPr>
          <p:cNvPr id="18" name="Text 14"/>
          <p:cNvSpPr/>
          <p:nvPr/>
        </p:nvSpPr>
        <p:spPr>
          <a:xfrm>
            <a:off x="10515600" y="3694176"/>
            <a:ext cx="1005840" cy="457200"/>
          </a:xfrm>
          <a:prstGeom prst="rect">
            <a:avLst/>
          </a:prstGeom>
          <a:noFill/>
          <a:ln/>
        </p:spPr>
        <p:txBody>
          <a:bodyPr wrap="square" rtlCol="0" anchor="ctr"/>
          <a:lstStyle/>
          <a:p>
            <a:pPr algn="r" indent="0" marL="0">
              <a:buNone/>
            </a:pPr>
            <a:r>
              <a:rPr lang="en-US" sz="1400" dirty="0">
                <a:solidFill>
                  <a:srgbClr val="8A929B"/>
                </a:solidFill>
                <a:latin typeface="Georgia" pitchFamily="34" charset="0"/>
                <a:ea typeface="Georgia" pitchFamily="34" charset="-122"/>
                <a:cs typeface="Georgia" pitchFamily="34" charset="-120"/>
              </a:rPr>
              <a:t>6,45</a:t>
            </a:r>
            <a:endParaRPr lang="en-US" sz="1400" dirty="0"/>
          </a:p>
        </p:txBody>
      </p:sp>
      <p:sp>
        <p:nvSpPr>
          <p:cNvPr id="19" name="Shape 15"/>
          <p:cNvSpPr/>
          <p:nvPr/>
        </p:nvSpPr>
        <p:spPr>
          <a:xfrm>
            <a:off x="8229600" y="4187952"/>
            <a:ext cx="3291840" cy="0"/>
          </a:xfrm>
          <a:prstGeom prst="line">
            <a:avLst/>
          </a:prstGeom>
          <a:noFill/>
          <a:ln w="9525">
            <a:solidFill>
              <a:srgbClr val="E4E1D9"/>
            </a:solidFill>
            <a:prstDash val="solid"/>
          </a:ln>
        </p:spPr>
      </p:sp>
      <p:sp>
        <p:nvSpPr>
          <p:cNvPr id="20" name="Text 16"/>
          <p:cNvSpPr/>
          <p:nvPr/>
        </p:nvSpPr>
        <p:spPr>
          <a:xfrm>
            <a:off x="8229600" y="4261104"/>
            <a:ext cx="2286000" cy="457200"/>
          </a:xfrm>
          <a:prstGeom prst="rect">
            <a:avLst/>
          </a:prstGeom>
          <a:noFill/>
          <a:ln/>
        </p:spPr>
        <p:txBody>
          <a:bodyPr wrap="square" rtlCol="0" anchor="ctr"/>
          <a:lstStyle/>
          <a:p>
            <a:pPr indent="0" marL="0">
              <a:buNone/>
            </a:pPr>
            <a:r>
              <a:rPr lang="en-US" sz="1150" dirty="0">
                <a:solidFill>
                  <a:srgbClr val="4C5563"/>
                </a:solidFill>
                <a:latin typeface="Arial" pitchFamily="34" charset="0"/>
                <a:ea typeface="Arial" pitchFamily="34" charset="-122"/>
                <a:cs typeface="Arial" pitchFamily="34" charset="-120"/>
              </a:rPr>
              <a:t>Napoli</a:t>
            </a:r>
            <a:endParaRPr lang="en-US" sz="1150" dirty="0"/>
          </a:p>
        </p:txBody>
      </p:sp>
      <p:sp>
        <p:nvSpPr>
          <p:cNvPr id="21" name="Text 17"/>
          <p:cNvSpPr/>
          <p:nvPr/>
        </p:nvSpPr>
        <p:spPr>
          <a:xfrm>
            <a:off x="10515600" y="4261104"/>
            <a:ext cx="1005840" cy="457200"/>
          </a:xfrm>
          <a:prstGeom prst="rect">
            <a:avLst/>
          </a:prstGeom>
          <a:noFill/>
          <a:ln/>
        </p:spPr>
        <p:txBody>
          <a:bodyPr wrap="square" rtlCol="0" anchor="ctr"/>
          <a:lstStyle/>
          <a:p>
            <a:pPr algn="r" indent="0" marL="0">
              <a:buNone/>
            </a:pPr>
            <a:r>
              <a:rPr lang="en-US" sz="1400" dirty="0">
                <a:solidFill>
                  <a:srgbClr val="8A929B"/>
                </a:solidFill>
                <a:latin typeface="Georgia" pitchFamily="34" charset="0"/>
                <a:ea typeface="Georgia" pitchFamily="34" charset="-122"/>
                <a:cs typeface="Georgia" pitchFamily="34" charset="-120"/>
              </a:rPr>
              <a:t>6,28</a:t>
            </a:r>
            <a:endParaRPr lang="en-US" sz="1400" dirty="0"/>
          </a:p>
        </p:txBody>
      </p:sp>
      <p:sp>
        <p:nvSpPr>
          <p:cNvPr id="22" name="Shape 18"/>
          <p:cNvSpPr/>
          <p:nvPr/>
        </p:nvSpPr>
        <p:spPr>
          <a:xfrm>
            <a:off x="8229600" y="4754880"/>
            <a:ext cx="3291840" cy="0"/>
          </a:xfrm>
          <a:prstGeom prst="line">
            <a:avLst/>
          </a:prstGeom>
          <a:noFill/>
          <a:ln w="9525">
            <a:solidFill>
              <a:srgbClr val="E4E1D9"/>
            </a:solidFill>
            <a:prstDash val="solid"/>
          </a:ln>
        </p:spPr>
      </p:sp>
      <p:sp>
        <p:nvSpPr>
          <p:cNvPr id="23" name="Text 19"/>
          <p:cNvSpPr/>
          <p:nvPr/>
        </p:nvSpPr>
        <p:spPr>
          <a:xfrm>
            <a:off x="8229600" y="4828032"/>
            <a:ext cx="2286000" cy="457200"/>
          </a:xfrm>
          <a:prstGeom prst="rect">
            <a:avLst/>
          </a:prstGeom>
          <a:noFill/>
          <a:ln/>
        </p:spPr>
        <p:txBody>
          <a:bodyPr wrap="square" rtlCol="0" anchor="ctr"/>
          <a:lstStyle/>
          <a:p>
            <a:pPr indent="0" marL="0">
              <a:buNone/>
            </a:pPr>
            <a:r>
              <a:rPr lang="en-US" sz="1150" dirty="0">
                <a:solidFill>
                  <a:srgbClr val="4C5563"/>
                </a:solidFill>
                <a:latin typeface="Arial" pitchFamily="34" charset="0"/>
                <a:ea typeface="Arial" pitchFamily="34" charset="-122"/>
                <a:cs typeface="Arial" pitchFamily="34" charset="-120"/>
              </a:rPr>
              <a:t>Roma</a:t>
            </a:r>
            <a:endParaRPr lang="en-US" sz="1150" dirty="0"/>
          </a:p>
        </p:txBody>
      </p:sp>
      <p:sp>
        <p:nvSpPr>
          <p:cNvPr id="24" name="Text 20"/>
          <p:cNvSpPr/>
          <p:nvPr/>
        </p:nvSpPr>
        <p:spPr>
          <a:xfrm>
            <a:off x="10515600" y="4828032"/>
            <a:ext cx="1005840" cy="457200"/>
          </a:xfrm>
          <a:prstGeom prst="rect">
            <a:avLst/>
          </a:prstGeom>
          <a:noFill/>
          <a:ln/>
        </p:spPr>
        <p:txBody>
          <a:bodyPr wrap="square" rtlCol="0" anchor="ctr"/>
          <a:lstStyle/>
          <a:p>
            <a:pPr algn="r" indent="0" marL="0">
              <a:buNone/>
            </a:pPr>
            <a:r>
              <a:rPr lang="en-US" sz="1400" dirty="0">
                <a:solidFill>
                  <a:srgbClr val="8A929B"/>
                </a:solidFill>
                <a:latin typeface="Georgia" pitchFamily="34" charset="0"/>
                <a:ea typeface="Georgia" pitchFamily="34" charset="-122"/>
                <a:cs typeface="Georgia" pitchFamily="34" charset="-120"/>
              </a:rPr>
              <a:t>6,18</a:t>
            </a:r>
            <a:endParaRPr lang="en-US" sz="1400" dirty="0"/>
          </a:p>
        </p:txBody>
      </p:sp>
      <p:sp>
        <p:nvSpPr>
          <p:cNvPr id="25" name="Shape 21"/>
          <p:cNvSpPr/>
          <p:nvPr/>
        </p:nvSpPr>
        <p:spPr>
          <a:xfrm>
            <a:off x="640080" y="5870448"/>
            <a:ext cx="10911535" cy="438912"/>
          </a:xfrm>
          <a:prstGeom prst="roundRect">
            <a:avLst>
              <a:gd name="adj" fmla="val 10417"/>
            </a:avLst>
          </a:prstGeom>
          <a:solidFill>
            <a:srgbClr val="DEE8F3"/>
          </a:solidFill>
          <a:ln/>
        </p:spPr>
      </p:sp>
      <p:sp>
        <p:nvSpPr>
          <p:cNvPr id="26" name="Shape 22"/>
          <p:cNvSpPr/>
          <p:nvPr/>
        </p:nvSpPr>
        <p:spPr>
          <a:xfrm>
            <a:off x="640080" y="5870448"/>
            <a:ext cx="64008" cy="438912"/>
          </a:xfrm>
          <a:prstGeom prst="rect">
            <a:avLst/>
          </a:prstGeom>
          <a:solidFill>
            <a:srgbClr val="1E7DC2"/>
          </a:solidFill>
          <a:ln/>
        </p:spPr>
      </p:sp>
      <p:sp>
        <p:nvSpPr>
          <p:cNvPr id="27" name="Text 23"/>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Un profilo senza punti deboli decisivi: volume, posizione e infrastrutture spingono nella stessa direzione.</a:t>
            </a:r>
            <a:endParaRPr lang="en-US" sz="850" dirty="0"/>
          </a:p>
        </p:txBody>
      </p:sp>
      <p:sp>
        <p:nvSpPr>
          <p:cNvPr id="28" name="Shape 24"/>
          <p:cNvSpPr/>
          <p:nvPr/>
        </p:nvSpPr>
        <p:spPr>
          <a:xfrm>
            <a:off x="640080" y="6437376"/>
            <a:ext cx="10911535" cy="0"/>
          </a:xfrm>
          <a:prstGeom prst="line">
            <a:avLst/>
          </a:prstGeom>
          <a:noFill/>
          <a:ln w="12700">
            <a:solidFill>
              <a:srgbClr val="E4E1D9"/>
            </a:solidFill>
            <a:prstDash val="solid"/>
          </a:ln>
        </p:spPr>
      </p:sp>
      <p:sp>
        <p:nvSpPr>
          <p:cNvPr id="29" name="Text 25"/>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30" name="Text 26"/>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15 / 22</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08.4 · PERCHÉ BOLOGNA</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Un baricentro, non una periferia</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72768"/>
            <a:ext cx="4434840" cy="4069080"/>
          </a:xfrm>
          <a:prstGeom prst="roundRect">
            <a:avLst>
              <a:gd name="adj" fmla="val 1798"/>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baricentricita.png">    </p:cNvPr>
          <p:cNvPicPr>
            <a:picLocks noChangeAspect="1"/>
          </p:cNvPicPr>
          <p:nvPr/>
        </p:nvPicPr>
        <p:blipFill>
          <a:blip r:embed="rId2"/>
          <a:stretch>
            <a:fillRect/>
          </a:stretch>
        </p:blipFill>
        <p:spPr>
          <a:xfrm>
            <a:off x="886575" y="1737360"/>
            <a:ext cx="3941850" cy="3739896"/>
          </a:xfrm>
          <a:prstGeom prst="rect">
            <a:avLst/>
          </a:prstGeom>
        </p:spPr>
      </p:pic>
      <p:sp>
        <p:nvSpPr>
          <p:cNvPr id="8" name="Text 4"/>
          <p:cNvSpPr/>
          <p:nvPr/>
        </p:nvSpPr>
        <p:spPr>
          <a:xfrm>
            <a:off x="640080" y="5669280"/>
            <a:ext cx="443484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8.2 — Baricentricità di Bologna: distanze stradali dai principali poli.</a:t>
            </a:r>
            <a:endParaRPr lang="en-US" sz="850" dirty="0"/>
          </a:p>
        </p:txBody>
      </p:sp>
      <p:sp>
        <p:nvSpPr>
          <p:cNvPr id="9" name="Text 5"/>
          <p:cNvSpPr/>
          <p:nvPr/>
        </p:nvSpPr>
        <p:spPr>
          <a:xfrm>
            <a:off x="5394960" y="1600200"/>
            <a:ext cx="6126480" cy="914400"/>
          </a:xfrm>
          <a:prstGeom prst="rect">
            <a:avLst/>
          </a:prstGeom>
          <a:noFill/>
          <a:ln/>
        </p:spPr>
        <p:txBody>
          <a:bodyPr wrap="square" rtlCol="0" anchor="t"/>
          <a:lstStyle/>
          <a:p>
            <a:pPr algn="l" indent="0" marL="0">
              <a:lnSpc>
                <a:spcPct val="130000"/>
              </a:lnSpc>
              <a:buNone/>
            </a:pPr>
            <a:r>
              <a:rPr lang="en-US" sz="1250" dirty="0">
                <a:solidFill>
                  <a:srgbClr val="4C5563"/>
                </a:solidFill>
                <a:latin typeface="Arial" pitchFamily="34" charset="0"/>
                <a:ea typeface="Arial" pitchFamily="34" charset="-122"/>
                <a:cs typeface="Arial" pitchFamily="34" charset="-120"/>
              </a:rPr>
              <a:t>Da Bologna la rete extra-lombarda è raggiungibile in giornata: il 97% dei ritiri nazionali ricade entro 4 ore di guida. Quattro evidenze convergono verso la stessa scelta.</a:t>
            </a:r>
            <a:endParaRPr lang="en-US" sz="1250" dirty="0"/>
          </a:p>
        </p:txBody>
      </p:sp>
      <p:sp>
        <p:nvSpPr>
          <p:cNvPr id="10" name="Shape 6"/>
          <p:cNvSpPr/>
          <p:nvPr/>
        </p:nvSpPr>
        <p:spPr>
          <a:xfrm>
            <a:off x="5394960" y="2706624"/>
            <a:ext cx="100584" cy="100584"/>
          </a:xfrm>
          <a:prstGeom prst="rect">
            <a:avLst/>
          </a:prstGeom>
          <a:solidFill>
            <a:srgbClr val="1E7DC2"/>
          </a:solidFill>
          <a:ln/>
        </p:spPr>
      </p:sp>
      <p:sp>
        <p:nvSpPr>
          <p:cNvPr id="11" name="Text 7"/>
          <p:cNvSpPr/>
          <p:nvPr/>
        </p:nvSpPr>
        <p:spPr>
          <a:xfrm>
            <a:off x="5632704" y="2624328"/>
            <a:ext cx="5888736" cy="658368"/>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Domanda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41,1% dei ritiri extra-Lombardia, €357 mila di ricavi già attivi</a:t>
            </a:r>
            <a:endParaRPr lang="en-US" sz="1050" dirty="0"/>
          </a:p>
        </p:txBody>
      </p:sp>
      <p:sp>
        <p:nvSpPr>
          <p:cNvPr id="12" name="Shape 8"/>
          <p:cNvSpPr/>
          <p:nvPr/>
        </p:nvSpPr>
        <p:spPr>
          <a:xfrm>
            <a:off x="5394960" y="3364992"/>
            <a:ext cx="100584" cy="100584"/>
          </a:xfrm>
          <a:prstGeom prst="rect">
            <a:avLst/>
          </a:prstGeom>
          <a:solidFill>
            <a:srgbClr val="1E7DC2"/>
          </a:solidFill>
          <a:ln/>
        </p:spPr>
      </p:sp>
      <p:sp>
        <p:nvSpPr>
          <p:cNvPr id="13" name="Text 9"/>
          <p:cNvSpPr/>
          <p:nvPr/>
        </p:nvSpPr>
        <p:spPr>
          <a:xfrm>
            <a:off x="5632704" y="3282696"/>
            <a:ext cx="5888736" cy="658368"/>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Geografia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Firenze 105 km, Padova 120, Verona 140, Milano 215, Roma 380</a:t>
            </a:r>
            <a:endParaRPr lang="en-US" sz="1050" dirty="0"/>
          </a:p>
        </p:txBody>
      </p:sp>
      <p:sp>
        <p:nvSpPr>
          <p:cNvPr id="14" name="Shape 10"/>
          <p:cNvSpPr/>
          <p:nvPr/>
        </p:nvSpPr>
        <p:spPr>
          <a:xfrm>
            <a:off x="5394960" y="4023360"/>
            <a:ext cx="100584" cy="100584"/>
          </a:xfrm>
          <a:prstGeom prst="rect">
            <a:avLst/>
          </a:prstGeom>
          <a:solidFill>
            <a:srgbClr val="1E7DC2"/>
          </a:solidFill>
          <a:ln/>
        </p:spPr>
      </p:sp>
      <p:sp>
        <p:nvSpPr>
          <p:cNvPr id="15" name="Text 11"/>
          <p:cNvSpPr/>
          <p:nvPr/>
        </p:nvSpPr>
        <p:spPr>
          <a:xfrm>
            <a:off x="5632704" y="3941064"/>
            <a:ext cx="5888736" cy="658368"/>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Infrastrutture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nodo A1/A13/A14, Interporto 4,2 mln mq, PNRR, AV a 1h04 da Milano</a:t>
            </a:r>
            <a:endParaRPr lang="en-US" sz="1050" dirty="0"/>
          </a:p>
        </p:txBody>
      </p:sp>
      <p:sp>
        <p:nvSpPr>
          <p:cNvPr id="16" name="Shape 12"/>
          <p:cNvSpPr/>
          <p:nvPr/>
        </p:nvSpPr>
        <p:spPr>
          <a:xfrm>
            <a:off x="5394960" y="4681728"/>
            <a:ext cx="100584" cy="100584"/>
          </a:xfrm>
          <a:prstGeom prst="rect">
            <a:avLst/>
          </a:prstGeom>
          <a:solidFill>
            <a:srgbClr val="1E7DC2"/>
          </a:solidFill>
          <a:ln/>
        </p:spPr>
      </p:sp>
      <p:sp>
        <p:nvSpPr>
          <p:cNvPr id="17" name="Text 13"/>
          <p:cNvSpPr/>
          <p:nvPr/>
        </p:nvSpPr>
        <p:spPr>
          <a:xfrm>
            <a:off x="5632704" y="4599432"/>
            <a:ext cx="5888736" cy="658368"/>
          </a:xfrm>
          <a:prstGeom prst="rect">
            <a:avLst/>
          </a:prstGeom>
          <a:noFill/>
          <a:ln/>
        </p:spPr>
        <p:txBody>
          <a:bodyPr wrap="square" rtlCol="0" anchor="t"/>
          <a:lstStyle/>
          <a:p>
            <a:pPr indent="0" marL="0">
              <a:lnSpc>
                <a:spcPct val="105000"/>
              </a:lnSpc>
              <a:buNone/>
            </a:pPr>
            <a:r>
              <a:rPr lang="en-US" sz="1050" b="1" dirty="0">
                <a:solidFill>
                  <a:srgbClr val="16255C"/>
                </a:solidFill>
                <a:latin typeface="Arial" pitchFamily="34" charset="0"/>
                <a:ea typeface="Arial" pitchFamily="34" charset="-122"/>
                <a:cs typeface="Arial" pitchFamily="34" charset="-120"/>
              </a:rPr>
              <a:t>Economia  </a:t>
            </a:r>
            <a:pPr indent="0" marL="0">
              <a:lnSpc>
                <a:spcPct val="105000"/>
              </a:lnSpc>
              <a:buNone/>
            </a:pPr>
            <a:r>
              <a:rPr lang="en-US" sz="1050" dirty="0">
                <a:solidFill>
                  <a:srgbClr val="4C5563"/>
                </a:solidFill>
                <a:latin typeface="Arial" pitchFamily="34" charset="0"/>
                <a:ea typeface="Arial" pitchFamily="34" charset="-122"/>
                <a:cs typeface="Arial" pitchFamily="34" charset="-120"/>
              </a:rPr>
              <a:t>3ª provincia italiana per valore aggiunto pro capite (€45.125)</a:t>
            </a:r>
            <a:endParaRPr lang="en-US" sz="1050" dirty="0"/>
          </a:p>
        </p:txBody>
      </p:sp>
      <p:sp>
        <p:nvSpPr>
          <p:cNvPr id="18" name="Shape 14"/>
          <p:cNvSpPr/>
          <p:nvPr/>
        </p:nvSpPr>
        <p:spPr>
          <a:xfrm>
            <a:off x="640080" y="5870448"/>
            <a:ext cx="10911535" cy="438912"/>
          </a:xfrm>
          <a:prstGeom prst="roundRect">
            <a:avLst>
              <a:gd name="adj" fmla="val 10417"/>
            </a:avLst>
          </a:prstGeom>
          <a:solidFill>
            <a:srgbClr val="DEE8F3"/>
          </a:solidFill>
          <a:ln/>
        </p:spPr>
      </p:sp>
      <p:sp>
        <p:nvSpPr>
          <p:cNvPr id="19" name="Shape 15"/>
          <p:cNvSpPr/>
          <p:nvPr/>
        </p:nvSpPr>
        <p:spPr>
          <a:xfrm>
            <a:off x="640080" y="5870448"/>
            <a:ext cx="64008" cy="438912"/>
          </a:xfrm>
          <a:prstGeom prst="rect">
            <a:avLst/>
          </a:prstGeom>
          <a:solidFill>
            <a:srgbClr val="1E7DC2"/>
          </a:solidFill>
          <a:ln/>
        </p:spPr>
      </p:sp>
      <p:sp>
        <p:nvSpPr>
          <p:cNvPr id="20" name="Text 16"/>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La posizione trasforma un'unica sede in un presidio capace di coprire quasi tutta la rete.</a:t>
            </a:r>
            <a:endParaRPr lang="en-US" sz="850" dirty="0"/>
          </a:p>
        </p:txBody>
      </p:sp>
      <p:sp>
        <p:nvSpPr>
          <p:cNvPr id="21" name="Shape 17"/>
          <p:cNvSpPr/>
          <p:nvPr/>
        </p:nvSpPr>
        <p:spPr>
          <a:xfrm>
            <a:off x="640080" y="6437376"/>
            <a:ext cx="10911535" cy="0"/>
          </a:xfrm>
          <a:prstGeom prst="line">
            <a:avLst/>
          </a:prstGeom>
          <a:noFill/>
          <a:ln w="12700">
            <a:solidFill>
              <a:srgbClr val="E4E1D9"/>
            </a:solidFill>
            <a:prstDash val="solid"/>
          </a:ln>
        </p:spPr>
      </p:sp>
      <p:sp>
        <p:nvSpPr>
          <p:cNvPr id="22" name="Text 18"/>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3" name="Text 19"/>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16 / 22</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09 · ANALISI COMPETITIVA</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Non competere sul commodity, ma sui servizi a valore</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Text 3"/>
          <p:cNvSpPr/>
          <p:nvPr/>
        </p:nvSpPr>
        <p:spPr>
          <a:xfrm>
            <a:off x="640080" y="1554480"/>
            <a:ext cx="10881360" cy="777240"/>
          </a:xfrm>
          <a:prstGeom prst="rect">
            <a:avLst/>
          </a:prstGeom>
          <a:noFill/>
          <a:ln/>
        </p:spPr>
        <p:txBody>
          <a:bodyPr wrap="square" rtlCol="0" anchor="t"/>
          <a:lstStyle/>
          <a:p>
            <a:pPr algn="l" indent="0" marL="0">
              <a:lnSpc>
                <a:spcPct val="130000"/>
              </a:lnSpc>
              <a:buNone/>
            </a:pPr>
            <a:r>
              <a:rPr lang="en-US" sz="1200" dirty="0">
                <a:solidFill>
                  <a:srgbClr val="4C5563"/>
                </a:solidFill>
                <a:latin typeface="Arial" pitchFamily="34" charset="0"/>
                <a:ea typeface="Arial" pitchFamily="34" charset="-122"/>
                <a:cs typeface="Arial" pitchFamily="34" charset="-120"/>
              </a:rPr>
              <a:t>Nel bacino bolognese operano sei player da centinaia di milioni a oltre un miliardo di euro (DHL Express €1,42 mld, BRT €1,37 mld, Fercam €706 mln, DSV €662 mln, Italtrans €375 mln, Arco Spedizioni €355 mln): un mercato profondo, con manodopera specializzata e servizi complementari.</a:t>
            </a:r>
            <a:endParaRPr lang="en-US" sz="1200" dirty="0"/>
          </a:p>
        </p:txBody>
      </p:sp>
      <p:sp>
        <p:nvSpPr>
          <p:cNvPr id="7" name="Shape 4"/>
          <p:cNvSpPr/>
          <p:nvPr/>
        </p:nvSpPr>
        <p:spPr>
          <a:xfrm>
            <a:off x="640080" y="2514600"/>
            <a:ext cx="3520440" cy="1371600"/>
          </a:xfrm>
          <a:prstGeom prst="roundRect">
            <a:avLst>
              <a:gd name="adj" fmla="val 5333"/>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8" name="Shape 5"/>
          <p:cNvSpPr/>
          <p:nvPr/>
        </p:nvSpPr>
        <p:spPr>
          <a:xfrm>
            <a:off x="640080" y="2651760"/>
            <a:ext cx="54864" cy="1097280"/>
          </a:xfrm>
          <a:prstGeom prst="rect">
            <a:avLst/>
          </a:prstGeom>
          <a:solidFill>
            <a:srgbClr val="1E7DC2"/>
          </a:solidFill>
          <a:ln/>
        </p:spPr>
      </p:sp>
      <p:sp>
        <p:nvSpPr>
          <p:cNvPr id="9" name="Text 6"/>
          <p:cNvSpPr/>
          <p:nvPr/>
        </p:nvSpPr>
        <p:spPr>
          <a:xfrm>
            <a:off x="896112" y="2651760"/>
            <a:ext cx="3108960" cy="365760"/>
          </a:xfrm>
          <a:prstGeom prst="rect">
            <a:avLst/>
          </a:prstGeom>
          <a:noFill/>
          <a:ln/>
        </p:spPr>
        <p:txBody>
          <a:bodyPr wrap="square" rtlCol="0" anchor="ctr"/>
          <a:lstStyle/>
          <a:p>
            <a:pPr indent="0" marL="0">
              <a:buNone/>
            </a:pPr>
            <a:r>
              <a:rPr lang="en-US" sz="1500" dirty="0">
                <a:solidFill>
                  <a:srgbClr val="16255C"/>
                </a:solidFill>
                <a:latin typeface="Georgia" pitchFamily="34" charset="0"/>
                <a:ea typeface="Georgia" pitchFamily="34" charset="-122"/>
                <a:cs typeface="Georgia" pitchFamily="34" charset="-120"/>
              </a:rPr>
              <a:t>Al vertice</a:t>
            </a:r>
            <a:endParaRPr lang="en-US" sz="1500" dirty="0"/>
          </a:p>
        </p:txBody>
      </p:sp>
      <p:sp>
        <p:nvSpPr>
          <p:cNvPr id="10" name="Text 7"/>
          <p:cNvSpPr/>
          <p:nvPr/>
        </p:nvSpPr>
        <p:spPr>
          <a:xfrm>
            <a:off x="896112" y="3035808"/>
            <a:ext cx="3154680" cy="777240"/>
          </a:xfrm>
          <a:prstGeom prst="rect">
            <a:avLst/>
          </a:prstGeom>
          <a:noFill/>
          <a:ln/>
        </p:spPr>
        <p:txBody>
          <a:bodyPr wrap="square" rtlCol="0" anchor="t"/>
          <a:lstStyle/>
          <a:p>
            <a:pPr algn="l" indent="0" marL="0">
              <a:lnSpc>
                <a:spcPct val="120000"/>
              </a:lnSpc>
              <a:buNone/>
            </a:pPr>
            <a:r>
              <a:rPr lang="en-US" sz="1000" dirty="0">
                <a:solidFill>
                  <a:srgbClr val="4C5563"/>
                </a:solidFill>
                <a:latin typeface="Arial" pitchFamily="34" charset="0"/>
                <a:ea typeface="Arial" pitchFamily="34" charset="-122"/>
                <a:cs typeface="Arial" pitchFamily="34" charset="-120"/>
              </a:rPr>
              <a:t>DHL Express e BRT: parcel standard con hub automatizzati ed economie di scala non replicabili</a:t>
            </a:r>
            <a:endParaRPr lang="en-US" sz="1000" dirty="0"/>
          </a:p>
        </p:txBody>
      </p:sp>
      <p:sp>
        <p:nvSpPr>
          <p:cNvPr id="11" name="Shape 8"/>
          <p:cNvSpPr/>
          <p:nvPr/>
        </p:nvSpPr>
        <p:spPr>
          <a:xfrm>
            <a:off x="4352544" y="2514600"/>
            <a:ext cx="3520440" cy="1371600"/>
          </a:xfrm>
          <a:prstGeom prst="roundRect">
            <a:avLst>
              <a:gd name="adj" fmla="val 5333"/>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2" name="Shape 9"/>
          <p:cNvSpPr/>
          <p:nvPr/>
        </p:nvSpPr>
        <p:spPr>
          <a:xfrm>
            <a:off x="4352544" y="2651760"/>
            <a:ext cx="54864" cy="1097280"/>
          </a:xfrm>
          <a:prstGeom prst="rect">
            <a:avLst/>
          </a:prstGeom>
          <a:solidFill>
            <a:srgbClr val="1E7DC2"/>
          </a:solidFill>
          <a:ln/>
        </p:spPr>
      </p:sp>
      <p:sp>
        <p:nvSpPr>
          <p:cNvPr id="13" name="Text 10"/>
          <p:cNvSpPr/>
          <p:nvPr/>
        </p:nvSpPr>
        <p:spPr>
          <a:xfrm>
            <a:off x="4608576" y="2651760"/>
            <a:ext cx="3108960" cy="365760"/>
          </a:xfrm>
          <a:prstGeom prst="rect">
            <a:avLst/>
          </a:prstGeom>
          <a:noFill/>
          <a:ln/>
        </p:spPr>
        <p:txBody>
          <a:bodyPr wrap="square" rtlCol="0" anchor="ctr"/>
          <a:lstStyle/>
          <a:p>
            <a:pPr indent="0" marL="0">
              <a:buNone/>
            </a:pPr>
            <a:r>
              <a:rPr lang="en-US" sz="1500" dirty="0">
                <a:solidFill>
                  <a:srgbClr val="16255C"/>
                </a:solidFill>
                <a:latin typeface="Georgia" pitchFamily="34" charset="0"/>
                <a:ea typeface="Georgia" pitchFamily="34" charset="-122"/>
                <a:cs typeface="Georgia" pitchFamily="34" charset="-120"/>
              </a:rPr>
              <a:t>Fascia intermedia</a:t>
            </a:r>
            <a:endParaRPr lang="en-US" sz="1500" dirty="0"/>
          </a:p>
        </p:txBody>
      </p:sp>
      <p:sp>
        <p:nvSpPr>
          <p:cNvPr id="14" name="Text 11"/>
          <p:cNvSpPr/>
          <p:nvPr/>
        </p:nvSpPr>
        <p:spPr>
          <a:xfrm>
            <a:off x="4608576" y="3035808"/>
            <a:ext cx="3154680" cy="777240"/>
          </a:xfrm>
          <a:prstGeom prst="rect">
            <a:avLst/>
          </a:prstGeom>
          <a:noFill/>
          <a:ln/>
        </p:spPr>
        <p:txBody>
          <a:bodyPr wrap="square" rtlCol="0" anchor="t"/>
          <a:lstStyle/>
          <a:p>
            <a:pPr algn="l" indent="0" marL="0">
              <a:lnSpc>
                <a:spcPct val="120000"/>
              </a:lnSpc>
              <a:buNone/>
            </a:pPr>
            <a:r>
              <a:rPr lang="en-US" sz="1000" dirty="0">
                <a:solidFill>
                  <a:srgbClr val="4C5563"/>
                </a:solidFill>
                <a:latin typeface="Arial" pitchFamily="34" charset="0"/>
                <a:ea typeface="Arial" pitchFamily="34" charset="-122"/>
                <a:cs typeface="Arial" pitchFamily="34" charset="-120"/>
              </a:rPr>
              <a:t>Fercam e DSV: trasporto multimodale, groupage e contract logistics fino al 4PL</a:t>
            </a:r>
            <a:endParaRPr lang="en-US" sz="1000" dirty="0"/>
          </a:p>
        </p:txBody>
      </p:sp>
      <p:sp>
        <p:nvSpPr>
          <p:cNvPr id="15" name="Shape 12"/>
          <p:cNvSpPr/>
          <p:nvPr/>
        </p:nvSpPr>
        <p:spPr>
          <a:xfrm>
            <a:off x="8065008" y="2514600"/>
            <a:ext cx="3520440" cy="1371600"/>
          </a:xfrm>
          <a:prstGeom prst="roundRect">
            <a:avLst>
              <a:gd name="adj" fmla="val 5333"/>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6" name="Shape 13"/>
          <p:cNvSpPr/>
          <p:nvPr/>
        </p:nvSpPr>
        <p:spPr>
          <a:xfrm>
            <a:off x="8065008" y="2651760"/>
            <a:ext cx="54864" cy="1097280"/>
          </a:xfrm>
          <a:prstGeom prst="rect">
            <a:avLst/>
          </a:prstGeom>
          <a:solidFill>
            <a:srgbClr val="1E7DC2"/>
          </a:solidFill>
          <a:ln/>
        </p:spPr>
      </p:sp>
      <p:sp>
        <p:nvSpPr>
          <p:cNvPr id="17" name="Text 14"/>
          <p:cNvSpPr/>
          <p:nvPr/>
        </p:nvSpPr>
        <p:spPr>
          <a:xfrm>
            <a:off x="8321040" y="2651760"/>
            <a:ext cx="3108960" cy="365760"/>
          </a:xfrm>
          <a:prstGeom prst="rect">
            <a:avLst/>
          </a:prstGeom>
          <a:noFill/>
          <a:ln/>
        </p:spPr>
        <p:txBody>
          <a:bodyPr wrap="square" rtlCol="0" anchor="ctr"/>
          <a:lstStyle/>
          <a:p>
            <a:pPr indent="0" marL="0">
              <a:buNone/>
            </a:pPr>
            <a:r>
              <a:rPr lang="en-US" sz="1500" dirty="0">
                <a:solidFill>
                  <a:srgbClr val="16255C"/>
                </a:solidFill>
                <a:latin typeface="Georgia" pitchFamily="34" charset="0"/>
                <a:ea typeface="Georgia" pitchFamily="34" charset="-122"/>
                <a:cs typeface="Georgia" pitchFamily="34" charset="-120"/>
              </a:rPr>
              <a:t>Fascia specialistica</a:t>
            </a:r>
            <a:endParaRPr lang="en-US" sz="1500" dirty="0"/>
          </a:p>
        </p:txBody>
      </p:sp>
      <p:sp>
        <p:nvSpPr>
          <p:cNvPr id="18" name="Text 15"/>
          <p:cNvSpPr/>
          <p:nvPr/>
        </p:nvSpPr>
        <p:spPr>
          <a:xfrm>
            <a:off x="8321040" y="3035808"/>
            <a:ext cx="3154680" cy="777240"/>
          </a:xfrm>
          <a:prstGeom prst="rect">
            <a:avLst/>
          </a:prstGeom>
          <a:noFill/>
          <a:ln/>
        </p:spPr>
        <p:txBody>
          <a:bodyPr wrap="square" rtlCol="0" anchor="t"/>
          <a:lstStyle/>
          <a:p>
            <a:pPr algn="l" indent="0" marL="0">
              <a:lnSpc>
                <a:spcPct val="120000"/>
              </a:lnSpc>
              <a:buNone/>
            </a:pPr>
            <a:r>
              <a:rPr lang="en-US" sz="1000" dirty="0">
                <a:solidFill>
                  <a:srgbClr val="4C5563"/>
                </a:solidFill>
                <a:latin typeface="Arial" pitchFamily="34" charset="0"/>
                <a:ea typeface="Arial" pitchFamily="34" charset="-122"/>
                <a:cs typeface="Arial" pitchFamily="34" charset="-120"/>
              </a:rPr>
              <a:t>Italtrans (ADR) e Arco Spedizioni (spedizioneria e dogana)</a:t>
            </a:r>
            <a:endParaRPr lang="en-US" sz="1000" dirty="0"/>
          </a:p>
        </p:txBody>
      </p:sp>
      <p:sp>
        <p:nvSpPr>
          <p:cNvPr id="19" name="Shape 16"/>
          <p:cNvSpPr/>
          <p:nvPr/>
        </p:nvSpPr>
        <p:spPr>
          <a:xfrm>
            <a:off x="640080" y="4069080"/>
            <a:ext cx="10908792" cy="1600200"/>
          </a:xfrm>
          <a:prstGeom prst="roundRect">
            <a:avLst>
              <a:gd name="adj" fmla="val 4571"/>
            </a:avLst>
          </a:prstGeom>
          <a:solidFill>
            <a:srgbClr val="16255C"/>
          </a:solidFill>
          <a:ln w="12700">
            <a:solidFill>
              <a:srgbClr val="16255C"/>
            </a:solidFill>
            <a:prstDash val="solid"/>
          </a:ln>
          <a:effectLst>
            <a:outerShdw sx="100000" sy="100000" kx="0" ky="0" algn="bl" rotWithShape="0" blurRad="88900" dist="25400" dir="5400000">
              <a:srgbClr val="D9D5CC">
                <a:alpha val="40000"/>
              </a:srgbClr>
            </a:outerShdw>
          </a:effectLst>
        </p:spPr>
      </p:sp>
      <p:sp>
        <p:nvSpPr>
          <p:cNvPr id="20" name="Text 17"/>
          <p:cNvSpPr/>
          <p:nvPr/>
        </p:nvSpPr>
        <p:spPr>
          <a:xfrm>
            <a:off x="960120" y="4206240"/>
            <a:ext cx="10058400" cy="274320"/>
          </a:xfrm>
          <a:prstGeom prst="rect">
            <a:avLst/>
          </a:prstGeom>
          <a:noFill/>
          <a:ln/>
        </p:spPr>
        <p:txBody>
          <a:bodyPr wrap="square" rtlCol="0" anchor="ctr"/>
          <a:lstStyle/>
          <a:p>
            <a:pPr indent="0" marL="0">
              <a:buNone/>
            </a:pPr>
            <a:r>
              <a:rPr lang="en-US" sz="950" b="1" spc="130" kern="0" dirty="0">
                <a:solidFill>
                  <a:srgbClr val="9DB9DD"/>
                </a:solidFill>
                <a:latin typeface="Arial" pitchFamily="34" charset="0"/>
                <a:ea typeface="Arial" pitchFamily="34" charset="-122"/>
                <a:cs typeface="Arial" pitchFamily="34" charset="-120"/>
              </a:rPr>
              <a:t>IL POSIZIONAMENTO DELLA FILIALE TMWE — TRE LEVE DI DIFFERENZIAZIONE</a:t>
            </a:r>
            <a:endParaRPr lang="en-US" sz="950" dirty="0"/>
          </a:p>
        </p:txBody>
      </p:sp>
      <p:sp>
        <p:nvSpPr>
          <p:cNvPr id="21" name="Text 18"/>
          <p:cNvSpPr/>
          <p:nvPr/>
        </p:nvSpPr>
        <p:spPr>
          <a:xfrm>
            <a:off x="960120" y="4572000"/>
            <a:ext cx="365760" cy="365760"/>
          </a:xfrm>
          <a:prstGeom prst="rect">
            <a:avLst/>
          </a:prstGeom>
          <a:noFill/>
          <a:ln/>
        </p:spPr>
        <p:txBody>
          <a:bodyPr wrap="square" rtlCol="0" anchor="ctr"/>
          <a:lstStyle/>
          <a:p>
            <a:pPr indent="0" marL="0">
              <a:buNone/>
            </a:pPr>
            <a:r>
              <a:rPr lang="en-US" sz="1800" dirty="0">
                <a:solidFill>
                  <a:srgbClr val="D8901A"/>
                </a:solidFill>
                <a:latin typeface="Georgia" pitchFamily="34" charset="0"/>
                <a:ea typeface="Georgia" pitchFamily="34" charset="-122"/>
                <a:cs typeface="Georgia" pitchFamily="34" charset="-120"/>
              </a:rPr>
              <a:t>1</a:t>
            </a:r>
            <a:endParaRPr lang="en-US" sz="1800" dirty="0"/>
          </a:p>
        </p:txBody>
      </p:sp>
      <p:sp>
        <p:nvSpPr>
          <p:cNvPr id="22" name="Text 19"/>
          <p:cNvSpPr/>
          <p:nvPr/>
        </p:nvSpPr>
        <p:spPr>
          <a:xfrm>
            <a:off x="1344168" y="4553712"/>
            <a:ext cx="3063240" cy="1005840"/>
          </a:xfrm>
          <a:prstGeom prst="rect">
            <a:avLst/>
          </a:prstGeom>
          <a:noFill/>
          <a:ln/>
        </p:spPr>
        <p:txBody>
          <a:bodyPr wrap="square" rtlCol="0" anchor="t"/>
          <a:lstStyle/>
          <a:p>
            <a:pPr indent="0" marL="0">
              <a:lnSpc>
                <a:spcPct val="105000"/>
              </a:lnSpc>
              <a:buNone/>
            </a:pPr>
            <a:r>
              <a:rPr lang="en-US" sz="1100" b="1" dirty="0">
                <a:solidFill>
                  <a:srgbClr val="FFFFFF"/>
                </a:solidFill>
                <a:latin typeface="Arial" pitchFamily="34" charset="0"/>
                <a:ea typeface="Arial" pitchFamily="34" charset="-122"/>
                <a:cs typeface="Arial" pitchFamily="34" charset="-120"/>
              </a:rPr>
              <a:t>Time-critical &amp; su misura
</a:t>
            </a:r>
            <a:pPr indent="0" marL="0">
              <a:lnSpc>
                <a:spcPct val="105000"/>
              </a:lnSpc>
              <a:buNone/>
            </a:pPr>
            <a:r>
              <a:rPr lang="en-US" sz="950" dirty="0">
                <a:solidFill>
                  <a:srgbClr val="E7EEF7"/>
                </a:solidFill>
                <a:latin typeface="Arial" pitchFamily="34" charset="0"/>
                <a:ea typeface="Arial" pitchFamily="34" charset="-122"/>
                <a:cs typeface="Arial" pitchFamily="34" charset="-120"/>
              </a:rPr>
              <a:t>consegne 9:00/12:00 e urgenze dove i network offrono prodotti standard</a:t>
            </a:r>
            <a:endParaRPr lang="en-US" sz="1100" dirty="0"/>
          </a:p>
        </p:txBody>
      </p:sp>
      <p:sp>
        <p:nvSpPr>
          <p:cNvPr id="23" name="Text 20"/>
          <p:cNvSpPr/>
          <p:nvPr/>
        </p:nvSpPr>
        <p:spPr>
          <a:xfrm>
            <a:off x="4480560" y="4572000"/>
            <a:ext cx="365760" cy="365760"/>
          </a:xfrm>
          <a:prstGeom prst="rect">
            <a:avLst/>
          </a:prstGeom>
          <a:noFill/>
          <a:ln/>
        </p:spPr>
        <p:txBody>
          <a:bodyPr wrap="square" rtlCol="0" anchor="ctr"/>
          <a:lstStyle/>
          <a:p>
            <a:pPr indent="0" marL="0">
              <a:buNone/>
            </a:pPr>
            <a:r>
              <a:rPr lang="en-US" sz="1800" dirty="0">
                <a:solidFill>
                  <a:srgbClr val="D8901A"/>
                </a:solidFill>
                <a:latin typeface="Georgia" pitchFamily="34" charset="0"/>
                <a:ea typeface="Georgia" pitchFamily="34" charset="-122"/>
                <a:cs typeface="Georgia" pitchFamily="34" charset="-120"/>
              </a:rPr>
              <a:t>2</a:t>
            </a:r>
            <a:endParaRPr lang="en-US" sz="1800" dirty="0"/>
          </a:p>
        </p:txBody>
      </p:sp>
      <p:sp>
        <p:nvSpPr>
          <p:cNvPr id="24" name="Text 21"/>
          <p:cNvSpPr/>
          <p:nvPr/>
        </p:nvSpPr>
        <p:spPr>
          <a:xfrm>
            <a:off x="4864608" y="4553712"/>
            <a:ext cx="3063240" cy="1005840"/>
          </a:xfrm>
          <a:prstGeom prst="rect">
            <a:avLst/>
          </a:prstGeom>
          <a:noFill/>
          <a:ln/>
        </p:spPr>
        <p:txBody>
          <a:bodyPr wrap="square" rtlCol="0" anchor="t"/>
          <a:lstStyle/>
          <a:p>
            <a:pPr indent="0" marL="0">
              <a:lnSpc>
                <a:spcPct val="105000"/>
              </a:lnSpc>
              <a:buNone/>
            </a:pPr>
            <a:r>
              <a:rPr lang="en-US" sz="1100" b="1" dirty="0">
                <a:solidFill>
                  <a:srgbClr val="FFFFFF"/>
                </a:solidFill>
                <a:latin typeface="Arial" pitchFamily="34" charset="0"/>
                <a:ea typeface="Arial" pitchFamily="34" charset="-122"/>
                <a:cs typeface="Arial" pitchFamily="34" charset="-120"/>
              </a:rPr>
              <a:t>Prossimità relazionale
</a:t>
            </a:r>
            <a:pPr indent="0" marL="0">
              <a:lnSpc>
                <a:spcPct val="105000"/>
              </a:lnSpc>
              <a:buNone/>
            </a:pPr>
            <a:r>
              <a:rPr lang="en-US" sz="950" dirty="0">
                <a:solidFill>
                  <a:srgbClr val="E7EEF7"/>
                </a:solidFill>
                <a:latin typeface="Arial" pitchFamily="34" charset="0"/>
                <a:ea typeface="Arial" pitchFamily="34" charset="-122"/>
                <a:cs typeface="Arial" pitchFamily="34" charset="-120"/>
              </a:rPr>
              <a:t>un referente diretto contro i canali massivi e impersonali</a:t>
            </a:r>
            <a:endParaRPr lang="en-US" sz="1100" dirty="0"/>
          </a:p>
        </p:txBody>
      </p:sp>
      <p:sp>
        <p:nvSpPr>
          <p:cNvPr id="25" name="Text 22"/>
          <p:cNvSpPr/>
          <p:nvPr/>
        </p:nvSpPr>
        <p:spPr>
          <a:xfrm>
            <a:off x="8001000" y="4572000"/>
            <a:ext cx="365760" cy="365760"/>
          </a:xfrm>
          <a:prstGeom prst="rect">
            <a:avLst/>
          </a:prstGeom>
          <a:noFill/>
          <a:ln/>
        </p:spPr>
        <p:txBody>
          <a:bodyPr wrap="square" rtlCol="0" anchor="ctr"/>
          <a:lstStyle/>
          <a:p>
            <a:pPr indent="0" marL="0">
              <a:buNone/>
            </a:pPr>
            <a:r>
              <a:rPr lang="en-US" sz="1800" dirty="0">
                <a:solidFill>
                  <a:srgbClr val="D8901A"/>
                </a:solidFill>
                <a:latin typeface="Georgia" pitchFamily="34" charset="0"/>
                <a:ea typeface="Georgia" pitchFamily="34" charset="-122"/>
                <a:cs typeface="Georgia" pitchFamily="34" charset="-120"/>
              </a:rPr>
              <a:t>3</a:t>
            </a:r>
            <a:endParaRPr lang="en-US" sz="1800" dirty="0"/>
          </a:p>
        </p:txBody>
      </p:sp>
      <p:sp>
        <p:nvSpPr>
          <p:cNvPr id="26" name="Text 23"/>
          <p:cNvSpPr/>
          <p:nvPr/>
        </p:nvSpPr>
        <p:spPr>
          <a:xfrm>
            <a:off x="8385048" y="4553712"/>
            <a:ext cx="3063240" cy="1005840"/>
          </a:xfrm>
          <a:prstGeom prst="rect">
            <a:avLst/>
          </a:prstGeom>
          <a:noFill/>
          <a:ln/>
        </p:spPr>
        <p:txBody>
          <a:bodyPr wrap="square" rtlCol="0" anchor="t"/>
          <a:lstStyle/>
          <a:p>
            <a:pPr indent="0" marL="0">
              <a:lnSpc>
                <a:spcPct val="105000"/>
              </a:lnSpc>
              <a:buNone/>
            </a:pPr>
            <a:r>
              <a:rPr lang="en-US" sz="1100" b="1" dirty="0">
                <a:solidFill>
                  <a:srgbClr val="FFFFFF"/>
                </a:solidFill>
                <a:latin typeface="Arial" pitchFamily="34" charset="0"/>
                <a:ea typeface="Arial" pitchFamily="34" charset="-122"/>
                <a:cs typeface="Arial" pitchFamily="34" charset="-120"/>
              </a:rPr>
              <a:t>Laboratorio logistico
</a:t>
            </a:r>
            <a:pPr indent="0" marL="0">
              <a:lnSpc>
                <a:spcPct val="105000"/>
              </a:lnSpc>
              <a:buNone/>
            </a:pPr>
            <a:r>
              <a:rPr lang="en-US" sz="950" dirty="0">
                <a:solidFill>
                  <a:srgbClr val="E7EEF7"/>
                </a:solidFill>
                <a:latin typeface="Arial" pitchFamily="34" charset="0"/>
                <a:ea typeface="Arial" pitchFamily="34" charset="-122"/>
                <a:cs typeface="Arial" pitchFamily="34" charset="-120"/>
              </a:rPr>
              <a:t>controlli qualità e kitting a valore aggiunto per le PMI</a:t>
            </a:r>
            <a:endParaRPr lang="en-US" sz="1100" dirty="0"/>
          </a:p>
        </p:txBody>
      </p:sp>
      <p:sp>
        <p:nvSpPr>
          <p:cNvPr id="27" name="Shape 24"/>
          <p:cNvSpPr/>
          <p:nvPr/>
        </p:nvSpPr>
        <p:spPr>
          <a:xfrm>
            <a:off x="640080" y="5870448"/>
            <a:ext cx="10911535" cy="438912"/>
          </a:xfrm>
          <a:prstGeom prst="roundRect">
            <a:avLst>
              <a:gd name="adj" fmla="val 10417"/>
            </a:avLst>
          </a:prstGeom>
          <a:solidFill>
            <a:srgbClr val="DEE8F3"/>
          </a:solidFill>
          <a:ln/>
        </p:spPr>
      </p:sp>
      <p:sp>
        <p:nvSpPr>
          <p:cNvPr id="28" name="Shape 25"/>
          <p:cNvSpPr/>
          <p:nvPr/>
        </p:nvSpPr>
        <p:spPr>
          <a:xfrm>
            <a:off x="640080" y="5870448"/>
            <a:ext cx="64008" cy="438912"/>
          </a:xfrm>
          <a:prstGeom prst="rect">
            <a:avLst/>
          </a:prstGeom>
          <a:solidFill>
            <a:srgbClr val="1E7DC2"/>
          </a:solidFill>
          <a:ln/>
        </p:spPr>
      </p:sp>
      <p:sp>
        <p:nvSpPr>
          <p:cNvPr id="29" name="Text 26"/>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L'obiettivo non è sottrarre quote agli incumbent, ma internalizzare i 7.520 ritiri già captive nel bacino.</a:t>
            </a:r>
            <a:endParaRPr lang="en-US" sz="850" dirty="0"/>
          </a:p>
        </p:txBody>
      </p:sp>
      <p:sp>
        <p:nvSpPr>
          <p:cNvPr id="30" name="Shape 27"/>
          <p:cNvSpPr/>
          <p:nvPr/>
        </p:nvSpPr>
        <p:spPr>
          <a:xfrm>
            <a:off x="640080" y="6437376"/>
            <a:ext cx="10911535" cy="0"/>
          </a:xfrm>
          <a:prstGeom prst="line">
            <a:avLst/>
          </a:prstGeom>
          <a:noFill/>
          <a:ln w="12700">
            <a:solidFill>
              <a:srgbClr val="E4E1D9"/>
            </a:solidFill>
            <a:prstDash val="solid"/>
          </a:ln>
        </p:spPr>
      </p:sp>
      <p:sp>
        <p:nvSpPr>
          <p:cNvPr id="31" name="Text 28"/>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32" name="Text 29"/>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17 / 22</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10 · ANALISI ECONOMICA</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Il motore del progetto è il differenziale di costo per ritiro</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72768"/>
            <a:ext cx="7315200" cy="2880360"/>
          </a:xfrm>
          <a:prstGeom prst="roundRect">
            <a:avLst>
              <a:gd name="adj" fmla="val 2540"/>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costi_rampa.png">    </p:cNvPr>
          <p:cNvPicPr>
            <a:picLocks noChangeAspect="1"/>
          </p:cNvPicPr>
          <p:nvPr/>
        </p:nvPicPr>
        <p:blipFill>
          <a:blip r:embed="rId2"/>
          <a:stretch>
            <a:fillRect/>
          </a:stretch>
        </p:blipFill>
        <p:spPr>
          <a:xfrm>
            <a:off x="926301" y="1737360"/>
            <a:ext cx="6742758" cy="2551176"/>
          </a:xfrm>
          <a:prstGeom prst="rect">
            <a:avLst/>
          </a:prstGeom>
        </p:spPr>
      </p:pic>
      <p:sp>
        <p:nvSpPr>
          <p:cNvPr id="8" name="Text 4"/>
          <p:cNvSpPr/>
          <p:nvPr/>
        </p:nvSpPr>
        <p:spPr>
          <a:xfrm>
            <a:off x="640080" y="4498848"/>
            <a:ext cx="731520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10.2 — Struttura dei costi a regime (€239k/anno) e rampa di capacità.</a:t>
            </a:r>
            <a:endParaRPr lang="en-US" sz="850" dirty="0"/>
          </a:p>
        </p:txBody>
      </p:sp>
      <p:sp>
        <p:nvSpPr>
          <p:cNvPr id="9" name="Shape 5"/>
          <p:cNvSpPr/>
          <p:nvPr/>
        </p:nvSpPr>
        <p:spPr>
          <a:xfrm>
            <a:off x="8092440" y="1572768"/>
            <a:ext cx="3456432" cy="2880360"/>
          </a:xfrm>
          <a:prstGeom prst="roundRect">
            <a:avLst>
              <a:gd name="adj" fmla="val 2540"/>
            </a:avLst>
          </a:prstGeom>
          <a:solidFill>
            <a:srgbClr val="DEE8F3"/>
          </a:solidFill>
          <a:ln w="12700">
            <a:solidFill>
              <a:srgbClr val="C4D6EA"/>
            </a:solidFill>
            <a:prstDash val="solid"/>
          </a:ln>
          <a:effectLst>
            <a:outerShdw sx="100000" sy="100000" kx="0" ky="0" algn="bl" rotWithShape="0" blurRad="88900" dist="25400" dir="5400000">
              <a:srgbClr val="D9D5CC">
                <a:alpha val="40000"/>
              </a:srgbClr>
            </a:outerShdw>
          </a:effectLst>
        </p:spPr>
      </p:sp>
      <p:sp>
        <p:nvSpPr>
          <p:cNvPr id="10" name="Text 6"/>
          <p:cNvSpPr/>
          <p:nvPr/>
        </p:nvSpPr>
        <p:spPr>
          <a:xfrm>
            <a:off x="8366760" y="1737360"/>
            <a:ext cx="2926080" cy="274320"/>
          </a:xfrm>
          <a:prstGeom prst="rect">
            <a:avLst/>
          </a:prstGeom>
          <a:noFill/>
          <a:ln/>
        </p:spPr>
        <p:txBody>
          <a:bodyPr wrap="square" rtlCol="0" anchor="ctr"/>
          <a:lstStyle/>
          <a:p>
            <a:pPr indent="0" marL="0">
              <a:buNone/>
            </a:pPr>
            <a:r>
              <a:rPr lang="en-US" sz="950" b="1" spc="150" kern="0" dirty="0">
                <a:solidFill>
                  <a:srgbClr val="24406F"/>
                </a:solidFill>
                <a:latin typeface="Arial" pitchFamily="34" charset="0"/>
                <a:ea typeface="Arial" pitchFamily="34" charset="-122"/>
                <a:cs typeface="Arial" pitchFamily="34" charset="-120"/>
              </a:rPr>
              <a:t>IL DRIVER</a:t>
            </a:r>
            <a:endParaRPr lang="en-US" sz="950" dirty="0"/>
          </a:p>
        </p:txBody>
      </p:sp>
      <p:sp>
        <p:nvSpPr>
          <p:cNvPr id="11" name="Text 7"/>
          <p:cNvSpPr/>
          <p:nvPr/>
        </p:nvSpPr>
        <p:spPr>
          <a:xfrm>
            <a:off x="8366760" y="2103120"/>
            <a:ext cx="3017520" cy="548640"/>
          </a:xfrm>
          <a:prstGeom prst="rect">
            <a:avLst/>
          </a:prstGeom>
          <a:noFill/>
          <a:ln/>
        </p:spPr>
        <p:txBody>
          <a:bodyPr wrap="square" rtlCol="0" anchor="ctr"/>
          <a:lstStyle/>
          <a:p>
            <a:pPr indent="0" marL="0">
              <a:buNone/>
            </a:pPr>
            <a:r>
              <a:rPr lang="en-US" sz="2200" dirty="0">
                <a:solidFill>
                  <a:srgbClr val="4C5563"/>
                </a:solidFill>
                <a:latin typeface="Georgia" pitchFamily="34" charset="0"/>
                <a:ea typeface="Georgia" pitchFamily="34" charset="-122"/>
                <a:cs typeface="Georgia" pitchFamily="34" charset="-120"/>
              </a:rPr>
              <a:t>€43,67</a:t>
            </a:r>
            <a:pPr indent="0" marL="0">
              <a:buNone/>
            </a:pPr>
            <a:r>
              <a:rPr lang="en-US" sz="1600" dirty="0">
                <a:solidFill>
                  <a:srgbClr val="D8901A"/>
                </a:solidFill>
              </a:rPr>
              <a:t>  →  </a:t>
            </a:r>
            <a:pPr indent="0" marL="0">
              <a:buNone/>
            </a:pPr>
            <a:r>
              <a:rPr lang="en-US" sz="2200" dirty="0">
                <a:solidFill>
                  <a:srgbClr val="1E3A7B"/>
                </a:solidFill>
                <a:latin typeface="Georgia" pitchFamily="34" charset="0"/>
                <a:ea typeface="Georgia" pitchFamily="34" charset="-122"/>
                <a:cs typeface="Georgia" pitchFamily="34" charset="-120"/>
              </a:rPr>
              <a:t>€27,20</a:t>
            </a:r>
            <a:endParaRPr lang="en-US" sz="2200" dirty="0"/>
          </a:p>
        </p:txBody>
      </p:sp>
      <p:sp>
        <p:nvSpPr>
          <p:cNvPr id="12" name="Text 8"/>
          <p:cNvSpPr/>
          <p:nvPr/>
        </p:nvSpPr>
        <p:spPr>
          <a:xfrm>
            <a:off x="8366760" y="2670048"/>
            <a:ext cx="3017520" cy="365760"/>
          </a:xfrm>
          <a:prstGeom prst="rect">
            <a:avLst/>
          </a:prstGeom>
          <a:noFill/>
          <a:ln/>
        </p:spPr>
        <p:txBody>
          <a:bodyPr wrap="square" rtlCol="0" anchor="ctr"/>
          <a:lstStyle/>
          <a:p>
            <a:pPr indent="0" marL="0">
              <a:lnSpc>
                <a:spcPct val="105000"/>
              </a:lnSpc>
              <a:buNone/>
            </a:pPr>
            <a:r>
              <a:rPr lang="en-US" sz="900" dirty="0">
                <a:solidFill>
                  <a:srgbClr val="24406F"/>
                </a:solidFill>
                <a:latin typeface="Arial" pitchFamily="34" charset="0"/>
                <a:ea typeface="Arial" pitchFamily="34" charset="-122"/>
                <a:cs typeface="Arial" pitchFamily="34" charset="-120"/>
              </a:rPr>
              <a:t>costo vettore oggi → costo pieno navetta interna</a:t>
            </a:r>
            <a:endParaRPr lang="en-US" sz="900" dirty="0"/>
          </a:p>
        </p:txBody>
      </p:sp>
      <p:sp>
        <p:nvSpPr>
          <p:cNvPr id="13" name="Shape 9"/>
          <p:cNvSpPr/>
          <p:nvPr/>
        </p:nvSpPr>
        <p:spPr>
          <a:xfrm>
            <a:off x="8366760" y="3154680"/>
            <a:ext cx="2907792" cy="0"/>
          </a:xfrm>
          <a:prstGeom prst="line">
            <a:avLst/>
          </a:prstGeom>
          <a:noFill/>
          <a:ln w="12700">
            <a:solidFill>
              <a:srgbClr val="C4D6EA"/>
            </a:solidFill>
            <a:prstDash val="solid"/>
          </a:ln>
        </p:spPr>
      </p:sp>
      <p:sp>
        <p:nvSpPr>
          <p:cNvPr id="14" name="Text 10"/>
          <p:cNvSpPr/>
          <p:nvPr/>
        </p:nvSpPr>
        <p:spPr>
          <a:xfrm>
            <a:off x="8366760" y="3246120"/>
            <a:ext cx="3017520" cy="548640"/>
          </a:xfrm>
          <a:prstGeom prst="rect">
            <a:avLst/>
          </a:prstGeom>
          <a:noFill/>
          <a:ln/>
        </p:spPr>
        <p:txBody>
          <a:bodyPr wrap="square" rtlCol="0" anchor="ctr"/>
          <a:lstStyle/>
          <a:p>
            <a:pPr indent="0" marL="0">
              <a:buNone/>
            </a:pPr>
            <a:r>
              <a:rPr lang="en-US" sz="3000" dirty="0">
                <a:solidFill>
                  <a:srgbClr val="24406F"/>
                </a:solidFill>
                <a:latin typeface="Georgia" pitchFamily="34" charset="0"/>
                <a:ea typeface="Georgia" pitchFamily="34" charset="-122"/>
                <a:cs typeface="Georgia" pitchFamily="34" charset="-120"/>
              </a:rPr>
              <a:t>+€16,5</a:t>
            </a:r>
            <a:endParaRPr lang="en-US" sz="3000" dirty="0"/>
          </a:p>
        </p:txBody>
      </p:sp>
      <p:sp>
        <p:nvSpPr>
          <p:cNvPr id="15" name="Text 11"/>
          <p:cNvSpPr/>
          <p:nvPr/>
        </p:nvSpPr>
        <p:spPr>
          <a:xfrm>
            <a:off x="8366760" y="3794760"/>
            <a:ext cx="3017520" cy="640080"/>
          </a:xfrm>
          <a:prstGeom prst="rect">
            <a:avLst/>
          </a:prstGeom>
          <a:noFill/>
          <a:ln/>
        </p:spPr>
        <p:txBody>
          <a:bodyPr wrap="square" rtlCol="0" anchor="t"/>
          <a:lstStyle/>
          <a:p>
            <a:pPr algn="l" indent="0" marL="0">
              <a:lnSpc>
                <a:spcPct val="120000"/>
              </a:lnSpc>
              <a:buNone/>
            </a:pPr>
            <a:r>
              <a:rPr lang="en-US" sz="1000" dirty="0">
                <a:solidFill>
                  <a:srgbClr val="24406F"/>
                </a:solidFill>
                <a:latin typeface="Arial" pitchFamily="34" charset="0"/>
                <a:ea typeface="Arial" pitchFamily="34" charset="-122"/>
                <a:cs typeface="Arial" pitchFamily="34" charset="-120"/>
              </a:rPr>
              <a:t>di margine liberato per ogni ritiro internalizzato, su 7.520 ritiri/anno già contrattualizzati.</a:t>
            </a:r>
            <a:endParaRPr lang="en-US" sz="1000" dirty="0"/>
          </a:p>
        </p:txBody>
      </p:sp>
      <p:sp>
        <p:nvSpPr>
          <p:cNvPr id="16" name="Shape 12"/>
          <p:cNvSpPr/>
          <p:nvPr/>
        </p:nvSpPr>
        <p:spPr>
          <a:xfrm>
            <a:off x="640080" y="4754880"/>
            <a:ext cx="10908792" cy="932688"/>
          </a:xfrm>
          <a:prstGeom prst="roundRect">
            <a:avLst>
              <a:gd name="adj" fmla="val 7843"/>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7" name="Text 13"/>
          <p:cNvSpPr/>
          <p:nvPr/>
        </p:nvSpPr>
        <p:spPr>
          <a:xfrm>
            <a:off x="960120" y="4754880"/>
            <a:ext cx="10332720" cy="932688"/>
          </a:xfrm>
          <a:prstGeom prst="rect">
            <a:avLst/>
          </a:prstGeom>
          <a:noFill/>
          <a:ln/>
        </p:spPr>
        <p:txBody>
          <a:bodyPr wrap="square" rtlCol="0" anchor="ctr"/>
          <a:lstStyle/>
          <a:p>
            <a:pPr indent="0" marL="0">
              <a:lnSpc>
                <a:spcPct val="115000"/>
              </a:lnSpc>
              <a:buNone/>
            </a:pPr>
            <a:r>
              <a:rPr lang="en-US" sz="1400" b="1" dirty="0">
                <a:solidFill>
                  <a:srgbClr val="16255C"/>
                </a:solidFill>
                <a:latin typeface="Georgia" pitchFamily="34" charset="0"/>
                <a:ea typeface="Georgia" pitchFamily="34" charset="-122"/>
                <a:cs typeface="Georgia" pitchFamily="34" charset="-120"/>
              </a:rPr>
              <a:t>L'effetto controintuitivo   </a:t>
            </a:r>
            <a:pPr indent="0" marL="0">
              <a:lnSpc>
                <a:spcPct val="115000"/>
              </a:lnSpc>
              <a:buNone/>
            </a:pPr>
            <a:r>
              <a:rPr lang="en-US" sz="1100" dirty="0">
                <a:solidFill>
                  <a:srgbClr val="4C5563"/>
                </a:solidFill>
              </a:rPr>
              <a:t>il beneficio deriva dal differenziale tra costo vettore e costo interno, non dal ricavo di trasporto: la compressione dei margini commerciali rende l'internalizzazione ancora più conveniente.</a:t>
            </a:r>
            <a:endParaRPr lang="en-US" sz="1400" dirty="0"/>
          </a:p>
        </p:txBody>
      </p:sp>
      <p:sp>
        <p:nvSpPr>
          <p:cNvPr id="18" name="Shape 14"/>
          <p:cNvSpPr/>
          <p:nvPr/>
        </p:nvSpPr>
        <p:spPr>
          <a:xfrm>
            <a:off x="640080" y="6437376"/>
            <a:ext cx="10911535" cy="0"/>
          </a:xfrm>
          <a:prstGeom prst="line">
            <a:avLst/>
          </a:prstGeom>
          <a:noFill/>
          <a:ln w="12700">
            <a:solidFill>
              <a:srgbClr val="E4E1D9"/>
            </a:solidFill>
            <a:prstDash val="solid"/>
          </a:ln>
        </p:spPr>
      </p:sp>
      <p:sp>
        <p:nvSpPr>
          <p:cNvPr id="19" name="Text 15"/>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0" name="Text 16"/>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18 / 22</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10.5 · SCENARI DI RITORNO</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Un investimento di €78 mila che rientra in 1,5 anni</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72768"/>
            <a:ext cx="6400800" cy="4023360"/>
          </a:xfrm>
          <a:prstGeom prst="roundRect">
            <a:avLst>
              <a:gd name="adj" fmla="val 1818"/>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flussi_cumulati.png">    </p:cNvPr>
          <p:cNvPicPr>
            <a:picLocks noChangeAspect="1"/>
          </p:cNvPicPr>
          <p:nvPr/>
        </p:nvPicPr>
        <p:blipFill>
          <a:blip r:embed="rId2"/>
          <a:stretch>
            <a:fillRect/>
          </a:stretch>
        </p:blipFill>
        <p:spPr>
          <a:xfrm>
            <a:off x="804672" y="1790235"/>
            <a:ext cx="6071616" cy="3588426"/>
          </a:xfrm>
          <a:prstGeom prst="rect">
            <a:avLst/>
          </a:prstGeom>
        </p:spPr>
      </p:pic>
      <p:sp>
        <p:nvSpPr>
          <p:cNvPr id="8" name="Text 4"/>
          <p:cNvSpPr/>
          <p:nvPr/>
        </p:nvSpPr>
        <p:spPr>
          <a:xfrm>
            <a:off x="640080" y="5632704"/>
            <a:ext cx="640080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10.1 — Flussi cumulati: rientro tra 1,0 e 3,9 anni secondo lo scenario.</a:t>
            </a:r>
            <a:endParaRPr lang="en-US" sz="850" dirty="0"/>
          </a:p>
        </p:txBody>
      </p:sp>
      <p:sp>
        <p:nvSpPr>
          <p:cNvPr id="9" name="Text 5"/>
          <p:cNvSpPr/>
          <p:nvPr/>
        </p:nvSpPr>
        <p:spPr>
          <a:xfrm>
            <a:off x="7269480" y="1600200"/>
            <a:ext cx="4297680" cy="731520"/>
          </a:xfrm>
          <a:prstGeom prst="rect">
            <a:avLst/>
          </a:prstGeom>
          <a:noFill/>
          <a:ln/>
        </p:spPr>
        <p:txBody>
          <a:bodyPr wrap="square" rtlCol="0" anchor="t"/>
          <a:lstStyle/>
          <a:p>
            <a:pPr algn="l" indent="0" marL="0">
              <a:lnSpc>
                <a:spcPct val="130000"/>
              </a:lnSpc>
              <a:buNone/>
            </a:pPr>
            <a:r>
              <a:rPr lang="en-US" sz="1150" dirty="0">
                <a:solidFill>
                  <a:srgbClr val="4C5563"/>
                </a:solidFill>
                <a:latin typeface="Arial" pitchFamily="34" charset="0"/>
                <a:ea typeface="Arial" pitchFamily="34" charset="-122"/>
                <a:cs typeface="Arial" pitchFamily="34" charset="-120"/>
              </a:rPr>
              <a:t>La simulazione assume una sede di 350 mq, 4,0 FTE e una navetta dedicata. L'investimento iniziale è di €78.000.</a:t>
            </a:r>
            <a:endParaRPr lang="en-US" sz="1150" dirty="0"/>
          </a:p>
        </p:txBody>
      </p:sp>
      <p:sp>
        <p:nvSpPr>
          <p:cNvPr id="10" name="Shape 6"/>
          <p:cNvSpPr/>
          <p:nvPr/>
        </p:nvSpPr>
        <p:spPr>
          <a:xfrm>
            <a:off x="7269480" y="2514600"/>
            <a:ext cx="4297680" cy="658368"/>
          </a:xfrm>
          <a:prstGeom prst="roundRect">
            <a:avLst>
              <a:gd name="adj" fmla="val 11111"/>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1" name="Text 7"/>
          <p:cNvSpPr/>
          <p:nvPr/>
        </p:nvSpPr>
        <p:spPr>
          <a:xfrm>
            <a:off x="7498080" y="2514600"/>
            <a:ext cx="2286000" cy="658368"/>
          </a:xfrm>
          <a:prstGeom prst="rect">
            <a:avLst/>
          </a:prstGeom>
          <a:noFill/>
          <a:ln/>
        </p:spPr>
        <p:txBody>
          <a:bodyPr wrap="square" rtlCol="0" anchor="ctr"/>
          <a:lstStyle/>
          <a:p>
            <a:pPr indent="0" marL="0">
              <a:lnSpc>
                <a:spcPct val="95000"/>
              </a:lnSpc>
              <a:buNone/>
            </a:pPr>
            <a:r>
              <a:rPr lang="en-US" sz="900" b="1" spc="80" kern="0" dirty="0">
                <a:solidFill>
                  <a:srgbClr val="8A929B"/>
                </a:solidFill>
                <a:latin typeface="Arial" pitchFamily="34" charset="0"/>
                <a:ea typeface="Arial" pitchFamily="34" charset="-122"/>
                <a:cs typeface="Arial" pitchFamily="34" charset="-120"/>
              </a:rPr>
              <a:t>BENEFICIO NETTO ANNUO</a:t>
            </a:r>
            <a:endParaRPr lang="en-US" sz="900" dirty="0"/>
          </a:p>
        </p:txBody>
      </p:sp>
      <p:sp>
        <p:nvSpPr>
          <p:cNvPr id="12" name="Text 8"/>
          <p:cNvSpPr/>
          <p:nvPr/>
        </p:nvSpPr>
        <p:spPr>
          <a:xfrm>
            <a:off x="9509760" y="2514600"/>
            <a:ext cx="1920240" cy="658368"/>
          </a:xfrm>
          <a:prstGeom prst="rect">
            <a:avLst/>
          </a:prstGeom>
          <a:noFill/>
          <a:ln/>
        </p:spPr>
        <p:txBody>
          <a:bodyPr wrap="square" rtlCol="0" anchor="ctr"/>
          <a:lstStyle/>
          <a:p>
            <a:pPr algn="r" indent="0" marL="0">
              <a:buNone/>
            </a:pPr>
            <a:r>
              <a:rPr lang="en-US" sz="1500" dirty="0">
                <a:solidFill>
                  <a:srgbClr val="1E3A7B"/>
                </a:solidFill>
                <a:latin typeface="Georgia" pitchFamily="34" charset="0"/>
                <a:ea typeface="Georgia" pitchFamily="34" charset="-122"/>
                <a:cs typeface="Georgia" pitchFamily="34" charset="-120"/>
              </a:rPr>
              <a:t>€20-78 mila</a:t>
            </a:r>
            <a:endParaRPr lang="en-US" sz="1500" dirty="0"/>
          </a:p>
        </p:txBody>
      </p:sp>
      <p:sp>
        <p:nvSpPr>
          <p:cNvPr id="13" name="Shape 9"/>
          <p:cNvSpPr/>
          <p:nvPr/>
        </p:nvSpPr>
        <p:spPr>
          <a:xfrm>
            <a:off x="7269480" y="3291840"/>
            <a:ext cx="4297680" cy="658368"/>
          </a:xfrm>
          <a:prstGeom prst="roundRect">
            <a:avLst>
              <a:gd name="adj" fmla="val 11111"/>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4" name="Text 10"/>
          <p:cNvSpPr/>
          <p:nvPr/>
        </p:nvSpPr>
        <p:spPr>
          <a:xfrm>
            <a:off x="7498080" y="3291840"/>
            <a:ext cx="2286000" cy="658368"/>
          </a:xfrm>
          <a:prstGeom prst="rect">
            <a:avLst/>
          </a:prstGeom>
          <a:noFill/>
          <a:ln/>
        </p:spPr>
        <p:txBody>
          <a:bodyPr wrap="square" rtlCol="0" anchor="ctr"/>
          <a:lstStyle/>
          <a:p>
            <a:pPr indent="0" marL="0">
              <a:lnSpc>
                <a:spcPct val="95000"/>
              </a:lnSpc>
              <a:buNone/>
            </a:pPr>
            <a:r>
              <a:rPr lang="en-US" sz="900" b="1" spc="80" kern="0" dirty="0">
                <a:solidFill>
                  <a:srgbClr val="8A929B"/>
                </a:solidFill>
                <a:latin typeface="Arial" pitchFamily="34" charset="0"/>
                <a:ea typeface="Arial" pitchFamily="34" charset="-122"/>
                <a:cs typeface="Arial" pitchFamily="34" charset="-120"/>
              </a:rPr>
              <a:t>PAYBACK PERIOD</a:t>
            </a:r>
            <a:endParaRPr lang="en-US" sz="900" dirty="0"/>
          </a:p>
        </p:txBody>
      </p:sp>
      <p:sp>
        <p:nvSpPr>
          <p:cNvPr id="15" name="Text 11"/>
          <p:cNvSpPr/>
          <p:nvPr/>
        </p:nvSpPr>
        <p:spPr>
          <a:xfrm>
            <a:off x="9509760" y="3291840"/>
            <a:ext cx="1920240" cy="658368"/>
          </a:xfrm>
          <a:prstGeom prst="rect">
            <a:avLst/>
          </a:prstGeom>
          <a:noFill/>
          <a:ln/>
        </p:spPr>
        <p:txBody>
          <a:bodyPr wrap="square" rtlCol="0" anchor="ctr"/>
          <a:lstStyle/>
          <a:p>
            <a:pPr algn="r" indent="0" marL="0">
              <a:buNone/>
            </a:pPr>
            <a:r>
              <a:rPr lang="en-US" sz="1500" dirty="0">
                <a:solidFill>
                  <a:srgbClr val="1E3A7B"/>
                </a:solidFill>
                <a:latin typeface="Georgia" pitchFamily="34" charset="0"/>
                <a:ea typeface="Georgia" pitchFamily="34" charset="-122"/>
                <a:cs typeface="Georgia" pitchFamily="34" charset="-120"/>
              </a:rPr>
              <a:t>3,9 / 1,5 / 1,0 anni</a:t>
            </a:r>
            <a:endParaRPr lang="en-US" sz="1500" dirty="0"/>
          </a:p>
        </p:txBody>
      </p:sp>
      <p:sp>
        <p:nvSpPr>
          <p:cNvPr id="16" name="Shape 12"/>
          <p:cNvSpPr/>
          <p:nvPr/>
        </p:nvSpPr>
        <p:spPr>
          <a:xfrm>
            <a:off x="7269480" y="4069080"/>
            <a:ext cx="4297680" cy="658368"/>
          </a:xfrm>
          <a:prstGeom prst="roundRect">
            <a:avLst>
              <a:gd name="adj" fmla="val 11111"/>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17" name="Text 13"/>
          <p:cNvSpPr/>
          <p:nvPr/>
        </p:nvSpPr>
        <p:spPr>
          <a:xfrm>
            <a:off x="7498080" y="4069080"/>
            <a:ext cx="2286000" cy="658368"/>
          </a:xfrm>
          <a:prstGeom prst="rect">
            <a:avLst/>
          </a:prstGeom>
          <a:noFill/>
          <a:ln/>
        </p:spPr>
        <p:txBody>
          <a:bodyPr wrap="square" rtlCol="0" anchor="ctr"/>
          <a:lstStyle/>
          <a:p>
            <a:pPr indent="0" marL="0">
              <a:lnSpc>
                <a:spcPct val="95000"/>
              </a:lnSpc>
              <a:buNone/>
            </a:pPr>
            <a:r>
              <a:rPr lang="en-US" sz="900" b="1" spc="80" kern="0" dirty="0">
                <a:solidFill>
                  <a:srgbClr val="8A929B"/>
                </a:solidFill>
                <a:latin typeface="Arial" pitchFamily="34" charset="0"/>
                <a:ea typeface="Arial" pitchFamily="34" charset="-122"/>
                <a:cs typeface="Arial" pitchFamily="34" charset="-120"/>
              </a:rPr>
              <a:t>ROI A 5 ANNI</a:t>
            </a:r>
            <a:endParaRPr lang="en-US" sz="900" dirty="0"/>
          </a:p>
        </p:txBody>
      </p:sp>
      <p:sp>
        <p:nvSpPr>
          <p:cNvPr id="18" name="Text 14"/>
          <p:cNvSpPr/>
          <p:nvPr/>
        </p:nvSpPr>
        <p:spPr>
          <a:xfrm>
            <a:off x="9509760" y="4069080"/>
            <a:ext cx="1920240" cy="658368"/>
          </a:xfrm>
          <a:prstGeom prst="rect">
            <a:avLst/>
          </a:prstGeom>
          <a:noFill/>
          <a:ln/>
        </p:spPr>
        <p:txBody>
          <a:bodyPr wrap="square" rtlCol="0" anchor="ctr"/>
          <a:lstStyle/>
          <a:p>
            <a:pPr algn="r" indent="0" marL="0">
              <a:buNone/>
            </a:pPr>
            <a:r>
              <a:rPr lang="en-US" sz="1500" dirty="0">
                <a:solidFill>
                  <a:srgbClr val="D8901A"/>
                </a:solidFill>
                <a:latin typeface="Georgia" pitchFamily="34" charset="0"/>
                <a:ea typeface="Georgia" pitchFamily="34" charset="-122"/>
                <a:cs typeface="Georgia" pitchFamily="34" charset="-120"/>
              </a:rPr>
              <a:t>+29% / +239% / +401%</a:t>
            </a:r>
            <a:endParaRPr lang="en-US" sz="1500" dirty="0"/>
          </a:p>
        </p:txBody>
      </p:sp>
      <p:sp>
        <p:nvSpPr>
          <p:cNvPr id="19" name="Shape 15"/>
          <p:cNvSpPr/>
          <p:nvPr/>
        </p:nvSpPr>
        <p:spPr>
          <a:xfrm>
            <a:off x="7269480" y="4846320"/>
            <a:ext cx="4297680" cy="658368"/>
          </a:xfrm>
          <a:prstGeom prst="roundRect">
            <a:avLst>
              <a:gd name="adj" fmla="val 11111"/>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sp>
        <p:nvSpPr>
          <p:cNvPr id="20" name="Text 16"/>
          <p:cNvSpPr/>
          <p:nvPr/>
        </p:nvSpPr>
        <p:spPr>
          <a:xfrm>
            <a:off x="7498080" y="4846320"/>
            <a:ext cx="2286000" cy="658368"/>
          </a:xfrm>
          <a:prstGeom prst="rect">
            <a:avLst/>
          </a:prstGeom>
          <a:noFill/>
          <a:ln/>
        </p:spPr>
        <p:txBody>
          <a:bodyPr wrap="square" rtlCol="0" anchor="ctr"/>
          <a:lstStyle/>
          <a:p>
            <a:pPr indent="0" marL="0">
              <a:lnSpc>
                <a:spcPct val="95000"/>
              </a:lnSpc>
              <a:buNone/>
            </a:pPr>
            <a:r>
              <a:rPr lang="en-US" sz="900" b="1" spc="80" kern="0" dirty="0">
                <a:solidFill>
                  <a:srgbClr val="8A929B"/>
                </a:solidFill>
                <a:latin typeface="Arial" pitchFamily="34" charset="0"/>
                <a:ea typeface="Arial" pitchFamily="34" charset="-122"/>
                <a:cs typeface="Arial" pitchFamily="34" charset="-120"/>
              </a:rPr>
              <a:t>BREAK-EVEN OPERATIVO</a:t>
            </a:r>
            <a:endParaRPr lang="en-US" sz="900" dirty="0"/>
          </a:p>
        </p:txBody>
      </p:sp>
      <p:sp>
        <p:nvSpPr>
          <p:cNvPr id="21" name="Text 17"/>
          <p:cNvSpPr/>
          <p:nvPr/>
        </p:nvSpPr>
        <p:spPr>
          <a:xfrm>
            <a:off x="9509760" y="4846320"/>
            <a:ext cx="1920240" cy="658368"/>
          </a:xfrm>
          <a:prstGeom prst="rect">
            <a:avLst/>
          </a:prstGeom>
          <a:noFill/>
          <a:ln/>
        </p:spPr>
        <p:txBody>
          <a:bodyPr wrap="square" rtlCol="0" anchor="ctr"/>
          <a:lstStyle/>
          <a:p>
            <a:pPr algn="r" indent="0" marL="0">
              <a:buNone/>
            </a:pPr>
            <a:r>
              <a:rPr lang="en-US" sz="1500" dirty="0">
                <a:solidFill>
                  <a:srgbClr val="1E3A7B"/>
                </a:solidFill>
                <a:latin typeface="Georgia" pitchFamily="34" charset="0"/>
                <a:ea typeface="Georgia" pitchFamily="34" charset="-122"/>
                <a:cs typeface="Georgia" pitchFamily="34" charset="-120"/>
              </a:rPr>
              <a:t>11.800 movimenti/anno</a:t>
            </a:r>
            <a:endParaRPr lang="en-US" sz="1500" dirty="0"/>
          </a:p>
        </p:txBody>
      </p:sp>
      <p:sp>
        <p:nvSpPr>
          <p:cNvPr id="22" name="Shape 18"/>
          <p:cNvSpPr/>
          <p:nvPr/>
        </p:nvSpPr>
        <p:spPr>
          <a:xfrm>
            <a:off x="640080" y="5870448"/>
            <a:ext cx="10911535" cy="438912"/>
          </a:xfrm>
          <a:prstGeom prst="roundRect">
            <a:avLst>
              <a:gd name="adj" fmla="val 10417"/>
            </a:avLst>
          </a:prstGeom>
          <a:solidFill>
            <a:srgbClr val="DEE8F3"/>
          </a:solidFill>
          <a:ln/>
        </p:spPr>
      </p:sp>
      <p:sp>
        <p:nvSpPr>
          <p:cNvPr id="23" name="Shape 19"/>
          <p:cNvSpPr/>
          <p:nvPr/>
        </p:nvSpPr>
        <p:spPr>
          <a:xfrm>
            <a:off x="640080" y="5870448"/>
            <a:ext cx="64008" cy="438912"/>
          </a:xfrm>
          <a:prstGeom prst="rect">
            <a:avLst/>
          </a:prstGeom>
          <a:solidFill>
            <a:srgbClr val="1E7DC2"/>
          </a:solidFill>
          <a:ln/>
        </p:spPr>
      </p:sp>
      <p:sp>
        <p:nvSpPr>
          <p:cNvPr id="24" name="Text 20"/>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Il progetto resta in payback anche nello scenario prudenziale: rischio basso, upside significativo.</a:t>
            </a:r>
            <a:endParaRPr lang="en-US" sz="850" dirty="0"/>
          </a:p>
        </p:txBody>
      </p:sp>
      <p:sp>
        <p:nvSpPr>
          <p:cNvPr id="25" name="Shape 21"/>
          <p:cNvSpPr/>
          <p:nvPr/>
        </p:nvSpPr>
        <p:spPr>
          <a:xfrm>
            <a:off x="640080" y="6437376"/>
            <a:ext cx="10911535" cy="0"/>
          </a:xfrm>
          <a:prstGeom prst="line">
            <a:avLst/>
          </a:prstGeom>
          <a:noFill/>
          <a:ln w="12700">
            <a:solidFill>
              <a:srgbClr val="E4E1D9"/>
            </a:solidFill>
            <a:prstDash val="solid"/>
          </a:ln>
        </p:spPr>
      </p:sp>
      <p:sp>
        <p:nvSpPr>
          <p:cNvPr id="26" name="Text 22"/>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7" name="Text 23"/>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19 / 22</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12 · BUSINESS INTELLIGENCE</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Un cruscotto per il monitoraggio direzionale</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72768"/>
            <a:ext cx="6949440" cy="4069080"/>
          </a:xfrm>
          <a:prstGeom prst="roundRect">
            <a:avLst>
              <a:gd name="adj" fmla="val 1798"/>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dashboard.png">    </p:cNvPr>
          <p:cNvPicPr>
            <a:picLocks noChangeAspect="1"/>
          </p:cNvPicPr>
          <p:nvPr/>
        </p:nvPicPr>
        <p:blipFill>
          <a:blip r:embed="rId2"/>
          <a:stretch>
            <a:fillRect/>
          </a:stretch>
        </p:blipFill>
        <p:spPr>
          <a:xfrm>
            <a:off x="1235080" y="1737360"/>
            <a:ext cx="5759440" cy="3739896"/>
          </a:xfrm>
          <a:prstGeom prst="rect">
            <a:avLst/>
          </a:prstGeom>
        </p:spPr>
      </p:pic>
      <p:sp>
        <p:nvSpPr>
          <p:cNvPr id="8" name="Text 4"/>
          <p:cNvSpPr/>
          <p:nvPr/>
        </p:nvSpPr>
        <p:spPr>
          <a:xfrm>
            <a:off x="640080" y="5669280"/>
            <a:ext cx="694944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12.1 — Dashboard direzionale: domanda, costi, servizio e mix assicurativo.</a:t>
            </a:r>
            <a:endParaRPr lang="en-US" sz="850" dirty="0"/>
          </a:p>
        </p:txBody>
      </p:sp>
      <p:sp>
        <p:nvSpPr>
          <p:cNvPr id="9" name="Text 5"/>
          <p:cNvSpPr/>
          <p:nvPr/>
        </p:nvSpPr>
        <p:spPr>
          <a:xfrm>
            <a:off x="7818120" y="1600200"/>
            <a:ext cx="3749040" cy="914400"/>
          </a:xfrm>
          <a:prstGeom prst="rect">
            <a:avLst/>
          </a:prstGeom>
          <a:noFill/>
          <a:ln/>
        </p:spPr>
        <p:txBody>
          <a:bodyPr wrap="square" rtlCol="0" anchor="t"/>
          <a:lstStyle/>
          <a:p>
            <a:pPr algn="l" indent="0" marL="0">
              <a:lnSpc>
                <a:spcPct val="130000"/>
              </a:lnSpc>
              <a:buNone/>
            </a:pPr>
            <a:r>
              <a:rPr lang="en-US" sz="1150" dirty="0">
                <a:solidFill>
                  <a:srgbClr val="4C5563"/>
                </a:solidFill>
                <a:latin typeface="Arial" pitchFamily="34" charset="0"/>
                <a:ea typeface="Arial" pitchFamily="34" charset="-122"/>
                <a:cs typeface="Arial" pitchFamily="34" charset="-120"/>
              </a:rPr>
              <a:t>Il cruscotto di sintesi mette a confronto valore attuale e target al terzo anno, con soglie di allerta e revisione trimestrale in Direzione.</a:t>
            </a:r>
            <a:endParaRPr lang="en-US" sz="1150" dirty="0"/>
          </a:p>
        </p:txBody>
      </p:sp>
      <p:sp>
        <p:nvSpPr>
          <p:cNvPr id="10" name="Text 6"/>
          <p:cNvSpPr/>
          <p:nvPr/>
        </p:nvSpPr>
        <p:spPr>
          <a:xfrm>
            <a:off x="7818120" y="2697480"/>
            <a:ext cx="3749040" cy="256032"/>
          </a:xfrm>
          <a:prstGeom prst="rect">
            <a:avLst/>
          </a:prstGeom>
          <a:noFill/>
          <a:ln/>
        </p:spPr>
        <p:txBody>
          <a:bodyPr wrap="square" rtlCol="0" anchor="ctr"/>
          <a:lstStyle/>
          <a:p>
            <a:pPr indent="0" marL="0">
              <a:buNone/>
            </a:pPr>
            <a:r>
              <a:rPr lang="en-US" sz="900" b="1" spc="120" kern="0" dirty="0">
                <a:solidFill>
                  <a:srgbClr val="8A929B"/>
                </a:solidFill>
                <a:latin typeface="Arial" pitchFamily="34" charset="0"/>
                <a:ea typeface="Arial" pitchFamily="34" charset="-122"/>
                <a:cs typeface="Arial" pitchFamily="34" charset="-120"/>
              </a:rPr>
              <a:t>ATTUALE → TARGET ANNO 3</a:t>
            </a:r>
            <a:endParaRPr lang="en-US" sz="900" dirty="0"/>
          </a:p>
        </p:txBody>
      </p:sp>
      <p:sp>
        <p:nvSpPr>
          <p:cNvPr id="11" name="Text 7"/>
          <p:cNvSpPr/>
          <p:nvPr/>
        </p:nvSpPr>
        <p:spPr>
          <a:xfrm>
            <a:off x="7818120" y="3035808"/>
            <a:ext cx="2103120" cy="548640"/>
          </a:xfrm>
          <a:prstGeom prst="rect">
            <a:avLst/>
          </a:prstGeom>
          <a:noFill/>
          <a:ln/>
        </p:spPr>
        <p:txBody>
          <a:bodyPr wrap="square" rtlCol="0" anchor="ctr"/>
          <a:lstStyle/>
          <a:p>
            <a:pPr indent="0" marL="0">
              <a:lnSpc>
                <a:spcPct val="95000"/>
              </a:lnSpc>
              <a:buNone/>
            </a:pPr>
            <a:r>
              <a:rPr lang="en-US" sz="1050" dirty="0">
                <a:solidFill>
                  <a:srgbClr val="16255C"/>
                </a:solidFill>
                <a:latin typeface="Arial" pitchFamily="34" charset="0"/>
                <a:ea typeface="Arial" pitchFamily="34" charset="-122"/>
                <a:cs typeface="Arial" pitchFamily="34" charset="-120"/>
              </a:rPr>
              <a:t>Costo/ritiro bacino</a:t>
            </a:r>
            <a:endParaRPr lang="en-US" sz="1050" dirty="0"/>
          </a:p>
        </p:txBody>
      </p:sp>
      <p:sp>
        <p:nvSpPr>
          <p:cNvPr id="12" name="Text 8"/>
          <p:cNvSpPr/>
          <p:nvPr/>
        </p:nvSpPr>
        <p:spPr>
          <a:xfrm>
            <a:off x="9601200" y="3035808"/>
            <a:ext cx="1965960" cy="548640"/>
          </a:xfrm>
          <a:prstGeom prst="rect">
            <a:avLst/>
          </a:prstGeom>
          <a:noFill/>
          <a:ln/>
        </p:spPr>
        <p:txBody>
          <a:bodyPr wrap="square" rtlCol="0" anchor="ctr"/>
          <a:lstStyle/>
          <a:p>
            <a:pPr algn="r" indent="0" marL="0">
              <a:buNone/>
            </a:pPr>
            <a:r>
              <a:rPr lang="en-US" sz="1100" dirty="0">
                <a:solidFill>
                  <a:srgbClr val="8A929B"/>
                </a:solidFill>
              </a:rPr>
              <a:t>€43,67  </a:t>
            </a:r>
            <a:pPr algn="r" indent="0" marL="0">
              <a:buNone/>
            </a:pPr>
            <a:r>
              <a:rPr lang="en-US" sz="1000" dirty="0">
                <a:solidFill>
                  <a:srgbClr val="D8901A"/>
                </a:solidFill>
              </a:rPr>
              <a:t>→ </a:t>
            </a:r>
            <a:pPr algn="r" indent="0" marL="0">
              <a:buNone/>
            </a:pPr>
            <a:r>
              <a:rPr lang="en-US" sz="1400" b="1" dirty="0">
                <a:solidFill>
                  <a:srgbClr val="1E3A7B"/>
                </a:solidFill>
                <a:latin typeface="Georgia" pitchFamily="34" charset="0"/>
                <a:ea typeface="Georgia" pitchFamily="34" charset="-122"/>
                <a:cs typeface="Georgia" pitchFamily="34" charset="-120"/>
              </a:rPr>
              <a:t>€27,20</a:t>
            </a:r>
            <a:endParaRPr lang="en-US" sz="1100" dirty="0"/>
          </a:p>
        </p:txBody>
      </p:sp>
      <p:sp>
        <p:nvSpPr>
          <p:cNvPr id="13" name="Shape 9"/>
          <p:cNvSpPr/>
          <p:nvPr/>
        </p:nvSpPr>
        <p:spPr>
          <a:xfrm>
            <a:off x="7818120" y="3602736"/>
            <a:ext cx="3749040" cy="0"/>
          </a:xfrm>
          <a:prstGeom prst="line">
            <a:avLst/>
          </a:prstGeom>
          <a:noFill/>
          <a:ln w="9525">
            <a:solidFill>
              <a:srgbClr val="E4E1D9"/>
            </a:solidFill>
            <a:prstDash val="solid"/>
          </a:ln>
        </p:spPr>
      </p:sp>
      <p:sp>
        <p:nvSpPr>
          <p:cNvPr id="14" name="Text 10"/>
          <p:cNvSpPr/>
          <p:nvPr/>
        </p:nvSpPr>
        <p:spPr>
          <a:xfrm>
            <a:off x="7818120" y="3694176"/>
            <a:ext cx="2103120" cy="548640"/>
          </a:xfrm>
          <a:prstGeom prst="rect">
            <a:avLst/>
          </a:prstGeom>
          <a:noFill/>
          <a:ln/>
        </p:spPr>
        <p:txBody>
          <a:bodyPr wrap="square" rtlCol="0" anchor="ctr"/>
          <a:lstStyle/>
          <a:p>
            <a:pPr indent="0" marL="0">
              <a:lnSpc>
                <a:spcPct val="95000"/>
              </a:lnSpc>
              <a:buNone/>
            </a:pPr>
            <a:r>
              <a:rPr lang="en-US" sz="1050" dirty="0">
                <a:solidFill>
                  <a:srgbClr val="16255C"/>
                </a:solidFill>
                <a:latin typeface="Arial" pitchFamily="34" charset="0"/>
                <a:ea typeface="Arial" pitchFamily="34" charset="-122"/>
                <a:cs typeface="Arial" pitchFamily="34" charset="-120"/>
              </a:rPr>
              <a:t>Puntualità OTD</a:t>
            </a:r>
            <a:endParaRPr lang="en-US" sz="1050" dirty="0"/>
          </a:p>
        </p:txBody>
      </p:sp>
      <p:sp>
        <p:nvSpPr>
          <p:cNvPr id="15" name="Text 11"/>
          <p:cNvSpPr/>
          <p:nvPr/>
        </p:nvSpPr>
        <p:spPr>
          <a:xfrm>
            <a:off x="9601200" y="3694176"/>
            <a:ext cx="1965960" cy="548640"/>
          </a:xfrm>
          <a:prstGeom prst="rect">
            <a:avLst/>
          </a:prstGeom>
          <a:noFill/>
          <a:ln/>
        </p:spPr>
        <p:txBody>
          <a:bodyPr wrap="square" rtlCol="0" anchor="ctr"/>
          <a:lstStyle/>
          <a:p>
            <a:pPr algn="r" indent="0" marL="0">
              <a:buNone/>
            </a:pPr>
            <a:r>
              <a:rPr lang="en-US" sz="1100" dirty="0">
                <a:solidFill>
                  <a:srgbClr val="8A929B"/>
                </a:solidFill>
              </a:rPr>
              <a:t>79,8%  </a:t>
            </a:r>
            <a:pPr algn="r" indent="0" marL="0">
              <a:buNone/>
            </a:pPr>
            <a:r>
              <a:rPr lang="en-US" sz="1000" dirty="0">
                <a:solidFill>
                  <a:srgbClr val="D8901A"/>
                </a:solidFill>
              </a:rPr>
              <a:t>→ </a:t>
            </a:r>
            <a:pPr algn="r" indent="0" marL="0">
              <a:buNone/>
            </a:pPr>
            <a:r>
              <a:rPr lang="en-US" sz="1400" b="1" dirty="0">
                <a:solidFill>
                  <a:srgbClr val="1E3A7B"/>
                </a:solidFill>
                <a:latin typeface="Georgia" pitchFamily="34" charset="0"/>
                <a:ea typeface="Georgia" pitchFamily="34" charset="-122"/>
                <a:cs typeface="Georgia" pitchFamily="34" charset="-120"/>
              </a:rPr>
              <a:t>≥ 90%</a:t>
            </a:r>
            <a:endParaRPr lang="en-US" sz="1100" dirty="0"/>
          </a:p>
        </p:txBody>
      </p:sp>
      <p:sp>
        <p:nvSpPr>
          <p:cNvPr id="16" name="Shape 12"/>
          <p:cNvSpPr/>
          <p:nvPr/>
        </p:nvSpPr>
        <p:spPr>
          <a:xfrm>
            <a:off x="7818120" y="4261104"/>
            <a:ext cx="3749040" cy="0"/>
          </a:xfrm>
          <a:prstGeom prst="line">
            <a:avLst/>
          </a:prstGeom>
          <a:noFill/>
          <a:ln w="9525">
            <a:solidFill>
              <a:srgbClr val="E4E1D9"/>
            </a:solidFill>
            <a:prstDash val="solid"/>
          </a:ln>
        </p:spPr>
      </p:sp>
      <p:sp>
        <p:nvSpPr>
          <p:cNvPr id="17" name="Text 13"/>
          <p:cNvSpPr/>
          <p:nvPr/>
        </p:nvSpPr>
        <p:spPr>
          <a:xfrm>
            <a:off x="7818120" y="4352544"/>
            <a:ext cx="2103120" cy="548640"/>
          </a:xfrm>
          <a:prstGeom prst="rect">
            <a:avLst/>
          </a:prstGeom>
          <a:noFill/>
          <a:ln/>
        </p:spPr>
        <p:txBody>
          <a:bodyPr wrap="square" rtlCol="0" anchor="ctr"/>
          <a:lstStyle/>
          <a:p>
            <a:pPr indent="0" marL="0">
              <a:lnSpc>
                <a:spcPct val="95000"/>
              </a:lnSpc>
              <a:buNone/>
            </a:pPr>
            <a:r>
              <a:rPr lang="en-US" sz="1050" dirty="0">
                <a:solidFill>
                  <a:srgbClr val="16255C"/>
                </a:solidFill>
                <a:latin typeface="Arial" pitchFamily="34" charset="0"/>
                <a:ea typeface="Arial" pitchFamily="34" charset="-122"/>
                <a:cs typeface="Arial" pitchFamily="34" charset="-120"/>
              </a:rPr>
              <a:t>Lead time</a:t>
            </a:r>
            <a:endParaRPr lang="en-US" sz="1050" dirty="0"/>
          </a:p>
        </p:txBody>
      </p:sp>
      <p:sp>
        <p:nvSpPr>
          <p:cNvPr id="18" name="Text 14"/>
          <p:cNvSpPr/>
          <p:nvPr/>
        </p:nvSpPr>
        <p:spPr>
          <a:xfrm>
            <a:off x="9601200" y="4352544"/>
            <a:ext cx="1965960" cy="548640"/>
          </a:xfrm>
          <a:prstGeom prst="rect">
            <a:avLst/>
          </a:prstGeom>
          <a:noFill/>
          <a:ln/>
        </p:spPr>
        <p:txBody>
          <a:bodyPr wrap="square" rtlCol="0" anchor="ctr"/>
          <a:lstStyle/>
          <a:p>
            <a:pPr algn="r" indent="0" marL="0">
              <a:buNone/>
            </a:pPr>
            <a:r>
              <a:rPr lang="en-US" sz="1100" dirty="0">
                <a:solidFill>
                  <a:srgbClr val="8A929B"/>
                </a:solidFill>
              </a:rPr>
              <a:t>3,08 gg  </a:t>
            </a:r>
            <a:pPr algn="r" indent="0" marL="0">
              <a:buNone/>
            </a:pPr>
            <a:r>
              <a:rPr lang="en-US" sz="1000" dirty="0">
                <a:solidFill>
                  <a:srgbClr val="D8901A"/>
                </a:solidFill>
              </a:rPr>
              <a:t>→ </a:t>
            </a:r>
            <a:pPr algn="r" indent="0" marL="0">
              <a:buNone/>
            </a:pPr>
            <a:r>
              <a:rPr lang="en-US" sz="1400" b="1" dirty="0">
                <a:solidFill>
                  <a:srgbClr val="1E3A7B"/>
                </a:solidFill>
                <a:latin typeface="Georgia" pitchFamily="34" charset="0"/>
                <a:ea typeface="Georgia" pitchFamily="34" charset="-122"/>
                <a:cs typeface="Georgia" pitchFamily="34" charset="-120"/>
              </a:rPr>
              <a:t>2,20 gg</a:t>
            </a:r>
            <a:endParaRPr lang="en-US" sz="1100" dirty="0"/>
          </a:p>
        </p:txBody>
      </p:sp>
      <p:sp>
        <p:nvSpPr>
          <p:cNvPr id="19" name="Shape 15"/>
          <p:cNvSpPr/>
          <p:nvPr/>
        </p:nvSpPr>
        <p:spPr>
          <a:xfrm>
            <a:off x="7818120" y="4919472"/>
            <a:ext cx="3749040" cy="0"/>
          </a:xfrm>
          <a:prstGeom prst="line">
            <a:avLst/>
          </a:prstGeom>
          <a:noFill/>
          <a:ln w="9525">
            <a:solidFill>
              <a:srgbClr val="E4E1D9"/>
            </a:solidFill>
            <a:prstDash val="solid"/>
          </a:ln>
        </p:spPr>
      </p:sp>
      <p:sp>
        <p:nvSpPr>
          <p:cNvPr id="20" name="Text 16"/>
          <p:cNvSpPr/>
          <p:nvPr/>
        </p:nvSpPr>
        <p:spPr>
          <a:xfrm>
            <a:off x="7818120" y="5010912"/>
            <a:ext cx="2103120" cy="548640"/>
          </a:xfrm>
          <a:prstGeom prst="rect">
            <a:avLst/>
          </a:prstGeom>
          <a:noFill/>
          <a:ln/>
        </p:spPr>
        <p:txBody>
          <a:bodyPr wrap="square" rtlCol="0" anchor="ctr"/>
          <a:lstStyle/>
          <a:p>
            <a:pPr indent="0" marL="0">
              <a:lnSpc>
                <a:spcPct val="95000"/>
              </a:lnSpc>
              <a:buNone/>
            </a:pPr>
            <a:r>
              <a:rPr lang="en-US" sz="1050" dirty="0">
                <a:solidFill>
                  <a:srgbClr val="16255C"/>
                </a:solidFill>
                <a:latin typeface="Arial" pitchFamily="34" charset="0"/>
                <a:ea typeface="Arial" pitchFamily="34" charset="-122"/>
                <a:cs typeface="Arial" pitchFamily="34" charset="-120"/>
              </a:rPr>
              <a:t>Ritiri/anno bacino</a:t>
            </a:r>
            <a:endParaRPr lang="en-US" sz="1050" dirty="0"/>
          </a:p>
        </p:txBody>
      </p:sp>
      <p:sp>
        <p:nvSpPr>
          <p:cNvPr id="21" name="Text 17"/>
          <p:cNvSpPr/>
          <p:nvPr/>
        </p:nvSpPr>
        <p:spPr>
          <a:xfrm>
            <a:off x="9601200" y="5010912"/>
            <a:ext cx="1965960" cy="548640"/>
          </a:xfrm>
          <a:prstGeom prst="rect">
            <a:avLst/>
          </a:prstGeom>
          <a:noFill/>
          <a:ln/>
        </p:spPr>
        <p:txBody>
          <a:bodyPr wrap="square" rtlCol="0" anchor="ctr"/>
          <a:lstStyle/>
          <a:p>
            <a:pPr algn="r" indent="0" marL="0">
              <a:buNone/>
            </a:pPr>
            <a:r>
              <a:rPr lang="en-US" sz="1100" dirty="0">
                <a:solidFill>
                  <a:srgbClr val="8A929B"/>
                </a:solidFill>
              </a:rPr>
              <a:t>7.520  </a:t>
            </a:r>
            <a:pPr algn="r" indent="0" marL="0">
              <a:buNone/>
            </a:pPr>
            <a:r>
              <a:rPr lang="en-US" sz="1000" dirty="0">
                <a:solidFill>
                  <a:srgbClr val="D8901A"/>
                </a:solidFill>
              </a:rPr>
              <a:t>→ </a:t>
            </a:r>
            <a:pPr algn="r" indent="0" marL="0">
              <a:buNone/>
            </a:pPr>
            <a:r>
              <a:rPr lang="en-US" sz="1400" b="1" dirty="0">
                <a:solidFill>
                  <a:srgbClr val="1E3A7B"/>
                </a:solidFill>
                <a:latin typeface="Georgia" pitchFamily="34" charset="0"/>
                <a:ea typeface="Georgia" pitchFamily="34" charset="-122"/>
                <a:cs typeface="Georgia" pitchFamily="34" charset="-120"/>
              </a:rPr>
              <a:t>18.000</a:t>
            </a:r>
            <a:endParaRPr lang="en-US" sz="1100" dirty="0"/>
          </a:p>
        </p:txBody>
      </p:sp>
      <p:sp>
        <p:nvSpPr>
          <p:cNvPr id="22" name="Shape 18"/>
          <p:cNvSpPr/>
          <p:nvPr/>
        </p:nvSpPr>
        <p:spPr>
          <a:xfrm>
            <a:off x="640080" y="6437376"/>
            <a:ext cx="10911535" cy="0"/>
          </a:xfrm>
          <a:prstGeom prst="line">
            <a:avLst/>
          </a:prstGeom>
          <a:noFill/>
          <a:ln w="12700">
            <a:solidFill>
              <a:srgbClr val="E4E1D9"/>
            </a:solidFill>
            <a:prstDash val="solid"/>
          </a:ln>
        </p:spPr>
      </p:sp>
      <p:sp>
        <p:nvSpPr>
          <p:cNvPr id="23" name="Text 19"/>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4" name="Text 20"/>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20 / 22</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Text 0"/>
          <p:cNvSpPr/>
          <p:nvPr/>
        </p:nvSpPr>
        <p:spPr>
          <a:xfrm>
            <a:off x="640080" y="457200"/>
            <a:ext cx="8229600" cy="237744"/>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11 · IL CASO STUDIO</a:t>
            </a:r>
            <a:endParaRPr lang="en-US" sz="1050" dirty="0"/>
          </a:p>
        </p:txBody>
      </p:sp>
      <p:sp>
        <p:nvSpPr>
          <p:cNvPr id="4" name="Text 1"/>
          <p:cNvSpPr/>
          <p:nvPr/>
        </p:nvSpPr>
        <p:spPr>
          <a:xfrm>
            <a:off x="640080" y="731520"/>
            <a:ext cx="9692640" cy="777240"/>
          </a:xfrm>
          <a:prstGeom prst="rect">
            <a:avLst/>
          </a:prstGeom>
          <a:noFill/>
          <a:ln/>
        </p:spPr>
        <p:txBody>
          <a:bodyPr wrap="square" rtlCol="0" anchor="ctr"/>
          <a:lstStyle/>
          <a:p>
            <a:pPr indent="0" marL="0">
              <a:lnSpc>
                <a:spcPct val="102000"/>
              </a:lnSpc>
              <a:buNone/>
            </a:pPr>
            <a:r>
              <a:rPr lang="en-US" sz="2500" dirty="0">
                <a:solidFill>
                  <a:srgbClr val="16255C"/>
                </a:solidFill>
                <a:latin typeface="Georgia" pitchFamily="34" charset="0"/>
                <a:ea typeface="Georgia" pitchFamily="34" charset="-122"/>
                <a:cs typeface="Georgia" pitchFamily="34" charset="-120"/>
              </a:rPr>
              <a:t>Sant'Agata Bolognese: l'immobile che verifica il modello</a:t>
            </a:r>
            <a:endParaRPr lang="en-US" sz="2500" dirty="0"/>
          </a:p>
        </p:txBody>
      </p:sp>
      <p:sp>
        <p:nvSpPr>
          <p:cNvPr id="5" name="Shape 2"/>
          <p:cNvSpPr/>
          <p:nvPr/>
        </p:nvSpPr>
        <p:spPr>
          <a:xfrm>
            <a:off x="640080" y="694944"/>
            <a:ext cx="475488" cy="0"/>
          </a:xfrm>
          <a:prstGeom prst="line">
            <a:avLst/>
          </a:prstGeom>
          <a:noFill/>
          <a:ln w="28575">
            <a:solidFill>
              <a:srgbClr val="D8901A"/>
            </a:solidFill>
            <a:prstDash val="solid"/>
          </a:ln>
        </p:spPr>
      </p:sp>
      <p:sp>
        <p:nvSpPr>
          <p:cNvPr id="6" name="Shape 3"/>
          <p:cNvSpPr/>
          <p:nvPr/>
        </p:nvSpPr>
        <p:spPr>
          <a:xfrm>
            <a:off x="640080" y="1572768"/>
            <a:ext cx="6766560" cy="3611880"/>
          </a:xfrm>
          <a:prstGeom prst="roundRect">
            <a:avLst>
              <a:gd name="adj" fmla="val 2025"/>
            </a:avLst>
          </a:prstGeom>
          <a:solidFill>
            <a:srgbClr val="FFFFFF"/>
          </a:solidFill>
          <a:ln w="12700">
            <a:solidFill>
              <a:srgbClr val="E4E1D9"/>
            </a:solidFill>
            <a:prstDash val="solid"/>
          </a:ln>
          <a:effectLst>
            <a:outerShdw sx="100000" sy="100000" kx="0" ky="0" algn="bl" rotWithShape="0" blurRad="88900" dist="25400" dir="5400000">
              <a:srgbClr val="D9D5CC">
                <a:alpha val="40000"/>
              </a:srgbClr>
            </a:outerShdw>
          </a:effectLst>
        </p:spPr>
      </p:sp>
      <p:pic>
        <p:nvPicPr>
          <p:cNvPr id="7" name="Image 1" descr="/home/user/PptxGenJS/assets-tmwe/fig_planimetria.png">    </p:cNvPr>
          <p:cNvPicPr>
            <a:picLocks noChangeAspect="1"/>
          </p:cNvPicPr>
          <p:nvPr/>
        </p:nvPicPr>
        <p:blipFill>
          <a:blip r:embed="rId2"/>
          <a:stretch>
            <a:fillRect/>
          </a:stretch>
        </p:blipFill>
        <p:spPr>
          <a:xfrm>
            <a:off x="804677" y="1737360"/>
            <a:ext cx="6437367" cy="3282696"/>
          </a:xfrm>
          <a:prstGeom prst="rect">
            <a:avLst/>
          </a:prstGeom>
        </p:spPr>
      </p:pic>
      <p:sp>
        <p:nvSpPr>
          <p:cNvPr id="8" name="Text 4"/>
          <p:cNvSpPr/>
          <p:nvPr/>
        </p:nvSpPr>
        <p:spPr>
          <a:xfrm>
            <a:off x="640080" y="5230368"/>
            <a:ext cx="6766560" cy="274320"/>
          </a:xfrm>
          <a:prstGeom prst="rect">
            <a:avLst/>
          </a:prstGeom>
          <a:noFill/>
          <a:ln/>
        </p:spPr>
        <p:txBody>
          <a:bodyPr wrap="square" rtlCol="0" anchor="ctr"/>
          <a:lstStyle/>
          <a:p>
            <a:pPr indent="0" marL="0">
              <a:lnSpc>
                <a:spcPct val="95000"/>
              </a:lnSpc>
              <a:buNone/>
            </a:pPr>
            <a:r>
              <a:rPr lang="en-US" sz="850" i="1" dirty="0">
                <a:solidFill>
                  <a:srgbClr val="8A929B"/>
                </a:solidFill>
                <a:latin typeface="Arial" pitchFamily="34" charset="0"/>
                <a:ea typeface="Arial" pitchFamily="34" charset="-122"/>
                <a:cs typeface="Arial" pitchFamily="34" charset="-120"/>
              </a:rPr>
              <a:t>Fig. 11.1 — Planimetria concettuale: zone funzionali e sequenza operativa.</a:t>
            </a:r>
            <a:endParaRPr lang="en-US" sz="850" dirty="0"/>
          </a:p>
        </p:txBody>
      </p:sp>
      <p:sp>
        <p:nvSpPr>
          <p:cNvPr id="9" name="Text 5"/>
          <p:cNvSpPr/>
          <p:nvPr/>
        </p:nvSpPr>
        <p:spPr>
          <a:xfrm>
            <a:off x="7589520" y="1600200"/>
            <a:ext cx="3977640" cy="960120"/>
          </a:xfrm>
          <a:prstGeom prst="rect">
            <a:avLst/>
          </a:prstGeom>
          <a:noFill/>
          <a:ln/>
        </p:spPr>
        <p:txBody>
          <a:bodyPr wrap="square" rtlCol="0" anchor="t"/>
          <a:lstStyle/>
          <a:p>
            <a:pPr algn="l" indent="0" marL="0">
              <a:lnSpc>
                <a:spcPct val="130000"/>
              </a:lnSpc>
              <a:buNone/>
            </a:pPr>
            <a:r>
              <a:rPr lang="en-US" sz="1150" dirty="0">
                <a:solidFill>
                  <a:srgbClr val="4C5563"/>
                </a:solidFill>
                <a:latin typeface="Arial" pitchFamily="34" charset="0"/>
                <a:ea typeface="Arial" pitchFamily="34" charset="-122"/>
                <a:cs typeface="Arial" pitchFamily="34" charset="-120"/>
              </a:rPr>
              <a:t>A valle della selezione territoriale è stato analizzato un immobile coerente con i requisiti: magazzino/deposito a Sant'Agata Bolognese, baricentrico tra i caselli A1 e A13/A14.</a:t>
            </a:r>
            <a:endParaRPr lang="en-US" sz="1150" dirty="0"/>
          </a:p>
        </p:txBody>
      </p:sp>
      <p:sp>
        <p:nvSpPr>
          <p:cNvPr id="10" name="Text 6"/>
          <p:cNvSpPr/>
          <p:nvPr/>
        </p:nvSpPr>
        <p:spPr>
          <a:xfrm>
            <a:off x="7589520" y="2743200"/>
            <a:ext cx="1828800" cy="457200"/>
          </a:xfrm>
          <a:prstGeom prst="rect">
            <a:avLst/>
          </a:prstGeom>
          <a:noFill/>
          <a:ln/>
        </p:spPr>
        <p:txBody>
          <a:bodyPr wrap="square" rtlCol="0" anchor="ctr"/>
          <a:lstStyle/>
          <a:p>
            <a:pPr indent="0" marL="0">
              <a:buNone/>
            </a:pPr>
            <a:r>
              <a:rPr lang="en-US" sz="1900" dirty="0">
                <a:solidFill>
                  <a:srgbClr val="1E3A7B"/>
                </a:solidFill>
                <a:latin typeface="Georgia" pitchFamily="34" charset="0"/>
                <a:ea typeface="Georgia" pitchFamily="34" charset="-122"/>
                <a:cs typeface="Georgia" pitchFamily="34" charset="-120"/>
              </a:rPr>
              <a:t>350 mq</a:t>
            </a:r>
            <a:endParaRPr lang="en-US" sz="1900" dirty="0"/>
          </a:p>
        </p:txBody>
      </p:sp>
      <p:sp>
        <p:nvSpPr>
          <p:cNvPr id="11" name="Text 7"/>
          <p:cNvSpPr/>
          <p:nvPr/>
        </p:nvSpPr>
        <p:spPr>
          <a:xfrm>
            <a:off x="9418320" y="2743200"/>
            <a:ext cx="2148840" cy="457200"/>
          </a:xfrm>
          <a:prstGeom prst="rect">
            <a:avLst/>
          </a:prstGeom>
          <a:noFill/>
          <a:ln/>
        </p:spPr>
        <p:txBody>
          <a:bodyPr wrap="square" rtlCol="0" anchor="ctr"/>
          <a:lstStyle/>
          <a:p>
            <a:pPr indent="0" marL="0">
              <a:lnSpc>
                <a:spcPct val="95000"/>
              </a:lnSpc>
              <a:buNone/>
            </a:pPr>
            <a:r>
              <a:rPr lang="en-US" sz="950" dirty="0">
                <a:solidFill>
                  <a:srgbClr val="8A929B"/>
                </a:solidFill>
                <a:latin typeface="Arial" pitchFamily="34" charset="0"/>
                <a:ea typeface="Arial" pitchFamily="34" charset="-122"/>
                <a:cs typeface="Arial" pitchFamily="34" charset="-120"/>
              </a:rPr>
              <a:t>piano terra + ufficio e area cortiliva</a:t>
            </a:r>
            <a:endParaRPr lang="en-US" sz="950" dirty="0"/>
          </a:p>
        </p:txBody>
      </p:sp>
      <p:sp>
        <p:nvSpPr>
          <p:cNvPr id="12" name="Shape 8"/>
          <p:cNvSpPr/>
          <p:nvPr/>
        </p:nvSpPr>
        <p:spPr>
          <a:xfrm>
            <a:off x="7589520" y="3401568"/>
            <a:ext cx="3977640" cy="0"/>
          </a:xfrm>
          <a:prstGeom prst="line">
            <a:avLst/>
          </a:prstGeom>
          <a:noFill/>
          <a:ln w="12700">
            <a:solidFill>
              <a:srgbClr val="E4E1D9"/>
            </a:solidFill>
            <a:prstDash val="solid"/>
          </a:ln>
        </p:spPr>
      </p:sp>
      <p:sp>
        <p:nvSpPr>
          <p:cNvPr id="13" name="Text 9"/>
          <p:cNvSpPr/>
          <p:nvPr/>
        </p:nvSpPr>
        <p:spPr>
          <a:xfrm>
            <a:off x="7589520" y="3493008"/>
            <a:ext cx="1828800" cy="457200"/>
          </a:xfrm>
          <a:prstGeom prst="rect">
            <a:avLst/>
          </a:prstGeom>
          <a:noFill/>
          <a:ln/>
        </p:spPr>
        <p:txBody>
          <a:bodyPr wrap="square" rtlCol="0" anchor="ctr"/>
          <a:lstStyle/>
          <a:p>
            <a:pPr indent="0" marL="0">
              <a:buNone/>
            </a:pPr>
            <a:r>
              <a:rPr lang="en-US" sz="1900" dirty="0">
                <a:solidFill>
                  <a:srgbClr val="1E3A7B"/>
                </a:solidFill>
                <a:latin typeface="Georgia" pitchFamily="34" charset="0"/>
                <a:ea typeface="Georgia" pitchFamily="34" charset="-122"/>
                <a:cs typeface="Georgia" pitchFamily="34" charset="-120"/>
              </a:rPr>
              <a:t>€1.600/mese</a:t>
            </a:r>
            <a:endParaRPr lang="en-US" sz="1900" dirty="0"/>
          </a:p>
        </p:txBody>
      </p:sp>
      <p:sp>
        <p:nvSpPr>
          <p:cNvPr id="14" name="Text 10"/>
          <p:cNvSpPr/>
          <p:nvPr/>
        </p:nvSpPr>
        <p:spPr>
          <a:xfrm>
            <a:off x="9418320" y="3493008"/>
            <a:ext cx="2148840" cy="457200"/>
          </a:xfrm>
          <a:prstGeom prst="rect">
            <a:avLst/>
          </a:prstGeom>
          <a:noFill/>
          <a:ln/>
        </p:spPr>
        <p:txBody>
          <a:bodyPr wrap="square" rtlCol="0" anchor="ctr"/>
          <a:lstStyle/>
          <a:p>
            <a:pPr indent="0" marL="0">
              <a:lnSpc>
                <a:spcPct val="95000"/>
              </a:lnSpc>
              <a:buNone/>
            </a:pPr>
            <a:r>
              <a:rPr lang="en-US" sz="950" dirty="0">
                <a:solidFill>
                  <a:srgbClr val="8A929B"/>
                </a:solidFill>
                <a:latin typeface="Arial" pitchFamily="34" charset="0"/>
                <a:ea typeface="Arial" pitchFamily="34" charset="-122"/>
                <a:cs typeface="Arial" pitchFamily="34" charset="-120"/>
              </a:rPr>
              <a:t>€54,9/mq/anno · −15/25% vs mercato</a:t>
            </a:r>
            <a:endParaRPr lang="en-US" sz="950" dirty="0"/>
          </a:p>
        </p:txBody>
      </p:sp>
      <p:sp>
        <p:nvSpPr>
          <p:cNvPr id="15" name="Shape 11"/>
          <p:cNvSpPr/>
          <p:nvPr/>
        </p:nvSpPr>
        <p:spPr>
          <a:xfrm>
            <a:off x="7589520" y="4151376"/>
            <a:ext cx="3977640" cy="0"/>
          </a:xfrm>
          <a:prstGeom prst="line">
            <a:avLst/>
          </a:prstGeom>
          <a:noFill/>
          <a:ln w="12700">
            <a:solidFill>
              <a:srgbClr val="E4E1D9"/>
            </a:solidFill>
            <a:prstDash val="solid"/>
          </a:ln>
        </p:spPr>
      </p:sp>
      <p:sp>
        <p:nvSpPr>
          <p:cNvPr id="16" name="Text 12"/>
          <p:cNvSpPr/>
          <p:nvPr/>
        </p:nvSpPr>
        <p:spPr>
          <a:xfrm>
            <a:off x="7589520" y="4242816"/>
            <a:ext cx="1828800" cy="457200"/>
          </a:xfrm>
          <a:prstGeom prst="rect">
            <a:avLst/>
          </a:prstGeom>
          <a:noFill/>
          <a:ln/>
        </p:spPr>
        <p:txBody>
          <a:bodyPr wrap="square" rtlCol="0" anchor="ctr"/>
          <a:lstStyle/>
          <a:p>
            <a:pPr indent="0" marL="0">
              <a:buNone/>
            </a:pPr>
            <a:r>
              <a:rPr lang="en-US" sz="1900" dirty="0">
                <a:solidFill>
                  <a:srgbClr val="1E3A7B"/>
                </a:solidFill>
                <a:latin typeface="Georgia" pitchFamily="34" charset="0"/>
                <a:ea typeface="Georgia" pitchFamily="34" charset="-122"/>
                <a:cs typeface="Georgia" pitchFamily="34" charset="-120"/>
              </a:rPr>
              <a:t>~28 km</a:t>
            </a:r>
            <a:endParaRPr lang="en-US" sz="1900" dirty="0"/>
          </a:p>
        </p:txBody>
      </p:sp>
      <p:sp>
        <p:nvSpPr>
          <p:cNvPr id="17" name="Text 13"/>
          <p:cNvSpPr/>
          <p:nvPr/>
        </p:nvSpPr>
        <p:spPr>
          <a:xfrm>
            <a:off x="9418320" y="4242816"/>
            <a:ext cx="2148840" cy="457200"/>
          </a:xfrm>
          <a:prstGeom prst="rect">
            <a:avLst/>
          </a:prstGeom>
          <a:noFill/>
          <a:ln/>
        </p:spPr>
        <p:txBody>
          <a:bodyPr wrap="square" rtlCol="0" anchor="ctr"/>
          <a:lstStyle/>
          <a:p>
            <a:pPr indent="0" marL="0">
              <a:lnSpc>
                <a:spcPct val="95000"/>
              </a:lnSpc>
              <a:buNone/>
            </a:pPr>
            <a:r>
              <a:rPr lang="en-US" sz="950" dirty="0">
                <a:solidFill>
                  <a:srgbClr val="8A929B"/>
                </a:solidFill>
                <a:latin typeface="Arial" pitchFamily="34" charset="0"/>
                <a:ea typeface="Arial" pitchFamily="34" charset="-122"/>
                <a:cs typeface="Arial" pitchFamily="34" charset="-120"/>
              </a:rPr>
              <a:t>da Bologna · a 25 min dall'Interporto</a:t>
            </a:r>
            <a:endParaRPr lang="en-US" sz="950" dirty="0"/>
          </a:p>
        </p:txBody>
      </p:sp>
      <p:sp>
        <p:nvSpPr>
          <p:cNvPr id="18" name="Shape 14"/>
          <p:cNvSpPr/>
          <p:nvPr/>
        </p:nvSpPr>
        <p:spPr>
          <a:xfrm>
            <a:off x="7589520" y="4901184"/>
            <a:ext cx="3977640" cy="0"/>
          </a:xfrm>
          <a:prstGeom prst="line">
            <a:avLst/>
          </a:prstGeom>
          <a:noFill/>
          <a:ln w="12700">
            <a:solidFill>
              <a:srgbClr val="E4E1D9"/>
            </a:solidFill>
            <a:prstDash val="solid"/>
          </a:ln>
        </p:spPr>
      </p:sp>
      <p:sp>
        <p:nvSpPr>
          <p:cNvPr id="19" name="Text 15"/>
          <p:cNvSpPr/>
          <p:nvPr/>
        </p:nvSpPr>
        <p:spPr>
          <a:xfrm>
            <a:off x="7589520" y="4992624"/>
            <a:ext cx="1828800" cy="457200"/>
          </a:xfrm>
          <a:prstGeom prst="rect">
            <a:avLst/>
          </a:prstGeom>
          <a:noFill/>
          <a:ln/>
        </p:spPr>
        <p:txBody>
          <a:bodyPr wrap="square" rtlCol="0" anchor="ctr"/>
          <a:lstStyle/>
          <a:p>
            <a:pPr indent="0" marL="0">
              <a:buNone/>
            </a:pPr>
            <a:r>
              <a:rPr lang="en-US" sz="1900" dirty="0">
                <a:solidFill>
                  <a:srgbClr val="1E3A7B"/>
                </a:solidFill>
                <a:latin typeface="Georgia" pitchFamily="34" charset="0"/>
                <a:ea typeface="Georgia" pitchFamily="34" charset="-122"/>
                <a:cs typeface="Georgia" pitchFamily="34" charset="-120"/>
              </a:rPr>
              <a:t>240 pallet</a:t>
            </a:r>
            <a:endParaRPr lang="en-US" sz="1900" dirty="0"/>
          </a:p>
        </p:txBody>
      </p:sp>
      <p:sp>
        <p:nvSpPr>
          <p:cNvPr id="20" name="Text 16"/>
          <p:cNvSpPr/>
          <p:nvPr/>
        </p:nvSpPr>
        <p:spPr>
          <a:xfrm>
            <a:off x="9418320" y="4992624"/>
            <a:ext cx="2148840" cy="457200"/>
          </a:xfrm>
          <a:prstGeom prst="rect">
            <a:avLst/>
          </a:prstGeom>
          <a:noFill/>
          <a:ln/>
        </p:spPr>
        <p:txBody>
          <a:bodyPr wrap="square" rtlCol="0" anchor="ctr"/>
          <a:lstStyle/>
          <a:p>
            <a:pPr indent="0" marL="0">
              <a:lnSpc>
                <a:spcPct val="95000"/>
              </a:lnSpc>
              <a:buNone/>
            </a:pPr>
            <a:r>
              <a:rPr lang="en-US" sz="950" dirty="0">
                <a:solidFill>
                  <a:srgbClr val="8A929B"/>
                </a:solidFill>
                <a:latin typeface="Arial" pitchFamily="34" charset="0"/>
                <a:ea typeface="Arial" pitchFamily="34" charset="-122"/>
                <a:cs typeface="Arial" pitchFamily="34" charset="-120"/>
              </a:rPr>
              <a:t>6 zone · ~15.000 movimenti/anno</a:t>
            </a:r>
            <a:endParaRPr lang="en-US" sz="950" dirty="0"/>
          </a:p>
        </p:txBody>
      </p:sp>
      <p:sp>
        <p:nvSpPr>
          <p:cNvPr id="21" name="Shape 17"/>
          <p:cNvSpPr/>
          <p:nvPr/>
        </p:nvSpPr>
        <p:spPr>
          <a:xfrm>
            <a:off x="640080" y="5870448"/>
            <a:ext cx="10911535" cy="438912"/>
          </a:xfrm>
          <a:prstGeom prst="roundRect">
            <a:avLst>
              <a:gd name="adj" fmla="val 10417"/>
            </a:avLst>
          </a:prstGeom>
          <a:solidFill>
            <a:srgbClr val="DEE8F3"/>
          </a:solidFill>
          <a:ln/>
        </p:spPr>
      </p:sp>
      <p:sp>
        <p:nvSpPr>
          <p:cNvPr id="22" name="Shape 18"/>
          <p:cNvSpPr/>
          <p:nvPr/>
        </p:nvSpPr>
        <p:spPr>
          <a:xfrm>
            <a:off x="640080" y="5870448"/>
            <a:ext cx="64008" cy="438912"/>
          </a:xfrm>
          <a:prstGeom prst="rect">
            <a:avLst/>
          </a:prstGeom>
          <a:solidFill>
            <a:srgbClr val="1E7DC2"/>
          </a:solidFill>
          <a:ln/>
        </p:spPr>
      </p:sp>
      <p:sp>
        <p:nvSpPr>
          <p:cNvPr id="23" name="Text 19"/>
          <p:cNvSpPr/>
          <p:nvPr/>
        </p:nvSpPr>
        <p:spPr>
          <a:xfrm>
            <a:off x="896112" y="5870448"/>
            <a:ext cx="10454335" cy="438912"/>
          </a:xfrm>
          <a:prstGeom prst="rect">
            <a:avLst/>
          </a:prstGeom>
          <a:noFill/>
          <a:ln/>
        </p:spPr>
        <p:txBody>
          <a:bodyPr wrap="square" rtlCol="0" anchor="ctr"/>
          <a:lstStyle/>
          <a:p>
            <a:pPr indent="0" marL="0">
              <a:lnSpc>
                <a:spcPct val="96000"/>
              </a:lnSpc>
              <a:buNone/>
            </a:pPr>
            <a:r>
              <a:rPr lang="en-US" sz="850" b="1" spc="140" kern="0" dirty="0">
                <a:solidFill>
                  <a:srgbClr val="1E7DC2"/>
                </a:solidFill>
                <a:latin typeface="Arial" pitchFamily="34" charset="0"/>
                <a:ea typeface="Arial" pitchFamily="34" charset="-122"/>
                <a:cs typeface="Arial" pitchFamily="34" charset="-120"/>
              </a:rPr>
              <a:t>MESSAGGIO CHIAVE   </a:t>
            </a:r>
            <a:pPr indent="0" marL="0">
              <a:lnSpc>
                <a:spcPct val="96000"/>
              </a:lnSpc>
              <a:buNone/>
            </a:pPr>
            <a:r>
              <a:rPr lang="en-US" sz="1100" dirty="0">
                <a:solidFill>
                  <a:srgbClr val="16255C"/>
                </a:solidFill>
                <a:latin typeface="Arial" pitchFamily="34" charset="0"/>
                <a:ea typeface="Arial" pitchFamily="34" charset="-122"/>
                <a:cs typeface="Arial" pitchFamily="34" charset="-120"/>
              </a:rPr>
              <a:t>Un modulo replicabile a costo d'ingresso minimo: l'affitto pesa solo l'8% dei costi operativi.</a:t>
            </a:r>
            <a:endParaRPr lang="en-US" sz="850" dirty="0"/>
          </a:p>
        </p:txBody>
      </p:sp>
      <p:sp>
        <p:nvSpPr>
          <p:cNvPr id="24" name="Shape 20"/>
          <p:cNvSpPr/>
          <p:nvPr/>
        </p:nvSpPr>
        <p:spPr>
          <a:xfrm>
            <a:off x="640080" y="6437376"/>
            <a:ext cx="10911535" cy="0"/>
          </a:xfrm>
          <a:prstGeom prst="line">
            <a:avLst/>
          </a:prstGeom>
          <a:noFill/>
          <a:ln w="12700">
            <a:solidFill>
              <a:srgbClr val="E4E1D9"/>
            </a:solidFill>
            <a:prstDash val="solid"/>
          </a:ln>
        </p:spPr>
      </p:sp>
      <p:sp>
        <p:nvSpPr>
          <p:cNvPr id="25" name="Text 21"/>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26" name="Text 22"/>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21 / 22</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7F4"/>
        </a:solidFill>
      </p:bgPr>
    </p:bg>
    <p:spTree>
      <p:nvGrpSpPr>
        <p:cNvPr id="1" name=""/>
        <p:cNvGrpSpPr/>
        <p:nvPr/>
      </p:nvGrpSpPr>
      <p:grpSpPr>
        <a:xfrm>
          <a:off x="0" y="0"/>
          <a:ext cx="0" cy="0"/>
          <a:chOff x="0" y="0"/>
          <a:chExt cx="0" cy="0"/>
        </a:xfrm>
      </p:grpSpPr>
      <p:pic>
        <p:nvPicPr>
          <p:cNvPr id="2" name="Image 0" descr="/home/user/PptxGenJS/assets-tmwe/logo_header.png">    </p:cNvPr>
          <p:cNvPicPr>
            <a:picLocks noChangeAspect="1"/>
          </p:cNvPicPr>
          <p:nvPr/>
        </p:nvPicPr>
        <p:blipFill>
          <a:blip r:embed="rId1"/>
          <a:stretch>
            <a:fillRect/>
          </a:stretch>
        </p:blipFill>
        <p:spPr>
          <a:xfrm>
            <a:off x="10326319" y="274320"/>
            <a:ext cx="1225296" cy="333595"/>
          </a:xfrm>
          <a:prstGeom prst="rect">
            <a:avLst/>
          </a:prstGeom>
        </p:spPr>
      </p:pic>
      <p:sp>
        <p:nvSpPr>
          <p:cNvPr id="3" name="Shape 0"/>
          <p:cNvSpPr/>
          <p:nvPr/>
        </p:nvSpPr>
        <p:spPr>
          <a:xfrm>
            <a:off x="640080" y="502920"/>
            <a:ext cx="4892040" cy="5852160"/>
          </a:xfrm>
          <a:prstGeom prst="roundRect">
            <a:avLst>
              <a:gd name="adj" fmla="val 1495"/>
            </a:avLst>
          </a:prstGeom>
          <a:solidFill>
            <a:srgbClr val="16255C"/>
          </a:solidFill>
          <a:ln w="12700">
            <a:solidFill>
              <a:srgbClr val="16255C"/>
            </a:solidFill>
            <a:prstDash val="solid"/>
          </a:ln>
          <a:effectLst>
            <a:outerShdw sx="100000" sy="100000" kx="0" ky="0" algn="bl" rotWithShape="0" blurRad="88900" dist="25400" dir="5400000">
              <a:srgbClr val="D9D5CC">
                <a:alpha val="40000"/>
              </a:srgbClr>
            </a:outerShdw>
          </a:effectLst>
        </p:spPr>
      </p:sp>
      <p:sp>
        <p:nvSpPr>
          <p:cNvPr id="4" name="Text 1"/>
          <p:cNvSpPr/>
          <p:nvPr/>
        </p:nvSpPr>
        <p:spPr>
          <a:xfrm>
            <a:off x="1005840" y="822960"/>
            <a:ext cx="4114800" cy="274320"/>
          </a:xfrm>
          <a:prstGeom prst="rect">
            <a:avLst/>
          </a:prstGeom>
          <a:noFill/>
          <a:ln/>
        </p:spPr>
        <p:txBody>
          <a:bodyPr wrap="square" rtlCol="0" anchor="ctr"/>
          <a:lstStyle/>
          <a:p>
            <a:pPr indent="0" marL="0">
              <a:buNone/>
            </a:pPr>
            <a:r>
              <a:rPr lang="en-US" sz="1050" b="1" spc="250" kern="0" dirty="0">
                <a:solidFill>
                  <a:srgbClr val="9DB9DD"/>
                </a:solidFill>
                <a:latin typeface="Arial" pitchFamily="34" charset="0"/>
                <a:ea typeface="Arial" pitchFamily="34" charset="-122"/>
                <a:cs typeface="Arial" pitchFamily="34" charset="-120"/>
              </a:rPr>
              <a:t>RACCOMANDAZIONE</a:t>
            </a:r>
            <a:endParaRPr lang="en-US" sz="1050" dirty="0"/>
          </a:p>
        </p:txBody>
      </p:sp>
      <p:sp>
        <p:nvSpPr>
          <p:cNvPr id="5" name="Text 2"/>
          <p:cNvSpPr/>
          <p:nvPr/>
        </p:nvSpPr>
        <p:spPr>
          <a:xfrm>
            <a:off x="1005840" y="1143000"/>
            <a:ext cx="4206240" cy="1371600"/>
          </a:xfrm>
          <a:prstGeom prst="rect">
            <a:avLst/>
          </a:prstGeom>
          <a:noFill/>
          <a:ln/>
        </p:spPr>
        <p:txBody>
          <a:bodyPr wrap="square" rtlCol="0" anchor="ctr"/>
          <a:lstStyle/>
          <a:p>
            <a:pPr indent="0" marL="0">
              <a:lnSpc>
                <a:spcPct val="105000"/>
              </a:lnSpc>
              <a:buNone/>
            </a:pPr>
            <a:r>
              <a:rPr lang="en-US" sz="2400" dirty="0">
                <a:solidFill>
                  <a:srgbClr val="FFFFFF"/>
                </a:solidFill>
                <a:latin typeface="Georgia" pitchFamily="34" charset="0"/>
                <a:ea typeface="Georgia" pitchFamily="34" charset="-122"/>
                <a:cs typeface="Georgia" pitchFamily="34" charset="-120"/>
              </a:rPr>
              <a:t>Aprire il nuovo polo nel bacino di Bologna, a Sant'Agata Bolognese, entro il Q4.</a:t>
            </a:r>
            <a:endParaRPr lang="en-US" sz="2400" dirty="0"/>
          </a:p>
        </p:txBody>
      </p:sp>
      <p:sp>
        <p:nvSpPr>
          <p:cNvPr id="6" name="Shape 3"/>
          <p:cNvSpPr/>
          <p:nvPr/>
        </p:nvSpPr>
        <p:spPr>
          <a:xfrm>
            <a:off x="1005840" y="2743200"/>
            <a:ext cx="4160520" cy="0"/>
          </a:xfrm>
          <a:prstGeom prst="line">
            <a:avLst/>
          </a:prstGeom>
          <a:noFill/>
          <a:ln w="12700">
            <a:solidFill>
              <a:srgbClr val="34477F"/>
            </a:solidFill>
            <a:prstDash val="solid"/>
          </a:ln>
        </p:spPr>
      </p:sp>
      <p:sp>
        <p:nvSpPr>
          <p:cNvPr id="7" name="Text 4"/>
          <p:cNvSpPr/>
          <p:nvPr/>
        </p:nvSpPr>
        <p:spPr>
          <a:xfrm>
            <a:off x="1005840" y="2926080"/>
            <a:ext cx="1737360" cy="457200"/>
          </a:xfrm>
          <a:prstGeom prst="rect">
            <a:avLst/>
          </a:prstGeom>
          <a:noFill/>
          <a:ln/>
        </p:spPr>
        <p:txBody>
          <a:bodyPr wrap="square" rtlCol="0" anchor="ctr"/>
          <a:lstStyle/>
          <a:p>
            <a:pPr indent="0" marL="0">
              <a:buNone/>
            </a:pPr>
            <a:r>
              <a:rPr lang="en-US" sz="2600" dirty="0">
                <a:solidFill>
                  <a:srgbClr val="9DB9DD"/>
                </a:solidFill>
                <a:latin typeface="Georgia" pitchFamily="34" charset="0"/>
                <a:ea typeface="Georgia" pitchFamily="34" charset="-122"/>
                <a:cs typeface="Georgia" pitchFamily="34" charset="-120"/>
              </a:rPr>
              <a:t>41,1%</a:t>
            </a:r>
            <a:endParaRPr lang="en-US" sz="2600" dirty="0"/>
          </a:p>
        </p:txBody>
      </p:sp>
      <p:sp>
        <p:nvSpPr>
          <p:cNvPr id="8" name="Text 5"/>
          <p:cNvSpPr/>
          <p:nvPr/>
        </p:nvSpPr>
        <p:spPr>
          <a:xfrm>
            <a:off x="1005840" y="3383280"/>
            <a:ext cx="4160520" cy="594360"/>
          </a:xfrm>
          <a:prstGeom prst="rect">
            <a:avLst/>
          </a:prstGeom>
          <a:noFill/>
          <a:ln/>
        </p:spPr>
        <p:txBody>
          <a:bodyPr wrap="square" rtlCol="0" anchor="ctr"/>
          <a:lstStyle/>
          <a:p>
            <a:pPr indent="0" marL="0">
              <a:lnSpc>
                <a:spcPct val="118000"/>
              </a:lnSpc>
              <a:buNone/>
            </a:pPr>
            <a:r>
              <a:rPr lang="en-US" sz="1050" dirty="0">
                <a:solidFill>
                  <a:srgbClr val="E7EEF7"/>
                </a:solidFill>
                <a:latin typeface="Arial" pitchFamily="34" charset="0"/>
                <a:ea typeface="Arial" pitchFamily="34" charset="-122"/>
                <a:cs typeface="Arial" pitchFamily="34" charset="-120"/>
              </a:rPr>
              <a:t>della domanda extra-lombarda, con distacco 2,6× sulla seconda alternativa</a:t>
            </a:r>
            <a:endParaRPr lang="en-US" sz="1050" dirty="0"/>
          </a:p>
        </p:txBody>
      </p:sp>
      <p:sp>
        <p:nvSpPr>
          <p:cNvPr id="9" name="Text 6"/>
          <p:cNvSpPr/>
          <p:nvPr/>
        </p:nvSpPr>
        <p:spPr>
          <a:xfrm>
            <a:off x="1005840" y="3977640"/>
            <a:ext cx="1737360" cy="457200"/>
          </a:xfrm>
          <a:prstGeom prst="rect">
            <a:avLst/>
          </a:prstGeom>
          <a:noFill/>
          <a:ln/>
        </p:spPr>
        <p:txBody>
          <a:bodyPr wrap="square" rtlCol="0" anchor="ctr"/>
          <a:lstStyle/>
          <a:p>
            <a:pPr indent="0" marL="0">
              <a:buNone/>
            </a:pPr>
            <a:r>
              <a:rPr lang="en-US" sz="2600" dirty="0">
                <a:solidFill>
                  <a:srgbClr val="9DB9DD"/>
                </a:solidFill>
                <a:latin typeface="Georgia" pitchFamily="34" charset="0"/>
                <a:ea typeface="Georgia" pitchFamily="34" charset="-122"/>
                <a:cs typeface="Georgia" pitchFamily="34" charset="-120"/>
              </a:rPr>
              <a:t>+€16,5</a:t>
            </a:r>
            <a:endParaRPr lang="en-US" sz="2600" dirty="0"/>
          </a:p>
        </p:txBody>
      </p:sp>
      <p:sp>
        <p:nvSpPr>
          <p:cNvPr id="10" name="Text 7"/>
          <p:cNvSpPr/>
          <p:nvPr/>
        </p:nvSpPr>
        <p:spPr>
          <a:xfrm>
            <a:off x="1005840" y="4434840"/>
            <a:ext cx="4160520" cy="594360"/>
          </a:xfrm>
          <a:prstGeom prst="rect">
            <a:avLst/>
          </a:prstGeom>
          <a:noFill/>
          <a:ln/>
        </p:spPr>
        <p:txBody>
          <a:bodyPr wrap="square" rtlCol="0" anchor="ctr"/>
          <a:lstStyle/>
          <a:p>
            <a:pPr indent="0" marL="0">
              <a:lnSpc>
                <a:spcPct val="118000"/>
              </a:lnSpc>
              <a:buNone/>
            </a:pPr>
            <a:r>
              <a:rPr lang="en-US" sz="1050" dirty="0">
                <a:solidFill>
                  <a:srgbClr val="E7EEF7"/>
                </a:solidFill>
                <a:latin typeface="Arial" pitchFamily="34" charset="0"/>
                <a:ea typeface="Arial" pitchFamily="34" charset="-122"/>
                <a:cs typeface="Arial" pitchFamily="34" charset="-120"/>
              </a:rPr>
              <a:t>di margine per ritiro internalizzato, su 7.520 ritiri/anno già contrattualizzati</a:t>
            </a:r>
            <a:endParaRPr lang="en-US" sz="1050" dirty="0"/>
          </a:p>
        </p:txBody>
      </p:sp>
      <p:sp>
        <p:nvSpPr>
          <p:cNvPr id="11" name="Text 8"/>
          <p:cNvSpPr/>
          <p:nvPr/>
        </p:nvSpPr>
        <p:spPr>
          <a:xfrm>
            <a:off x="1005840" y="5029200"/>
            <a:ext cx="1737360" cy="457200"/>
          </a:xfrm>
          <a:prstGeom prst="rect">
            <a:avLst/>
          </a:prstGeom>
          <a:noFill/>
          <a:ln/>
        </p:spPr>
        <p:txBody>
          <a:bodyPr wrap="square" rtlCol="0" anchor="ctr"/>
          <a:lstStyle/>
          <a:p>
            <a:pPr indent="0" marL="0">
              <a:buNone/>
            </a:pPr>
            <a:r>
              <a:rPr lang="en-US" sz="2600" dirty="0">
                <a:solidFill>
                  <a:srgbClr val="9DB9DD"/>
                </a:solidFill>
                <a:latin typeface="Georgia" pitchFamily="34" charset="0"/>
                <a:ea typeface="Georgia" pitchFamily="34" charset="-122"/>
                <a:cs typeface="Georgia" pitchFamily="34" charset="-120"/>
              </a:rPr>
              <a:t>1,5 anni</a:t>
            </a:r>
            <a:endParaRPr lang="en-US" sz="2600" dirty="0"/>
          </a:p>
        </p:txBody>
      </p:sp>
      <p:sp>
        <p:nvSpPr>
          <p:cNvPr id="12" name="Text 9"/>
          <p:cNvSpPr/>
          <p:nvPr/>
        </p:nvSpPr>
        <p:spPr>
          <a:xfrm>
            <a:off x="1005840" y="5486400"/>
            <a:ext cx="4160520" cy="594360"/>
          </a:xfrm>
          <a:prstGeom prst="rect">
            <a:avLst/>
          </a:prstGeom>
          <a:noFill/>
          <a:ln/>
        </p:spPr>
        <p:txBody>
          <a:bodyPr wrap="square" rtlCol="0" anchor="ctr"/>
          <a:lstStyle/>
          <a:p>
            <a:pPr indent="0" marL="0">
              <a:lnSpc>
                <a:spcPct val="118000"/>
              </a:lnSpc>
              <a:buNone/>
            </a:pPr>
            <a:r>
              <a:rPr lang="en-US" sz="1050" dirty="0">
                <a:solidFill>
                  <a:srgbClr val="E7EEF7"/>
                </a:solidFill>
                <a:latin typeface="Arial" pitchFamily="34" charset="0"/>
                <a:ea typeface="Arial" pitchFamily="34" charset="-122"/>
                <a:cs typeface="Arial" pitchFamily="34" charset="-120"/>
              </a:rPr>
              <a:t>di payback nello scenario centrale (3,9 anche in quello prudenziale)</a:t>
            </a:r>
            <a:endParaRPr lang="en-US" sz="1050" dirty="0"/>
          </a:p>
        </p:txBody>
      </p:sp>
      <p:sp>
        <p:nvSpPr>
          <p:cNvPr id="13" name="Text 10"/>
          <p:cNvSpPr/>
          <p:nvPr/>
        </p:nvSpPr>
        <p:spPr>
          <a:xfrm>
            <a:off x="5943600" y="566928"/>
            <a:ext cx="5486400" cy="256032"/>
          </a:xfrm>
          <a:prstGeom prst="rect">
            <a:avLst/>
          </a:prstGeom>
          <a:noFill/>
          <a:ln/>
        </p:spPr>
        <p:txBody>
          <a:bodyPr wrap="square" rtlCol="0" anchor="ctr"/>
          <a:lstStyle/>
          <a:p>
            <a:pPr indent="0" marL="0">
              <a:buNone/>
            </a:pPr>
            <a:r>
              <a:rPr lang="en-US" sz="1050" b="1" spc="240" kern="0" dirty="0">
                <a:solidFill>
                  <a:srgbClr val="1E7DC2"/>
                </a:solidFill>
                <a:latin typeface="Arial" pitchFamily="34" charset="0"/>
                <a:ea typeface="Arial" pitchFamily="34" charset="-122"/>
                <a:cs typeface="Arial" pitchFamily="34" charset="-120"/>
              </a:rPr>
              <a:t>CONCLUSIONI</a:t>
            </a:r>
            <a:endParaRPr lang="en-US" sz="1050" dirty="0"/>
          </a:p>
        </p:txBody>
      </p:sp>
      <p:sp>
        <p:nvSpPr>
          <p:cNvPr id="14" name="Text 11"/>
          <p:cNvSpPr/>
          <p:nvPr/>
        </p:nvSpPr>
        <p:spPr>
          <a:xfrm>
            <a:off x="5943600" y="822960"/>
            <a:ext cx="5577840" cy="502920"/>
          </a:xfrm>
          <a:prstGeom prst="rect">
            <a:avLst/>
          </a:prstGeom>
          <a:noFill/>
          <a:ln/>
        </p:spPr>
        <p:txBody>
          <a:bodyPr wrap="square" rtlCol="0" anchor="ctr"/>
          <a:lstStyle/>
          <a:p>
            <a:pPr indent="0" marL="0">
              <a:buNone/>
            </a:pPr>
            <a:r>
              <a:rPr lang="en-US" sz="2300" dirty="0">
                <a:solidFill>
                  <a:srgbClr val="16255C"/>
                </a:solidFill>
                <a:latin typeface="Georgia" pitchFamily="34" charset="0"/>
                <a:ea typeface="Georgia" pitchFamily="34" charset="-122"/>
                <a:cs typeface="Georgia" pitchFamily="34" charset="-120"/>
              </a:rPr>
              <a:t>Una scelta obbligata dai numeri</a:t>
            </a:r>
            <a:endParaRPr lang="en-US" sz="2300" dirty="0"/>
          </a:p>
        </p:txBody>
      </p:sp>
      <p:sp>
        <p:nvSpPr>
          <p:cNvPr id="15" name="Shape 12"/>
          <p:cNvSpPr/>
          <p:nvPr/>
        </p:nvSpPr>
        <p:spPr>
          <a:xfrm>
            <a:off x="5943600" y="1508760"/>
            <a:ext cx="54864" cy="621792"/>
          </a:xfrm>
          <a:prstGeom prst="rect">
            <a:avLst/>
          </a:prstGeom>
          <a:solidFill>
            <a:srgbClr val="1E7DC2"/>
          </a:solidFill>
          <a:ln/>
        </p:spPr>
      </p:sp>
      <p:sp>
        <p:nvSpPr>
          <p:cNvPr id="16" name="Text 13"/>
          <p:cNvSpPr/>
          <p:nvPr/>
        </p:nvSpPr>
        <p:spPr>
          <a:xfrm>
            <a:off x="6144768" y="1463040"/>
            <a:ext cx="5394960" cy="749808"/>
          </a:xfrm>
          <a:prstGeom prst="rect">
            <a:avLst/>
          </a:prstGeom>
          <a:noFill/>
          <a:ln/>
        </p:spPr>
        <p:txBody>
          <a:bodyPr wrap="square" rtlCol="0" anchor="t"/>
          <a:lstStyle/>
          <a:p>
            <a:pPr indent="0" marL="0">
              <a:lnSpc>
                <a:spcPct val="108000"/>
              </a:lnSpc>
              <a:buNone/>
            </a:pPr>
            <a:r>
              <a:rPr lang="en-US" sz="1200" b="1" dirty="0">
                <a:solidFill>
                  <a:srgbClr val="16255C"/>
                </a:solidFill>
                <a:latin typeface="Arial" pitchFamily="34" charset="0"/>
                <a:ea typeface="Arial" pitchFamily="34" charset="-122"/>
                <a:cs typeface="Arial" pitchFamily="34" charset="-120"/>
              </a:rPr>
              <a:t>Economici
</a:t>
            </a:r>
            <a:pPr indent="0" marL="0">
              <a:lnSpc>
                <a:spcPct val="108000"/>
              </a:lnSpc>
              <a:buNone/>
            </a:pPr>
            <a:r>
              <a:rPr lang="en-US" sz="1050" dirty="0">
                <a:solidFill>
                  <a:srgbClr val="4C5563"/>
                </a:solidFill>
                <a:latin typeface="Arial" pitchFamily="34" charset="0"/>
                <a:ea typeface="Arial" pitchFamily="34" charset="-122"/>
                <a:cs typeface="Arial" pitchFamily="34" charset="-120"/>
              </a:rPr>
              <a:t>beneficio netto €20-78k/anno · costo per ritiro −37,7% · ROI 5 anni fino a +401%</a:t>
            </a:r>
            <a:endParaRPr lang="en-US" sz="1200" dirty="0"/>
          </a:p>
        </p:txBody>
      </p:sp>
      <p:sp>
        <p:nvSpPr>
          <p:cNvPr id="17" name="Shape 14"/>
          <p:cNvSpPr/>
          <p:nvPr/>
        </p:nvSpPr>
        <p:spPr>
          <a:xfrm>
            <a:off x="5943600" y="2286000"/>
            <a:ext cx="54864" cy="621792"/>
          </a:xfrm>
          <a:prstGeom prst="rect">
            <a:avLst/>
          </a:prstGeom>
          <a:solidFill>
            <a:srgbClr val="1E7DC2"/>
          </a:solidFill>
          <a:ln/>
        </p:spPr>
      </p:sp>
      <p:sp>
        <p:nvSpPr>
          <p:cNvPr id="18" name="Text 15"/>
          <p:cNvSpPr/>
          <p:nvPr/>
        </p:nvSpPr>
        <p:spPr>
          <a:xfrm>
            <a:off x="6144768" y="2240280"/>
            <a:ext cx="5394960" cy="749808"/>
          </a:xfrm>
          <a:prstGeom prst="rect">
            <a:avLst/>
          </a:prstGeom>
          <a:noFill/>
          <a:ln/>
        </p:spPr>
        <p:txBody>
          <a:bodyPr wrap="square" rtlCol="0" anchor="t"/>
          <a:lstStyle/>
          <a:p>
            <a:pPr indent="0" marL="0">
              <a:lnSpc>
                <a:spcPct val="108000"/>
              </a:lnSpc>
              <a:buNone/>
            </a:pPr>
            <a:r>
              <a:rPr lang="en-US" sz="1200" b="1" dirty="0">
                <a:solidFill>
                  <a:srgbClr val="16255C"/>
                </a:solidFill>
                <a:latin typeface="Arial" pitchFamily="34" charset="0"/>
                <a:ea typeface="Arial" pitchFamily="34" charset="-122"/>
                <a:cs typeface="Arial" pitchFamily="34" charset="-120"/>
              </a:rPr>
              <a:t>Logistici
</a:t>
            </a:r>
            <a:pPr indent="0" marL="0">
              <a:lnSpc>
                <a:spcPct val="108000"/>
              </a:lnSpc>
              <a:buNone/>
            </a:pPr>
            <a:r>
              <a:rPr lang="en-US" sz="1050" dirty="0">
                <a:solidFill>
                  <a:srgbClr val="4C5563"/>
                </a:solidFill>
                <a:latin typeface="Arial" pitchFamily="34" charset="0"/>
                <a:ea typeface="Arial" pitchFamily="34" charset="-122"/>
                <a:cs typeface="Arial" pitchFamily="34" charset="-120"/>
              </a:rPr>
              <a:t>lead time da 3,08 a 2,20 gg · OTD oltre il 90% · controllo di prima e ultima fascia</a:t>
            </a:r>
            <a:endParaRPr lang="en-US" sz="1200" dirty="0"/>
          </a:p>
        </p:txBody>
      </p:sp>
      <p:sp>
        <p:nvSpPr>
          <p:cNvPr id="19" name="Shape 16"/>
          <p:cNvSpPr/>
          <p:nvPr/>
        </p:nvSpPr>
        <p:spPr>
          <a:xfrm>
            <a:off x="5943600" y="3063240"/>
            <a:ext cx="54864" cy="621792"/>
          </a:xfrm>
          <a:prstGeom prst="rect">
            <a:avLst/>
          </a:prstGeom>
          <a:solidFill>
            <a:srgbClr val="1E7DC2"/>
          </a:solidFill>
          <a:ln/>
        </p:spPr>
      </p:sp>
      <p:sp>
        <p:nvSpPr>
          <p:cNvPr id="20" name="Text 17"/>
          <p:cNvSpPr/>
          <p:nvPr/>
        </p:nvSpPr>
        <p:spPr>
          <a:xfrm>
            <a:off x="6144768" y="3017520"/>
            <a:ext cx="5394960" cy="749808"/>
          </a:xfrm>
          <a:prstGeom prst="rect">
            <a:avLst/>
          </a:prstGeom>
          <a:noFill/>
          <a:ln/>
        </p:spPr>
        <p:txBody>
          <a:bodyPr wrap="square" rtlCol="0" anchor="t"/>
          <a:lstStyle/>
          <a:p>
            <a:pPr indent="0" marL="0">
              <a:lnSpc>
                <a:spcPct val="108000"/>
              </a:lnSpc>
              <a:buNone/>
            </a:pPr>
            <a:r>
              <a:rPr lang="en-US" sz="1200" b="1" dirty="0">
                <a:solidFill>
                  <a:srgbClr val="16255C"/>
                </a:solidFill>
                <a:latin typeface="Arial" pitchFamily="34" charset="0"/>
                <a:ea typeface="Arial" pitchFamily="34" charset="-122"/>
                <a:cs typeface="Arial" pitchFamily="34" charset="-120"/>
              </a:rPr>
              <a:t>Strategici
</a:t>
            </a:r>
            <a:pPr indent="0" marL="0">
              <a:lnSpc>
                <a:spcPct val="108000"/>
              </a:lnSpc>
              <a:buNone/>
            </a:pPr>
            <a:r>
              <a:rPr lang="en-US" sz="1050" dirty="0">
                <a:solidFill>
                  <a:srgbClr val="4C5563"/>
                </a:solidFill>
                <a:latin typeface="Arial" pitchFamily="34" charset="0"/>
                <a:ea typeface="Arial" pitchFamily="34" charset="-122"/>
                <a:cs typeface="Arial" pitchFamily="34" charset="-120"/>
              </a:rPr>
              <a:t>de-risking della concentrazione lombarda (77,6%) · presidio del corridoio tedesco · ingresso nell'ecosistema Interporto</a:t>
            </a:r>
            <a:endParaRPr lang="en-US" sz="1200" dirty="0"/>
          </a:p>
        </p:txBody>
      </p:sp>
      <p:sp>
        <p:nvSpPr>
          <p:cNvPr id="21" name="Shape 18"/>
          <p:cNvSpPr/>
          <p:nvPr/>
        </p:nvSpPr>
        <p:spPr>
          <a:xfrm>
            <a:off x="5943600" y="3886200"/>
            <a:ext cx="5605272" cy="2468880"/>
          </a:xfrm>
          <a:prstGeom prst="roundRect">
            <a:avLst>
              <a:gd name="adj" fmla="val 2963"/>
            </a:avLst>
          </a:prstGeom>
          <a:solidFill>
            <a:srgbClr val="DEE8F3"/>
          </a:solidFill>
          <a:ln w="12700">
            <a:solidFill>
              <a:srgbClr val="C4D6EA"/>
            </a:solidFill>
            <a:prstDash val="solid"/>
          </a:ln>
          <a:effectLst>
            <a:outerShdw sx="100000" sy="100000" kx="0" ky="0" algn="bl" rotWithShape="0" blurRad="88900" dist="25400" dir="5400000">
              <a:srgbClr val="D9D5CC">
                <a:alpha val="40000"/>
              </a:srgbClr>
            </a:outerShdw>
          </a:effectLst>
        </p:spPr>
      </p:sp>
      <p:sp>
        <p:nvSpPr>
          <p:cNvPr id="22" name="Text 19"/>
          <p:cNvSpPr/>
          <p:nvPr/>
        </p:nvSpPr>
        <p:spPr>
          <a:xfrm>
            <a:off x="6217920" y="4041648"/>
            <a:ext cx="5120640" cy="274320"/>
          </a:xfrm>
          <a:prstGeom prst="rect">
            <a:avLst/>
          </a:prstGeom>
          <a:noFill/>
          <a:ln/>
        </p:spPr>
        <p:txBody>
          <a:bodyPr wrap="square" rtlCol="0" anchor="ctr"/>
          <a:lstStyle/>
          <a:p>
            <a:pPr indent="0" marL="0">
              <a:buNone/>
            </a:pPr>
            <a:r>
              <a:rPr lang="en-US" sz="950" b="1" spc="130" kern="0" dirty="0">
                <a:solidFill>
                  <a:srgbClr val="24406F"/>
                </a:solidFill>
                <a:latin typeface="Arial" pitchFamily="34" charset="0"/>
                <a:ea typeface="Arial" pitchFamily="34" charset="-122"/>
                <a:cs typeface="Arial" pitchFamily="34" charset="-120"/>
              </a:rPr>
              <a:t>AZIONI CONSIGLIATE · PRIMI 90 GIORNI</a:t>
            </a:r>
            <a:endParaRPr lang="en-US" sz="950" dirty="0"/>
          </a:p>
        </p:txBody>
      </p:sp>
      <p:sp>
        <p:nvSpPr>
          <p:cNvPr id="23" name="Text 20"/>
          <p:cNvSpPr/>
          <p:nvPr/>
        </p:nvSpPr>
        <p:spPr>
          <a:xfrm>
            <a:off x="6217920" y="4407408"/>
            <a:ext cx="292608" cy="411480"/>
          </a:xfrm>
          <a:prstGeom prst="rect">
            <a:avLst/>
          </a:prstGeom>
          <a:noFill/>
          <a:ln/>
        </p:spPr>
        <p:txBody>
          <a:bodyPr wrap="square" rtlCol="0" anchor="ctr"/>
          <a:lstStyle/>
          <a:p>
            <a:pPr indent="0" marL="0">
              <a:buNone/>
            </a:pPr>
            <a:r>
              <a:rPr lang="en-US" sz="1400" dirty="0">
                <a:solidFill>
                  <a:srgbClr val="1E3A7B"/>
                </a:solidFill>
                <a:latin typeface="Georgia" pitchFamily="34" charset="0"/>
                <a:ea typeface="Georgia" pitchFamily="34" charset="-122"/>
                <a:cs typeface="Georgia" pitchFamily="34" charset="-120"/>
              </a:rPr>
              <a:t>1</a:t>
            </a:r>
            <a:endParaRPr lang="en-US" sz="1400" dirty="0"/>
          </a:p>
        </p:txBody>
      </p:sp>
      <p:sp>
        <p:nvSpPr>
          <p:cNvPr id="24" name="Text 21"/>
          <p:cNvSpPr/>
          <p:nvPr/>
        </p:nvSpPr>
        <p:spPr>
          <a:xfrm>
            <a:off x="6583680" y="4407408"/>
            <a:ext cx="4846320" cy="438912"/>
          </a:xfrm>
          <a:prstGeom prst="rect">
            <a:avLst/>
          </a:prstGeom>
          <a:noFill/>
          <a:ln/>
        </p:spPr>
        <p:txBody>
          <a:bodyPr wrap="square" rtlCol="0" anchor="ctr"/>
          <a:lstStyle/>
          <a:p>
            <a:pPr indent="0" marL="0">
              <a:lnSpc>
                <a:spcPct val="100000"/>
              </a:lnSpc>
              <a:buNone/>
            </a:pPr>
            <a:r>
              <a:rPr lang="en-US" sz="950" dirty="0">
                <a:solidFill>
                  <a:srgbClr val="24406F"/>
                </a:solidFill>
                <a:latin typeface="Arial" pitchFamily="34" charset="0"/>
                <a:ea typeface="Arial" pitchFamily="34" charset="-122"/>
                <a:cs typeface="Arial" pitchFamily="34" charset="-120"/>
              </a:rPr>
              <a:t>Firmare la locazione (recesso a 12 mesi, compartecipazione all'efficientamento energetico).</a:t>
            </a:r>
            <a:endParaRPr lang="en-US" sz="950" dirty="0"/>
          </a:p>
        </p:txBody>
      </p:sp>
      <p:sp>
        <p:nvSpPr>
          <p:cNvPr id="25" name="Text 22"/>
          <p:cNvSpPr/>
          <p:nvPr/>
        </p:nvSpPr>
        <p:spPr>
          <a:xfrm>
            <a:off x="6217920" y="4864608"/>
            <a:ext cx="292608" cy="411480"/>
          </a:xfrm>
          <a:prstGeom prst="rect">
            <a:avLst/>
          </a:prstGeom>
          <a:noFill/>
          <a:ln/>
        </p:spPr>
        <p:txBody>
          <a:bodyPr wrap="square" rtlCol="0" anchor="ctr"/>
          <a:lstStyle/>
          <a:p>
            <a:pPr indent="0" marL="0">
              <a:buNone/>
            </a:pPr>
            <a:r>
              <a:rPr lang="en-US" sz="1400" dirty="0">
                <a:solidFill>
                  <a:srgbClr val="1E3A7B"/>
                </a:solidFill>
                <a:latin typeface="Georgia" pitchFamily="34" charset="0"/>
                <a:ea typeface="Georgia" pitchFamily="34" charset="-122"/>
                <a:cs typeface="Georgia" pitchFamily="34" charset="-120"/>
              </a:rPr>
              <a:t>2</a:t>
            </a:r>
            <a:endParaRPr lang="en-US" sz="1400" dirty="0"/>
          </a:p>
        </p:txBody>
      </p:sp>
      <p:sp>
        <p:nvSpPr>
          <p:cNvPr id="26" name="Text 23"/>
          <p:cNvSpPr/>
          <p:nvPr/>
        </p:nvSpPr>
        <p:spPr>
          <a:xfrm>
            <a:off x="6583680" y="4864608"/>
            <a:ext cx="4846320" cy="438912"/>
          </a:xfrm>
          <a:prstGeom prst="rect">
            <a:avLst/>
          </a:prstGeom>
          <a:noFill/>
          <a:ln/>
        </p:spPr>
        <p:txBody>
          <a:bodyPr wrap="square" rtlCol="0" anchor="ctr"/>
          <a:lstStyle/>
          <a:p>
            <a:pPr indent="0" marL="0">
              <a:lnSpc>
                <a:spcPct val="100000"/>
              </a:lnSpc>
              <a:buNone/>
            </a:pPr>
            <a:r>
              <a:rPr lang="en-US" sz="950" dirty="0">
                <a:solidFill>
                  <a:srgbClr val="24406F"/>
                </a:solidFill>
                <a:latin typeface="Arial" pitchFamily="34" charset="0"/>
                <a:ea typeface="Arial" pitchFamily="34" charset="-122"/>
                <a:cs typeface="Arial" pitchFamily="34" charset="-120"/>
              </a:rPr>
              <a:t>Ordinare scaffali, attrezzature di laboratorio e allestimento mezzo; attivare il WMS in cloud.</a:t>
            </a:r>
            <a:endParaRPr lang="en-US" sz="950" dirty="0"/>
          </a:p>
        </p:txBody>
      </p:sp>
      <p:sp>
        <p:nvSpPr>
          <p:cNvPr id="27" name="Text 24"/>
          <p:cNvSpPr/>
          <p:nvPr/>
        </p:nvSpPr>
        <p:spPr>
          <a:xfrm>
            <a:off x="6217920" y="5321808"/>
            <a:ext cx="292608" cy="411480"/>
          </a:xfrm>
          <a:prstGeom prst="rect">
            <a:avLst/>
          </a:prstGeom>
          <a:noFill/>
          <a:ln/>
        </p:spPr>
        <p:txBody>
          <a:bodyPr wrap="square" rtlCol="0" anchor="ctr"/>
          <a:lstStyle/>
          <a:p>
            <a:pPr indent="0" marL="0">
              <a:buNone/>
            </a:pPr>
            <a:r>
              <a:rPr lang="en-US" sz="1400" dirty="0">
                <a:solidFill>
                  <a:srgbClr val="1E3A7B"/>
                </a:solidFill>
                <a:latin typeface="Georgia" pitchFamily="34" charset="0"/>
                <a:ea typeface="Georgia" pitchFamily="34" charset="-122"/>
                <a:cs typeface="Georgia" pitchFamily="34" charset="-120"/>
              </a:rPr>
              <a:t>3</a:t>
            </a:r>
            <a:endParaRPr lang="en-US" sz="1400" dirty="0"/>
          </a:p>
        </p:txBody>
      </p:sp>
      <p:sp>
        <p:nvSpPr>
          <p:cNvPr id="28" name="Text 25"/>
          <p:cNvSpPr/>
          <p:nvPr/>
        </p:nvSpPr>
        <p:spPr>
          <a:xfrm>
            <a:off x="6583680" y="5321808"/>
            <a:ext cx="4846320" cy="438912"/>
          </a:xfrm>
          <a:prstGeom prst="rect">
            <a:avLst/>
          </a:prstGeom>
          <a:noFill/>
          <a:ln/>
        </p:spPr>
        <p:txBody>
          <a:bodyPr wrap="square" rtlCol="0" anchor="ctr"/>
          <a:lstStyle/>
          <a:p>
            <a:pPr indent="0" marL="0">
              <a:lnSpc>
                <a:spcPct val="100000"/>
              </a:lnSpc>
              <a:buNone/>
            </a:pPr>
            <a:r>
              <a:rPr lang="en-US" sz="950" dirty="0">
                <a:solidFill>
                  <a:srgbClr val="24406F"/>
                </a:solidFill>
                <a:latin typeface="Arial" pitchFamily="34" charset="0"/>
                <a:ea typeface="Arial" pitchFamily="34" charset="-122"/>
                <a:cs typeface="Arial" pitchFamily="34" charset="-120"/>
              </a:rPr>
              <a:t>Selezionare l'organico dal bacino Interporto e avviare la formazione sui processi qualità.</a:t>
            </a:r>
            <a:endParaRPr lang="en-US" sz="950" dirty="0"/>
          </a:p>
        </p:txBody>
      </p:sp>
      <p:sp>
        <p:nvSpPr>
          <p:cNvPr id="29" name="Text 26"/>
          <p:cNvSpPr/>
          <p:nvPr/>
        </p:nvSpPr>
        <p:spPr>
          <a:xfrm>
            <a:off x="6217920" y="5779008"/>
            <a:ext cx="292608" cy="411480"/>
          </a:xfrm>
          <a:prstGeom prst="rect">
            <a:avLst/>
          </a:prstGeom>
          <a:noFill/>
          <a:ln/>
        </p:spPr>
        <p:txBody>
          <a:bodyPr wrap="square" rtlCol="0" anchor="ctr"/>
          <a:lstStyle/>
          <a:p>
            <a:pPr indent="0" marL="0">
              <a:buNone/>
            </a:pPr>
            <a:r>
              <a:rPr lang="en-US" sz="1400" dirty="0">
                <a:solidFill>
                  <a:srgbClr val="1E3A7B"/>
                </a:solidFill>
                <a:latin typeface="Georgia" pitchFamily="34" charset="0"/>
                <a:ea typeface="Georgia" pitchFamily="34" charset="-122"/>
                <a:cs typeface="Georgia" pitchFamily="34" charset="-120"/>
              </a:rPr>
              <a:t>4</a:t>
            </a:r>
            <a:endParaRPr lang="en-US" sz="1400" dirty="0"/>
          </a:p>
        </p:txBody>
      </p:sp>
      <p:sp>
        <p:nvSpPr>
          <p:cNvPr id="30" name="Text 27"/>
          <p:cNvSpPr/>
          <p:nvPr/>
        </p:nvSpPr>
        <p:spPr>
          <a:xfrm>
            <a:off x="6583680" y="5779008"/>
            <a:ext cx="4846320" cy="438912"/>
          </a:xfrm>
          <a:prstGeom prst="rect">
            <a:avLst/>
          </a:prstGeom>
          <a:noFill/>
          <a:ln/>
        </p:spPr>
        <p:txBody>
          <a:bodyPr wrap="square" rtlCol="0" anchor="ctr"/>
          <a:lstStyle/>
          <a:p>
            <a:pPr indent="0" marL="0">
              <a:lnSpc>
                <a:spcPct val="100000"/>
              </a:lnSpc>
              <a:buNone/>
            </a:pPr>
            <a:r>
              <a:rPr lang="en-US" sz="950" dirty="0">
                <a:solidFill>
                  <a:srgbClr val="24406F"/>
                </a:solidFill>
                <a:latin typeface="Arial" pitchFamily="34" charset="0"/>
                <a:ea typeface="Arial" pitchFamily="34" charset="-122"/>
                <a:cs typeface="Arial" pitchFamily="34" charset="-120"/>
              </a:rPr>
              <a:t>Migrare in navetta i primi 1.500 ritiri e fissare la review KPI trimestrale in Direzione.</a:t>
            </a:r>
            <a:endParaRPr lang="en-US" sz="950" dirty="0"/>
          </a:p>
        </p:txBody>
      </p:sp>
      <p:sp>
        <p:nvSpPr>
          <p:cNvPr id="31" name="Shape 28"/>
          <p:cNvSpPr/>
          <p:nvPr/>
        </p:nvSpPr>
        <p:spPr>
          <a:xfrm>
            <a:off x="640080" y="6437376"/>
            <a:ext cx="10911535" cy="0"/>
          </a:xfrm>
          <a:prstGeom prst="line">
            <a:avLst/>
          </a:prstGeom>
          <a:noFill/>
          <a:ln w="12700">
            <a:solidFill>
              <a:srgbClr val="E4E1D9"/>
            </a:solidFill>
            <a:prstDash val="solid"/>
          </a:ln>
        </p:spPr>
      </p:sp>
      <p:sp>
        <p:nvSpPr>
          <p:cNvPr id="32" name="Text 29"/>
          <p:cNvSpPr/>
          <p:nvPr/>
        </p:nvSpPr>
        <p:spPr>
          <a:xfrm>
            <a:off x="640080" y="6492240"/>
            <a:ext cx="8229600" cy="237744"/>
          </a:xfrm>
          <a:prstGeom prst="rect">
            <a:avLst/>
          </a:prstGeom>
          <a:noFill/>
          <a:ln/>
        </p:spPr>
        <p:txBody>
          <a:bodyPr wrap="square" rtlCol="0" anchor="ctr"/>
          <a:lstStyle/>
          <a:p>
            <a:pPr indent="0" marL="0">
              <a:buNone/>
            </a:pPr>
            <a:r>
              <a:rPr lang="en-US" sz="750" dirty="0">
                <a:solidFill>
                  <a:srgbClr val="8A929B"/>
                </a:solidFill>
                <a:latin typeface="Arial" pitchFamily="34" charset="0"/>
                <a:ea typeface="Arial" pitchFamily="34" charset="-122"/>
                <a:cs typeface="Arial" pitchFamily="34" charset="-120"/>
              </a:rPr>
              <a:t>Studio di fattibilità · Nuovo magazzino e laboratorio logistico · TMWE</a:t>
            </a:r>
            <a:endParaRPr lang="en-US" sz="750" dirty="0"/>
          </a:p>
        </p:txBody>
      </p:sp>
      <p:sp>
        <p:nvSpPr>
          <p:cNvPr id="33" name="Text 30"/>
          <p:cNvSpPr/>
          <p:nvPr/>
        </p:nvSpPr>
        <p:spPr>
          <a:xfrm>
            <a:off x="9722815" y="6492240"/>
            <a:ext cx="1828800" cy="237744"/>
          </a:xfrm>
          <a:prstGeom prst="rect">
            <a:avLst/>
          </a:prstGeom>
          <a:noFill/>
          <a:ln/>
        </p:spPr>
        <p:txBody>
          <a:bodyPr wrap="square" rtlCol="0" anchor="ctr"/>
          <a:lstStyle/>
          <a:p>
            <a:pPr algn="r" indent="0" marL="0">
              <a:buNone/>
            </a:pPr>
            <a:r>
              <a:rPr lang="en-US" sz="750" dirty="0">
                <a:solidFill>
                  <a:srgbClr val="8A929B"/>
                </a:solidFill>
                <a:latin typeface="Arial" pitchFamily="34" charset="0"/>
                <a:ea typeface="Arial" pitchFamily="34" charset="-122"/>
                <a:cs typeface="Arial" pitchFamily="34" charset="-120"/>
              </a:rPr>
              <a:t>22 / 22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MOBILITA ITS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Studio di fattibilità — Nuovo polo logistico TMWE</dc:title>
  <dc:subject>PptxGenJS Presentation</dc:subject>
  <dc:creator>Raju Ferrisi</dc:creator>
  <cp:lastModifiedBy>Raju Ferrisi</cp:lastModifiedBy>
  <cp:revision>1</cp:revision>
  <dcterms:created xsi:type="dcterms:W3CDTF">2026-07-17T21:54:38Z</dcterms:created>
  <dcterms:modified xsi:type="dcterms:W3CDTF">2026-07-17T21:54:38Z</dcterms:modified>
</cp:coreProperties>
</file>