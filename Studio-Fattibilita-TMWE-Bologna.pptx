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Mix vettori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6B57"/>
              </a:solidFill>
              <a:effectLst/>
            </c:spPr>
          </c:dPt>
          <c:dPt>
            <c:idx val="1"/>
            <c:bubble3D val="0"/>
            <c:spPr>
              <a:solidFill>
                <a:srgbClr val="B0812E"/>
              </a:solidFill>
              <a:effectLst/>
            </c:spPr>
          </c:dPt>
          <c:dPt>
            <c:idx val="2"/>
            <c:bubble3D val="0"/>
            <c:spPr>
              <a:solidFill>
                <a:srgbClr val="7FA99B"/>
              </a:solidFill>
              <a:effectLst/>
            </c:spPr>
          </c:dPt>
          <c:dPt>
            <c:idx val="3"/>
            <c:bubble3D val="0"/>
            <c:spPr>
              <a:solidFill>
                <a:srgbClr val="BEA063"/>
              </a:solidFill>
              <a:effectLst/>
            </c:spPr>
          </c:dPt>
          <c:dPt>
            <c:idx val="4"/>
            <c:bubble3D val="0"/>
            <c:spPr>
              <a:solidFill>
                <a:srgbClr val="AEB5BB"/>
              </a:solidFill>
              <a:effectLst/>
            </c:spPr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.0&quot;%&quot;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.0&quot;%&quot;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.0&quot;%&quot;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.0&quot;%&quot;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DHL Express</c:v>
                </c:pt>
                <c:pt idx="1">
                  <c:v>FedEx</c:v>
                </c:pt>
                <c:pt idx="2">
                  <c:v>UPS</c:v>
                </c:pt>
                <c:pt idx="3">
                  <c:v>Marchio proprio</c:v>
                </c:pt>
                <c:pt idx="4">
                  <c:v>Flotta interna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64.3</c:v>
                </c:pt>
                <c:pt idx="1">
                  <c:v>11.3</c:v>
                </c:pt>
                <c:pt idx="2">
                  <c:v>10.8</c:v>
                </c:pt>
                <c:pt idx="3">
                  <c:v>9.7</c:v>
                </c:pt>
                <c:pt idx="4">
                  <c:v>3.8</c:v>
                </c:pt>
              </c:numCache>
            </c:numRef>
          </c:val>
        </c:ser>
        <c:firstSliceAng val="0"/>
        <c:holeSize val="58"/>
      </c:doughnutChart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25C6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Fatturato</c:v>
                </c:pt>
              </c:strCache>
            </c:strRef>
          </c:tx>
          <c:spPr>
            <a:solidFill>
              <a:srgbClr val="BFCFC9"/>
            </a:solidFill>
            <a:effectLst/>
          </c:spPr>
          <c:invertIfNegative val="0"/>
          <c:dLbls>
            <c:numFmt formatCode="€0.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C2A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FCF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6B5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2020</c:v>
                  </c:pt>
                  <c:pt idx="1">
                    <c:v>2023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2.33</c:v>
                </c:pt>
                <c:pt idx="1">
                  <c:v>7.48</c:v>
                </c:pt>
              </c:numCache>
            </c:numRef>
          </c:val>
        </c:ser>
        <c:dLbls>
          <c:numFmt formatCode="€0.00" sourceLinked="0"/>
          <c:txPr>
            <a:bodyPr/>
            <a:lstStyle/>
            <a:p>
              <a:pPr>
                <a:defRPr b="1" i="0" strike="noStrike" sz="1100" u="none">
                  <a:solidFill>
                    <a:srgbClr val="1C2A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C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949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Ritiri</c:v>
                </c:pt>
              </c:strCache>
            </c:strRef>
          </c:tx>
          <c:spPr>
            <a:solidFill>
              <a:srgbClr val="1E6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C2A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6B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8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DA99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7C7C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7C7C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Germania</c:v>
                  </c:pt>
                  <c:pt idx="1">
                    <c:v>Francia</c:v>
                  </c:pt>
                  <c:pt idx="2">
                    <c:v>Spagna</c:v>
                  </c:pt>
                  <c:pt idx="3">
                    <c:v>Stati Uniti</c:v>
                  </c:pt>
                  <c:pt idx="4">
                    <c:v>Singapore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427</c:v>
                </c:pt>
                <c:pt idx="1">
                  <c:v>263</c:v>
                </c:pt>
                <c:pt idx="2">
                  <c:v>160</c:v>
                </c:pt>
                <c:pt idx="3">
                  <c:v>107</c:v>
                </c:pt>
                <c:pt idx="4">
                  <c:v>107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C2A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C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949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Ritiri</c:v>
                </c:pt>
              </c:strCache>
            </c:strRef>
          </c:tx>
          <c:spPr>
            <a:solidFill>
              <a:srgbClr val="1E6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C2A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6B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B0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3CB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Nord Italia</c:v>
                  </c:pt>
                  <c:pt idx="1">
                    <c:v>Centro Italia</c:v>
                  </c:pt>
                  <c:pt idx="2">
                    <c:v>Sud e Isole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73512</c:v>
                </c:pt>
                <c:pt idx="1">
                  <c:v>5698</c:v>
                </c:pt>
                <c:pt idx="2">
                  <c:v>2434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C2A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525C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949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Punteggio</c:v>
                </c:pt>
              </c:strCache>
            </c:strRef>
          </c:tx>
          <c:spPr>
            <a:solidFill>
              <a:srgbClr val="1E6B5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C2A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6B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D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D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EBDB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EBDB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Bologna</c:v>
                  </c:pt>
                  <c:pt idx="1">
                    <c:v>Padova/Verona</c:v>
                  </c:pt>
                  <c:pt idx="2">
                    <c:v>Torino</c:v>
                  </c:pt>
                  <c:pt idx="3">
                    <c:v>Napoli</c:v>
                  </c:pt>
                  <c:pt idx="4">
                    <c:v>Roma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8.93</c:v>
                </c:pt>
                <c:pt idx="1">
                  <c:v>6.73</c:v>
                </c:pt>
                <c:pt idx="2">
                  <c:v>6.45</c:v>
                </c:pt>
                <c:pt idx="3">
                  <c:v>6.28</c:v>
                </c:pt>
                <c:pt idx="4">
                  <c:v>6.18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100" u="none">
                  <a:solidFill>
                    <a:srgbClr val="1C2A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C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949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Beneficio netto</c:v>
                </c:pt>
              </c:strCache>
            </c:strRef>
          </c:tx>
          <c:spPr>
            <a:solidFill>
              <a:srgbClr val="AEBDB7"/>
            </a:solidFill>
            <a:effectLst/>
          </c:spPr>
          <c:invertIfNegative val="0"/>
          <c:dLbls>
            <c:numFmt formatCode="#,##0&quot;€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C2A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D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6B5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34A3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Prudenziale</c:v>
                  </c:pt>
                  <c:pt idx="1">
                    <c:v>Realistico</c:v>
                  </c:pt>
                  <c:pt idx="2">
                    <c:v>Espansivo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20100</c:v>
                </c:pt>
                <c:pt idx="1">
                  <c:v>52900</c:v>
                </c:pt>
                <c:pt idx="2">
                  <c:v>78100</c:v>
                </c:pt>
              </c:numCache>
            </c:numRef>
          </c:val>
        </c:ser>
        <c:dLbls>
          <c:numFmt formatCode="#,##0&quot;€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C2A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C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949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82296" cy="306324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0" y="109728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EDEA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0" dirty="0"/>
          </a:p>
        </p:txBody>
      </p:sp>
      <p:sp>
        <p:nvSpPr>
          <p:cNvPr id="9" name="Text 7"/>
          <p:cNvSpPr/>
          <p:nvPr/>
        </p:nvSpPr>
        <p:spPr>
          <a:xfrm>
            <a:off x="932688" y="15727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STRATEGICA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1993392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Dove aprire il prossimo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polo logistico di TMWE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932688" y="379476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Localizzazione di un nuovo magazzino e laboratorio per diversificare la rete oltre la Lombardia e recuperare margine sull'ultimo miglio.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32688" y="5029200"/>
            <a:ext cx="932688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175504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CORSISTA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932688" y="5394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Raju Ferrisi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28416" y="5175504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 AZIENDALE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328416" y="5394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Imane Smouni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724144" y="5175504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 FORMATIVO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724144" y="5394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/ 2026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119872" y="5175504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PERCORSO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119872" y="5394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Logistica intermodale e sostenibile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 DI PARTENZA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Un'azienda che cresce, ma poggia su un solo bacino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27632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TMWE ha più che triplicato il fatturato in tre anni. La sua forza operativa — la concentrazione su Milano — è però anche la sua fragilità strategica.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×3,2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468880" y="284378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Fatturato 2020 → 2023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3191256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€2,33 a €7,48 milioni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557784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776472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B081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96,4%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2468880" y="3831336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Operazioni su vettori terzi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468880" y="417880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DHL, FedEx e UPS come fornitori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690872"/>
            <a:ext cx="557784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764024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77,6%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2468880" y="481888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Ritiri nazionali dalla Lombardia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468880" y="5166360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domanda concentrata su un'unica area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720840" y="1627632"/>
            <a:ext cx="4828032" cy="3977640"/>
          </a:xfrm>
          <a:prstGeom prst="roundRect">
            <a:avLst>
              <a:gd name="adj" fmla="val 1839"/>
            </a:avLst>
          </a:prstGeom>
          <a:solidFill>
            <a:srgbClr val="1C2A32"/>
          </a:solidFill>
          <a:ln w="12700">
            <a:solidFill>
              <a:srgbClr val="1C2A32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86600" y="2011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DOMANDA DELLO STUDIO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86600" y="233172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Dove conviene aprire il secondo polo logistico?</a:t>
            </a:r>
            <a:endParaRPr lang="en-US" sz="2500" dirty="0"/>
          </a:p>
        </p:txBody>
      </p:sp>
      <p:sp>
        <p:nvSpPr>
          <p:cNvPr id="25" name="Shape 23"/>
          <p:cNvSpPr/>
          <p:nvPr/>
        </p:nvSpPr>
        <p:spPr>
          <a:xfrm>
            <a:off x="7086600" y="3794760"/>
            <a:ext cx="4096512" cy="0"/>
          </a:xfrm>
          <a:prstGeom prst="line">
            <a:avLst/>
          </a:prstGeom>
          <a:noFill/>
          <a:ln w="12700">
            <a:solidFill>
              <a:srgbClr val="3A4E5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3192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scelta da fondare sui dati — non sulle intuizioni — attraverso l'analisi dell'intera rete di ritiri e un metodo di selezione trasparente.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29" name="Text 27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Diversificare fuori dalla Lombardia è la leva per ridurre il rischio e liberare nuovo margine.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19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L'AZIENDA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TMWE: freight forwarder internazionale, modello asset-light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002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nel 1999 e operativa dal 2005, Transport Management Worldwide Express opera come spedizioniere internazionale in un network globale, mantenendo il controllo commerciale del cliente senza possedere gli asset di trasporto.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487168"/>
            <a:ext cx="254203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2697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1999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96112" y="321868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00" spc="6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 DI FONDAZIONE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96112" y="362102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operatività dal 2005 (Milano)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364992" y="2487168"/>
            <a:ext cx="254203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21024" y="2697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7.000+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621024" y="321868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00" spc="6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AFFILIATE NEL NETWORK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21024" y="362102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oltre 190 Paesi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89904" y="2487168"/>
            <a:ext cx="254203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45936" y="2697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82.766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345936" y="321868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00" spc="6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SPEDIZIONI ANALIZZATE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45936" y="362102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consolidato su 17 variabili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814816" y="2487168"/>
            <a:ext cx="254203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070848" y="2697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16,4%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070848" y="321868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00" spc="6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MARGINE LORDO DI INTERMEDIAZIONE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070848" y="362102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modello multi-vettore ad alta rotazione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40080" y="4297680"/>
            <a:ext cx="6492240" cy="1371600"/>
          </a:xfrm>
          <a:prstGeom prst="roundRect">
            <a:avLst>
              <a:gd name="adj" fmla="val 5333"/>
            </a:avLst>
          </a:prstGeom>
          <a:solidFill>
            <a:srgbClr val="EFE6D2"/>
          </a:solidFill>
          <a:ln w="12700">
            <a:solidFill>
              <a:srgbClr val="E4D6B4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60120" y="4480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B081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«We go far and keep close to you»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60120" y="502920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Copertura globale e prossimità al cliente: il posizionamento sintetizzato dal motto aziendale.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425696"/>
            <a:ext cx="109728" cy="109728"/>
          </a:xfrm>
          <a:prstGeom prst="oval">
            <a:avLst/>
          </a:prstGeom>
          <a:solidFill>
            <a:srgbClr val="1E6B57"/>
          </a:solidFill>
          <a:ln/>
        </p:spPr>
      </p:sp>
      <p:sp>
        <p:nvSpPr>
          <p:cNvPr id="31" name="Text 29"/>
          <p:cNvSpPr/>
          <p:nvPr/>
        </p:nvSpPr>
        <p:spPr>
          <a:xfrm>
            <a:off x="7635240" y="42976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Affidabilità  </a:t>
            </a:r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OTD fino al 79,8% sui nodi presidiati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406640" y="4892040"/>
            <a:ext cx="109728" cy="109728"/>
          </a:xfrm>
          <a:prstGeom prst="oval">
            <a:avLst/>
          </a:prstGeom>
          <a:solidFill>
            <a:srgbClr val="1E6B57"/>
          </a:solidFill>
          <a:ln/>
        </p:spPr>
      </p:sp>
      <p:sp>
        <p:nvSpPr>
          <p:cNvPr id="33" name="Text 31"/>
          <p:cNvSpPr/>
          <p:nvPr/>
        </p:nvSpPr>
        <p:spPr>
          <a:xfrm>
            <a:off x="7635240" y="476402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Flessibilità  </a:t>
            </a:r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arbitraggio tariffe multi-vettore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406640" y="5358384"/>
            <a:ext cx="109728" cy="109728"/>
          </a:xfrm>
          <a:prstGeom prst="oval">
            <a:avLst/>
          </a:prstGeom>
          <a:solidFill>
            <a:srgbClr val="1E6B57"/>
          </a:solidFill>
          <a:ln/>
        </p:spPr>
      </p:sp>
      <p:sp>
        <p:nvSpPr>
          <p:cNvPr id="35" name="Text 33"/>
          <p:cNvSpPr/>
          <p:nvPr/>
        </p:nvSpPr>
        <p:spPr>
          <a:xfrm>
            <a:off x="7635240" y="52303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Prossimità  </a:t>
            </a:r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referente diretto e gestione su misura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19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IL MODELLO OPERATIVO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Multi-carrier: arbitrare i grandi network, controllare il cliente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73736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graphicFrame>
        <p:nvGraphicFramePr>
          <p:cNvPr id="11" name="Chart 0" descr=""/>
          <p:cNvGraphicFramePr/>
          <p:nvPr/>
        </p:nvGraphicFramePr>
        <p:xfrm>
          <a:off x="777240" y="187452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6126480" y="187452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96,4% dei trasporti è affidato a network terzi.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126480" y="269748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L'assetto asset-light consente di scegliere, per ogni spedizione, il vettore migliore per direttrice, urgenza e fascia di peso — mantenendo il controllo commerciale del cliente.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45720" cy="402336"/>
          </a:xfrm>
          <a:prstGeom prst="rect">
            <a:avLst/>
          </a:prstGeom>
          <a:solidFill>
            <a:srgbClr val="B0812E"/>
          </a:solidFill>
          <a:ln/>
        </p:spPr>
      </p:sp>
      <p:sp>
        <p:nvSpPr>
          <p:cNvPr id="15" name="Text 12"/>
          <p:cNvSpPr/>
          <p:nvPr/>
        </p:nvSpPr>
        <p:spPr>
          <a:xfrm>
            <a:off x="6309360" y="3794760"/>
            <a:ext cx="5212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DHL Express Domestic
</a:t>
            </a:r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39.224 spedizioni · servizio più utilizzato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126480" y="4407408"/>
            <a:ext cx="45720" cy="402336"/>
          </a:xfrm>
          <a:prstGeom prst="rect">
            <a:avLst/>
          </a:prstGeom>
          <a:solidFill>
            <a:srgbClr val="B0812E"/>
          </a:solidFill>
          <a:ln/>
        </p:spPr>
      </p:sp>
      <p:sp>
        <p:nvSpPr>
          <p:cNvPr id="17" name="Text 14"/>
          <p:cNvSpPr/>
          <p:nvPr/>
        </p:nvSpPr>
        <p:spPr>
          <a:xfrm>
            <a:off x="6309360" y="4361688"/>
            <a:ext cx="5212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9:00 / 12:00
</a:t>
            </a:r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7.564 spedizioni time-definite premium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126480" y="4974336"/>
            <a:ext cx="45720" cy="402336"/>
          </a:xfrm>
          <a:prstGeom prst="rect">
            <a:avLst/>
          </a:prstGeom>
          <a:solidFill>
            <a:srgbClr val="B0812E"/>
          </a:solidFill>
          <a:ln/>
        </p:spPr>
      </p:sp>
      <p:sp>
        <p:nvSpPr>
          <p:cNvPr id="19" name="Text 16"/>
          <p:cNvSpPr/>
          <p:nvPr/>
        </p:nvSpPr>
        <p:spPr>
          <a:xfrm>
            <a:off x="6309360" y="4928616"/>
            <a:ext cx="5212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Spedizioni assicurate
</a:t>
            </a:r>
            <a:pPr indent="0" marL="0">
              <a:lnSpc>
                <a:spcPct val="98000"/>
              </a:lnSpc>
              <a:buNone/>
            </a:pPr>
            <a:r>
              <a:rPr lang="en-US" sz="10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12,6% dei volumi · valore medio €2.419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21" name="Shape 18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22" name="Text 19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forza è la flessibilità; il limite è la dipendenza quasi totale dai vettori terzi.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19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TRAGUARDI &amp; METODO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crescita solida, analizzata con rigore data-driven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73736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1901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FATTURATO (€ MILIONI)</a:t>
            </a:r>
            <a:endParaRPr lang="en-US" sz="9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77240" y="2286000"/>
          <a:ext cx="31089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3886200" y="24688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+221%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3886200" y="31272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un triennio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023360" y="3611880"/>
            <a:ext cx="173736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86200" y="379476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200" dirty="0">
                <a:solidFill>
                  <a:srgbClr val="B081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16,4%
</a:t>
            </a:r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margine lordo di rete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172200" y="1737360"/>
            <a:ext cx="5376672" cy="3840480"/>
          </a:xfrm>
          <a:prstGeom prst="roundRect">
            <a:avLst>
              <a:gd name="adj" fmla="val 1905"/>
            </a:avLst>
          </a:prstGeom>
          <a:solidFill>
            <a:srgbClr val="1C2A32"/>
          </a:solidFill>
          <a:ln w="12700">
            <a:solidFill>
              <a:srgbClr val="1C2A32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492240" y="1938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BASE DELL'ANALISI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92240" y="2212848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gestione esperienziale a decisione data-driven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92240" y="3246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700" dirty="0">
                <a:solidFill>
                  <a:srgbClr val="9BC7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82.766</a:t>
            </a:r>
            <a:endParaRPr lang="en-US" sz="2700" dirty="0"/>
          </a:p>
        </p:txBody>
      </p:sp>
      <p:sp>
        <p:nvSpPr>
          <p:cNvPr id="21" name="Text 18"/>
          <p:cNvSpPr/>
          <p:nvPr/>
        </p:nvSpPr>
        <p:spPr>
          <a:xfrm>
            <a:off x="6492240" y="37033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normalizzati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9006840" y="3246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700" dirty="0">
                <a:solidFill>
                  <a:srgbClr val="9BC7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700" dirty="0"/>
          </a:p>
        </p:txBody>
      </p:sp>
      <p:sp>
        <p:nvSpPr>
          <p:cNvPr id="23" name="Text 20"/>
          <p:cNvSpPr/>
          <p:nvPr/>
        </p:nvSpPr>
        <p:spPr>
          <a:xfrm>
            <a:off x="9006840" y="37033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variabili operative ed economiche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92240" y="42702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700" dirty="0">
                <a:solidFill>
                  <a:srgbClr val="9BC7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420</a:t>
            </a:r>
            <a:endParaRPr lang="en-US" sz="2700" dirty="0"/>
          </a:p>
        </p:txBody>
      </p:sp>
      <p:sp>
        <p:nvSpPr>
          <p:cNvPr id="25" name="Text 22"/>
          <p:cNvSpPr/>
          <p:nvPr/>
        </p:nvSpPr>
        <p:spPr>
          <a:xfrm>
            <a:off x="6492240" y="47274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città ricondotte a nomi univoci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9006840" y="42702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700" dirty="0">
                <a:solidFill>
                  <a:srgbClr val="9BC7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222</a:t>
            </a:r>
            <a:endParaRPr lang="en-US" sz="2700" dirty="0"/>
          </a:p>
        </p:txBody>
      </p:sp>
      <p:sp>
        <p:nvSpPr>
          <p:cNvPr id="27" name="Text 24"/>
          <p:cNvSpPr/>
          <p:nvPr/>
        </p:nvSpPr>
        <p:spPr>
          <a:xfrm>
            <a:off x="9006840" y="47274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incoerenze città/regione corrette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29" name="Shape 26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30" name="Text 27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raccomandazione poggia su un database consolidato e normalizzato, non su stime.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19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RITIRI DALL'ESTERO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flusso internazionale è sottile, selettivo e presidiabile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72768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1.122 ritiri esteri  </a:t>
            </a:r>
            <a:pPr indent="0" marL="0">
              <a:buNone/>
            </a:pPr>
            <a:r>
              <a:rPr lang="en-US" sz="12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(1,36% del totale) · 5 nazioni concentrano il 94,8% del flusso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011680"/>
            <a:ext cx="59436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731520" y="2148840"/>
          <a:ext cx="5715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6766560" y="2011680"/>
            <a:ext cx="4782312" cy="3566160"/>
          </a:xfrm>
          <a:prstGeom prst="roundRect">
            <a:avLst>
              <a:gd name="adj" fmla="val 2051"/>
            </a:avLst>
          </a:prstGeom>
          <a:solidFill>
            <a:srgbClr val="DBE7E1"/>
          </a:solidFill>
          <a:ln w="12700">
            <a:solidFill>
              <a:srgbClr val="C7DAD2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086600" y="219456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38,1%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7086600" y="2880360"/>
            <a:ext cx="4160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flusso estero arriva dalla Germania — il corridoio a maggior valore.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086600" y="3703320"/>
            <a:ext cx="4114800" cy="0"/>
          </a:xfrm>
          <a:prstGeom prst="line">
            <a:avLst/>
          </a:prstGeom>
          <a:noFill/>
          <a:ln w="12700">
            <a:solidFill>
              <a:srgbClr val="C7DAD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86600" y="3840480"/>
            <a:ext cx="4160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valico del Brennero ha in Bologna il terminale naturale del corridoio TEN-T Scandinavo-Mediterraneo: una sede sull'asse A1/Brennero riceve il 38% dell'estero senza rotture di carico.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20" name="Text 17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volumi esteri non impongono un hub oltreconfine, ma premiano una sede sull'asse del Brennero.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19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ANALISI GEOGRAFICA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domanda nazionale vive sulla dorsale padana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72768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81.644 ritiri nazionali  </a:t>
            </a:r>
            <a:pPr indent="0" marL="0">
              <a:buNone/>
            </a:pPr>
            <a:r>
              <a:rPr lang="en-US" sz="12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(98,6% del totale). La dorsale Lombardia–Emilia concentra l'87,0% dei volumi.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011680"/>
            <a:ext cx="576072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731520" y="2194560"/>
          <a:ext cx="5532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6720840" y="21488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90,0%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275320" y="220370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 Italia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75320" y="255117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 ritiri per città attiva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720840" y="3136392"/>
            <a:ext cx="4828032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20840" y="324612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B081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7,0%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8275320" y="330098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 Italia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75320" y="364845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presidio leggero, flussi sottili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20840" y="4233672"/>
            <a:ext cx="4828032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20840" y="434340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525C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3,0%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8275320" y="439826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 e Isole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75320" y="474573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domanda distribuita su 4 poli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25" name="Shape 22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26" name="Text 23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Fuori dalla Lombardia, l'Emilia-Romagna è la prima regione: 7.700 ritiri, il naturale secondo polo.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19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DENSITÀ OPERATIVA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 tre nodi superano la soglia di sostenibilità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72768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Soglia critica: 10 ritiri/giorno rendono economicamente sensata una presenza fisica dedicata.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Milano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14600" y="2231136"/>
            <a:ext cx="5700860" cy="256032"/>
          </a:xfrm>
          <a:prstGeom prst="roundRect">
            <a:avLst>
              <a:gd name="adj" fmla="val 10714"/>
            </a:avLst>
          </a:prstGeom>
          <a:solidFill>
            <a:srgbClr val="1E6B57"/>
          </a:solidFill>
          <a:ln/>
        </p:spPr>
      </p:sp>
      <p:sp>
        <p:nvSpPr>
          <p:cNvPr id="13" name="Text 11"/>
          <p:cNvSpPr/>
          <p:nvPr/>
        </p:nvSpPr>
        <p:spPr>
          <a:xfrm>
            <a:off x="8306900" y="216712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199,7 /gg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715768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Origgio (VA)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14600" y="2798064"/>
            <a:ext cx="1167577" cy="256032"/>
          </a:xfrm>
          <a:prstGeom prst="roundRect">
            <a:avLst>
              <a:gd name="adj" fmla="val 10714"/>
            </a:avLst>
          </a:prstGeom>
          <a:solidFill>
            <a:srgbClr val="1E6B57"/>
          </a:solidFill>
          <a:ln/>
        </p:spPr>
      </p:sp>
      <p:sp>
        <p:nvSpPr>
          <p:cNvPr id="16" name="Text 14"/>
          <p:cNvSpPr/>
          <p:nvPr/>
        </p:nvSpPr>
        <p:spPr>
          <a:xfrm>
            <a:off x="3773617" y="2734056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40,9 /gg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82696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Bologna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14600" y="3364992"/>
            <a:ext cx="859268" cy="256032"/>
          </a:xfrm>
          <a:prstGeom prst="roundRect">
            <a:avLst>
              <a:gd name="adj" fmla="val 10714"/>
            </a:avLst>
          </a:prstGeom>
          <a:solidFill>
            <a:srgbClr val="1E6B57"/>
          </a:solidFill>
          <a:ln/>
        </p:spPr>
      </p:sp>
      <p:sp>
        <p:nvSpPr>
          <p:cNvPr id="19" name="Text 17"/>
          <p:cNvSpPr/>
          <p:nvPr/>
        </p:nvSpPr>
        <p:spPr>
          <a:xfrm>
            <a:off x="3465308" y="3300984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30,1 /gg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849624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14600" y="3931920"/>
            <a:ext cx="325437" cy="256032"/>
          </a:xfrm>
          <a:prstGeom prst="roundRect">
            <a:avLst>
              <a:gd name="adj" fmla="val 10714"/>
            </a:avLst>
          </a:prstGeom>
          <a:solidFill>
            <a:srgbClr val="C7CDC9"/>
          </a:solidFill>
          <a:ln/>
        </p:spPr>
      </p:sp>
      <p:sp>
        <p:nvSpPr>
          <p:cNvPr id="22" name="Text 20"/>
          <p:cNvSpPr/>
          <p:nvPr/>
        </p:nvSpPr>
        <p:spPr>
          <a:xfrm>
            <a:off x="2931477" y="38679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11,4 /gg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416552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Firenze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14600" y="4498848"/>
            <a:ext cx="202685" cy="256032"/>
          </a:xfrm>
          <a:prstGeom prst="roundRect">
            <a:avLst>
              <a:gd name="adj" fmla="val 13534"/>
            </a:avLst>
          </a:prstGeom>
          <a:solidFill>
            <a:srgbClr val="C7CDC9"/>
          </a:solidFill>
          <a:ln/>
        </p:spPr>
      </p:sp>
      <p:sp>
        <p:nvSpPr>
          <p:cNvPr id="25" name="Text 23"/>
          <p:cNvSpPr/>
          <p:nvPr/>
        </p:nvSpPr>
        <p:spPr>
          <a:xfrm>
            <a:off x="2808725" y="443484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7,1 /gg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Napoli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14600" y="5065776"/>
            <a:ext cx="79932" cy="256032"/>
          </a:xfrm>
          <a:prstGeom prst="roundRect">
            <a:avLst>
              <a:gd name="adj" fmla="val 34319"/>
            </a:avLst>
          </a:prstGeom>
          <a:solidFill>
            <a:srgbClr val="C7CDC9"/>
          </a:solidFill>
          <a:ln/>
        </p:spPr>
      </p:sp>
      <p:sp>
        <p:nvSpPr>
          <p:cNvPr id="28" name="Text 26"/>
          <p:cNvSpPr/>
          <p:nvPr/>
        </p:nvSpPr>
        <p:spPr>
          <a:xfrm>
            <a:off x="2685972" y="500176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/gg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800071" y="2103120"/>
            <a:ext cx="0" cy="3447288"/>
          </a:xfrm>
          <a:prstGeom prst="line">
            <a:avLst/>
          </a:prstGeom>
          <a:noFill/>
          <a:ln w="15875">
            <a:solidFill>
              <a:srgbClr val="B0812E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2297151" y="5568696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B08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SOGLIA 10/GG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0104120" y="2148840"/>
            <a:ext cx="1444752" cy="3310128"/>
          </a:xfrm>
          <a:prstGeom prst="roundRect">
            <a:avLst>
              <a:gd name="adj" fmla="val 5063"/>
            </a:avLst>
          </a:prstGeom>
          <a:solidFill>
            <a:srgbClr val="1C2A32"/>
          </a:solidFill>
          <a:ln w="12700">
            <a:solidFill>
              <a:srgbClr val="1C2A32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0104120" y="2514600"/>
            <a:ext cx="1444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6400" dirty="0"/>
          </a:p>
        </p:txBody>
      </p:sp>
      <p:sp>
        <p:nvSpPr>
          <p:cNvPr id="33" name="Text 31"/>
          <p:cNvSpPr/>
          <p:nvPr/>
        </p:nvSpPr>
        <p:spPr>
          <a:xfrm>
            <a:off x="10104120" y="3520440"/>
            <a:ext cx="14447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nodi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sopra soglia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104120" y="4297680"/>
            <a:ext cx="1444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B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altri poli restano sotto i 4/gg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37" name="Text 35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Milano e Origgio sono in Lombardia: Bologna è l'unico candidato che supera la soglia altrove.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19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IL DATO CHE DECIDE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Escludendo la Lombardia, non esiste una seconda opzione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72768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Vincolo aziendale: la Lombardia è esclusa perché già pienamente presidiata. Il mercato residuo vale 18.283 ritiri/anno.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05740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1E6B57"/>
          </a:solidFill>
          <a:ln w="12700">
            <a:solidFill>
              <a:srgbClr val="1E6B57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331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B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BOLOGNA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69748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41,1%</a:t>
            </a:r>
            <a:endParaRPr lang="en-US" sz="760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CED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mercato extra-Lombardia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CED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concentrato in un solo nodo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97280" y="4846320"/>
            <a:ext cx="2834640" cy="0"/>
          </a:xfrm>
          <a:prstGeom prst="line">
            <a:avLst/>
          </a:prstGeom>
          <a:noFill/>
          <a:ln w="12700">
            <a:solidFill>
              <a:srgbClr val="4C8A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95604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7.520 ritiri/anno · €357 mila di ricavi già attivi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05740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92040" y="22860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SUCCESSIVE ALTERNATIVE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26974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897880" y="2752344"/>
            <a:ext cx="1744066" cy="237744"/>
          </a:xfrm>
          <a:prstGeom prst="roundRect">
            <a:avLst>
              <a:gd name="adj" fmla="val 11538"/>
            </a:avLst>
          </a:prstGeom>
          <a:solidFill>
            <a:srgbClr val="C7CDC9"/>
          </a:solidFill>
          <a:ln/>
        </p:spPr>
      </p:sp>
      <p:sp>
        <p:nvSpPr>
          <p:cNvPr id="21" name="Text 19"/>
          <p:cNvSpPr/>
          <p:nvPr/>
        </p:nvSpPr>
        <p:spPr>
          <a:xfrm>
            <a:off x="7687666" y="267919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2861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92040" y="32461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Firenze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897880" y="3300984"/>
            <a:ext cx="1077773" cy="237744"/>
          </a:xfrm>
          <a:prstGeom prst="roundRect">
            <a:avLst>
              <a:gd name="adj" fmla="val 11538"/>
            </a:avLst>
          </a:prstGeom>
          <a:solidFill>
            <a:srgbClr val="C7CDC9"/>
          </a:solidFill>
          <a:ln/>
        </p:spPr>
      </p:sp>
      <p:sp>
        <p:nvSpPr>
          <p:cNvPr id="24" name="Text 22"/>
          <p:cNvSpPr/>
          <p:nvPr/>
        </p:nvSpPr>
        <p:spPr>
          <a:xfrm>
            <a:off x="7021373" y="322783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1768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92040" y="379476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Napoli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97880" y="3849624"/>
            <a:ext cx="427330" cy="237744"/>
          </a:xfrm>
          <a:prstGeom prst="roundRect">
            <a:avLst>
              <a:gd name="adj" fmla="val 11538"/>
            </a:avLst>
          </a:prstGeom>
          <a:solidFill>
            <a:srgbClr val="C7CDC9"/>
          </a:solidFill>
          <a:ln/>
        </p:spPr>
      </p:sp>
      <p:sp>
        <p:nvSpPr>
          <p:cNvPr id="27" name="Text 25"/>
          <p:cNvSpPr/>
          <p:nvPr/>
        </p:nvSpPr>
        <p:spPr>
          <a:xfrm>
            <a:off x="6370930" y="377647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701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92040" y="43434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Genova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897880" y="4398264"/>
            <a:ext cx="400507" cy="237744"/>
          </a:xfrm>
          <a:prstGeom prst="roundRect">
            <a:avLst>
              <a:gd name="adj" fmla="val 11538"/>
            </a:avLst>
          </a:prstGeom>
          <a:solidFill>
            <a:srgbClr val="C7CDC9"/>
          </a:solidFill>
          <a:ln/>
        </p:spPr>
      </p:sp>
      <p:sp>
        <p:nvSpPr>
          <p:cNvPr id="30" name="Text 28"/>
          <p:cNvSpPr/>
          <p:nvPr/>
        </p:nvSpPr>
        <p:spPr>
          <a:xfrm>
            <a:off x="6344107" y="432511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657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92040" y="48920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Padova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897880" y="4946904"/>
            <a:ext cx="272491" cy="237744"/>
          </a:xfrm>
          <a:prstGeom prst="roundRect">
            <a:avLst>
              <a:gd name="adj" fmla="val 11538"/>
            </a:avLst>
          </a:prstGeom>
          <a:solidFill>
            <a:srgbClr val="C7CDC9"/>
          </a:solidFill>
          <a:ln/>
        </p:spPr>
      </p:sp>
      <p:sp>
        <p:nvSpPr>
          <p:cNvPr id="33" name="Text 31"/>
          <p:cNvSpPr/>
          <p:nvPr/>
        </p:nvSpPr>
        <p:spPr>
          <a:xfrm>
            <a:off x="6216091" y="487375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447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275320" y="2057400"/>
            <a:ext cx="3273552" cy="3566160"/>
          </a:xfrm>
          <a:prstGeom prst="roundRect">
            <a:avLst>
              <a:gd name="adj" fmla="val 2235"/>
            </a:avLst>
          </a:prstGeom>
          <a:solidFill>
            <a:srgbClr val="EFE6D2"/>
          </a:solidFill>
          <a:ln w="12700">
            <a:solidFill>
              <a:srgbClr val="E4D6B4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275320" y="2468880"/>
            <a:ext cx="3273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dirty="0">
                <a:solidFill>
                  <a:srgbClr val="B081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2,6×</a:t>
            </a:r>
            <a:endParaRPr lang="en-US" sz="6200" dirty="0"/>
          </a:p>
        </p:txBody>
      </p:sp>
      <p:sp>
        <p:nvSpPr>
          <p:cNvPr id="36" name="Text 34"/>
          <p:cNvSpPr/>
          <p:nvPr/>
        </p:nvSpPr>
        <p:spPr>
          <a:xfrm>
            <a:off x="8458200" y="34290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8A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distacco tra Bologna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8A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la prima alternativa (Roma)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732520" y="4206240"/>
            <a:ext cx="2377440" cy="0"/>
          </a:xfrm>
          <a:prstGeom prst="line">
            <a:avLst/>
          </a:prstGeom>
          <a:noFill/>
          <a:ln w="12700">
            <a:solidFill>
              <a:srgbClr val="E4D6B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58200" y="43434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 a +19 ritiri/giorno di differenza: nei dati non c'è una seconda scelta comparabile.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40" name="Shape 38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Bologna vale da sola quanto le nove città successive messe insieme: la partita è decisa dai numeri.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STUDIO DI FATTIBILITÀ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metodo in tre fasi, dalla domanda alla verifica economica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65960"/>
            <a:ext cx="3456432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32688" y="2258568"/>
            <a:ext cx="603504" cy="603504"/>
          </a:xfrm>
          <a:prstGeom prst="oval">
            <a:avLst/>
          </a:prstGeom>
          <a:solidFill>
            <a:srgbClr val="1E6B57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25856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32688" y="3017520"/>
            <a:ext cx="28712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Screening per massa critica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32688" y="3630168"/>
            <a:ext cx="287121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Soglia minima ~12.000 ritiri/anno, raggiungibile solo oltre 25-30 ritiri/giorno nel bacino di 50 km.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2688" y="4544568"/>
            <a:ext cx="2871216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599432"/>
            <a:ext cx="28712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B08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Bologna è l'unica candidata extra-lombarda a superarla.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078224" y="322326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08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4352544" y="1965960"/>
            <a:ext cx="3456432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45152" y="2258568"/>
            <a:ext cx="603504" cy="603504"/>
          </a:xfrm>
          <a:prstGeom prst="oval">
            <a:avLst/>
          </a:prstGeom>
          <a:solidFill>
            <a:srgbClr val="1E6B57"/>
          </a:solidFill>
          <a:ln/>
        </p:spPr>
      </p:sp>
      <p:sp>
        <p:nvSpPr>
          <p:cNvPr id="20" name="Text 18"/>
          <p:cNvSpPr/>
          <p:nvPr/>
        </p:nvSpPr>
        <p:spPr>
          <a:xfrm>
            <a:off x="4645152" y="225856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45152" y="3017520"/>
            <a:ext cx="28712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Valutazione multicriterio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4645152" y="3630168"/>
            <a:ext cx="287121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 dimensioni pesate: volume, baricentricità, accessibilità, intermodalità, costo immobiliare, manodopera.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45152" y="4544568"/>
            <a:ext cx="2871216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5152" y="4599432"/>
            <a:ext cx="28712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B08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Bologna prevale su 4 criteri su 6.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90688" y="322326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08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8065008" y="1965960"/>
            <a:ext cx="3456432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357616" y="2258568"/>
            <a:ext cx="603504" cy="603504"/>
          </a:xfrm>
          <a:prstGeom prst="oval">
            <a:avLst/>
          </a:prstGeom>
          <a:solidFill>
            <a:srgbClr val="1E6B57"/>
          </a:solidFill>
          <a:ln/>
        </p:spPr>
      </p:sp>
      <p:sp>
        <p:nvSpPr>
          <p:cNvPr id="28" name="Text 26"/>
          <p:cNvSpPr/>
          <p:nvPr/>
        </p:nvSpPr>
        <p:spPr>
          <a:xfrm>
            <a:off x="8357616" y="225856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357616" y="3017520"/>
            <a:ext cx="28712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 economico-finanziaria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8357616" y="3630168"/>
            <a:ext cx="287121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Modello di costi, driver di margine e scenari di ritorno sulla prima classificata.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357616" y="4544568"/>
            <a:ext cx="2871216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57616" y="4599432"/>
            <a:ext cx="28712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B08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tra 1,0 e 3,9 anni secondo lo scenario.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34" name="Shape 32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35" name="Text 33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L'esclusione della Lombardia non è arbitraria: è economicamente fondata su un nodo già saturo ed efficiente.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08.3 · VALUTAZIONE MULTICRITERIO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Bologna domina il punteggio ponderato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011680"/>
            <a:ext cx="6400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graphicFrame>
        <p:nvGraphicFramePr>
          <p:cNvPr id="11" name="Chart 0" descr=""/>
          <p:cNvGraphicFramePr/>
          <p:nvPr/>
        </p:nvGraphicFramePr>
        <p:xfrm>
          <a:off x="731520" y="2148840"/>
          <a:ext cx="61722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7178040" y="2011680"/>
            <a:ext cx="4370832" cy="3611880"/>
          </a:xfrm>
          <a:prstGeom prst="roundRect">
            <a:avLst>
              <a:gd name="adj" fmla="val 2025"/>
            </a:avLst>
          </a:prstGeom>
          <a:solidFill>
            <a:srgbClr val="F4F2EC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52360" y="22128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 E PESI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452360" y="25603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ritiri bacino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0561320" y="2560320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452360" y="2980944"/>
            <a:ext cx="3886200" cy="0"/>
          </a:xfrm>
          <a:prstGeom prst="line">
            <a:avLst/>
          </a:prstGeom>
          <a:noFill/>
          <a:ln w="9525">
            <a:solidFill>
              <a:srgbClr val="E4E1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52360" y="30175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Baricentricità di rete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0561320" y="3017520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452360" y="3438144"/>
            <a:ext cx="3886200" cy="0"/>
          </a:xfrm>
          <a:prstGeom prst="line">
            <a:avLst/>
          </a:prstGeom>
          <a:noFill/>
          <a:ln w="9525">
            <a:solidFill>
              <a:srgbClr val="E4E1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52360" y="34747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Accessibilità autostradale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0561320" y="3474720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452360" y="3895344"/>
            <a:ext cx="3886200" cy="0"/>
          </a:xfrm>
          <a:prstGeom prst="line">
            <a:avLst/>
          </a:prstGeom>
          <a:noFill/>
          <a:ln w="9525">
            <a:solidFill>
              <a:srgbClr val="E4E1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52360" y="39319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Intermodalità ferro/aereo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0561320" y="3931920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452360" y="4352544"/>
            <a:ext cx="3886200" cy="0"/>
          </a:xfrm>
          <a:prstGeom prst="line">
            <a:avLst/>
          </a:prstGeom>
          <a:noFill/>
          <a:ln w="9525">
            <a:solidFill>
              <a:srgbClr val="E4E1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452360" y="43891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immobiliare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0561320" y="4389120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452360" y="4809744"/>
            <a:ext cx="3886200" cy="0"/>
          </a:xfrm>
          <a:prstGeom prst="line">
            <a:avLst/>
          </a:prstGeom>
          <a:noFill/>
          <a:ln w="9525">
            <a:solidFill>
              <a:srgbClr val="E4E1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452360" y="48463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Manodopera logistica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0561320" y="4846320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32" name="Shape 29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33" name="Text 30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Bologna prevale su 4 criteri su 6 e non è mai ultima: un profilo senza punti deboli decisivi.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08.4 · PERCHÉ BOLOGNA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Quattro evidenze convergenti verso la stessa scelta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745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039112"/>
            <a:ext cx="64008" cy="1453896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075688"/>
            <a:ext cx="4709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Domanda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960120" y="2532888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41,1% dei ritiri extra-Lombardia · €357 mila di ricavi già attivi · 28,3% di spedizioni assicurate (€2.413 di valore medio) che chiedono servizi di laboratorio.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45352" y="18745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45352" y="2039112"/>
            <a:ext cx="64008" cy="1453896"/>
          </a:xfrm>
          <a:prstGeom prst="rect">
            <a:avLst/>
          </a:prstGeom>
          <a:solidFill>
            <a:srgbClr val="B0812E"/>
          </a:solidFill>
          <a:ln/>
        </p:spPr>
      </p:sp>
      <p:sp>
        <p:nvSpPr>
          <p:cNvPr id="16" name="Text 14"/>
          <p:cNvSpPr/>
          <p:nvPr/>
        </p:nvSpPr>
        <p:spPr>
          <a:xfrm>
            <a:off x="6565392" y="2075688"/>
            <a:ext cx="4709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Geografia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65392" y="2532888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97% dei ritiri nazionali entro 4 ore di guida. Firenze a 105 km, Padova 120, Verona 140, Milano 215, Genova 295, Roma 380.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77056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041648"/>
            <a:ext cx="64008" cy="1453896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078224"/>
            <a:ext cx="4709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Infrastrutture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60120" y="4535424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 A1/A13/A14 · Interporto da 4,2 mln mq (€1,5 mld di fatturato, 6.700 addetti) · terminal ferroviario +115.000 mq con fondi PNRR · AV a 1h04 da Milano.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45352" y="3877056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45352" y="4041648"/>
            <a:ext cx="64008" cy="1453896"/>
          </a:xfrm>
          <a:prstGeom prst="rect">
            <a:avLst/>
          </a:prstGeom>
          <a:solidFill>
            <a:srgbClr val="B0812E"/>
          </a:solidFill>
          <a:ln/>
        </p:spPr>
      </p:sp>
      <p:sp>
        <p:nvSpPr>
          <p:cNvPr id="24" name="Text 22"/>
          <p:cNvSpPr/>
          <p:nvPr/>
        </p:nvSpPr>
        <p:spPr>
          <a:xfrm>
            <a:off x="6565392" y="4078224"/>
            <a:ext cx="4709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Economia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6565392" y="4535424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3ª provincia italiana per valore aggiunto pro capite (€45.125) · consumi 2024 +2,7% · ecosistema logistico con i principali player nazionali.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28" name="Text 26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Domanda, posizione, infrastrutture ed economia convergono: Bologna soddisfa in pieno tutte le condizioni.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08.4 · BARICENTRICITÀ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Bologna al centro della domanda nazionale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783080"/>
            <a:ext cx="676656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0128" y="2944368"/>
            <a:ext cx="1426464" cy="1426464"/>
          </a:xfrm>
          <a:prstGeom prst="oval">
            <a:avLst/>
          </a:prstGeom>
          <a:ln w="12700">
            <a:solidFill>
              <a:srgbClr val="ECE9E1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596896" y="2231136"/>
            <a:ext cx="2852928" cy="2852928"/>
          </a:xfrm>
          <a:prstGeom prst="oval">
            <a:avLst/>
          </a:prstGeom>
          <a:ln w="12700">
            <a:solidFill>
              <a:srgbClr val="ECE9E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023360" y="3657600"/>
            <a:ext cx="-817839" cy="-613380"/>
          </a:xfrm>
          <a:prstGeom prst="line">
            <a:avLst/>
          </a:prstGeom>
          <a:noFill/>
          <a:ln w="15875">
            <a:solidFill>
              <a:srgbClr val="C7D3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59801" y="2998500"/>
            <a:ext cx="91440" cy="91440"/>
          </a:xfrm>
          <a:prstGeom prst="oval">
            <a:avLst/>
          </a:prstGeom>
          <a:solidFill>
            <a:srgbClr val="1E6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79057" y="2833908"/>
            <a:ext cx="1280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Milano</a:t>
            </a:r>
            <a:endParaRPr lang="en-US" sz="1000" dirty="0"/>
          </a:p>
          <a:p>
            <a:pPr algn="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 km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023360" y="3657600"/>
            <a:ext cx="-1395728" cy="-139573"/>
          </a:xfrm>
          <a:prstGeom prst="line">
            <a:avLst/>
          </a:prstGeom>
          <a:noFill/>
          <a:ln w="15875">
            <a:solidFill>
              <a:srgbClr val="C7D3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81912" y="3472307"/>
            <a:ext cx="91440" cy="91440"/>
          </a:xfrm>
          <a:prstGeom prst="oval">
            <a:avLst/>
          </a:prstGeom>
          <a:solidFill>
            <a:srgbClr val="1E6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01168" y="3307715"/>
            <a:ext cx="1280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Genova</a:t>
            </a:r>
            <a:endParaRPr lang="en-US" sz="1000" dirty="0"/>
          </a:p>
          <a:p>
            <a:pPr algn="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295 km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23360" y="3657600"/>
            <a:ext cx="-33243" cy="-664853"/>
          </a:xfrm>
          <a:prstGeom prst="line">
            <a:avLst/>
          </a:prstGeom>
          <a:noFill/>
          <a:ln w="15875">
            <a:solidFill>
              <a:srgbClr val="C7D3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44397" y="2947027"/>
            <a:ext cx="91440" cy="91440"/>
          </a:xfrm>
          <a:prstGeom prst="oval">
            <a:avLst/>
          </a:prstGeom>
          <a:solidFill>
            <a:srgbClr val="1E6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04317" y="2462395"/>
            <a:ext cx="1371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Verona</a:t>
            </a:r>
            <a:endParaRPr lang="en-US" sz="10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km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023360" y="3657600"/>
            <a:ext cx="349525" cy="-450999"/>
          </a:xfrm>
          <a:prstGeom prst="line">
            <a:avLst/>
          </a:prstGeom>
          <a:noFill/>
          <a:ln w="15875">
            <a:solidFill>
              <a:srgbClr val="C7D3C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27165" y="3160881"/>
            <a:ext cx="91440" cy="91440"/>
          </a:xfrm>
          <a:prstGeom prst="oval">
            <a:avLst/>
          </a:prstGeom>
          <a:solidFill>
            <a:srgbClr val="1E6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19189" y="2996289"/>
            <a:ext cx="1280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Padova</a:t>
            </a:r>
            <a:endParaRPr lang="en-US" sz="1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km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23360" y="3657600"/>
            <a:ext cx="59485" cy="495706"/>
          </a:xfrm>
          <a:prstGeom prst="line">
            <a:avLst/>
          </a:prstGeom>
          <a:noFill/>
          <a:ln w="15875">
            <a:solidFill>
              <a:srgbClr val="C7D3C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37125" y="4107586"/>
            <a:ext cx="91440" cy="91440"/>
          </a:xfrm>
          <a:prstGeom prst="oval">
            <a:avLst/>
          </a:prstGeom>
          <a:solidFill>
            <a:srgbClr val="1E6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97045" y="4263034"/>
            <a:ext cx="1371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Firenze</a:t>
            </a:r>
            <a:endParaRPr lang="en-US" sz="10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 km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023360" y="3657600"/>
            <a:ext cx="750373" cy="1643674"/>
          </a:xfrm>
          <a:prstGeom prst="line">
            <a:avLst/>
          </a:prstGeom>
          <a:noFill/>
          <a:ln w="15875">
            <a:solidFill>
              <a:srgbClr val="C7D3C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28013" y="5255554"/>
            <a:ext cx="91440" cy="91440"/>
          </a:xfrm>
          <a:prstGeom prst="oval">
            <a:avLst/>
          </a:prstGeom>
          <a:solidFill>
            <a:srgbClr val="1E6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20037" y="5090962"/>
            <a:ext cx="1280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</a:t>
            </a:r>
            <a:endParaRPr lang="en-US" sz="1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 km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4488" y="3538728"/>
            <a:ext cx="237744" cy="237744"/>
          </a:xfrm>
          <a:prstGeom prst="oval">
            <a:avLst/>
          </a:prstGeom>
          <a:solidFill>
            <a:srgbClr val="B081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0" y="3813048"/>
            <a:ext cx="16459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B08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BOLOGNA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72400" y="192024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baricentro,</a:t>
            </a:r>
            <a:endParaRPr lang="en-US" sz="2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24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una periferia.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7772400" y="306324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Bologna la rete extra-lombarda è raggiungibile in giornata: Firenze è servibile senza costi fissi locali, il Centro si serve senza doverlo presidiare.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772400" y="443484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97%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 ritiri nazionali entro 4 ore di guida</a:t>
            </a:r>
            <a:endParaRPr lang="en-US" sz="3400" dirty="0"/>
          </a:p>
        </p:txBody>
      </p:sp>
      <p:sp>
        <p:nvSpPr>
          <p:cNvPr id="36" name="Shape 34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37" name="Shape 35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38" name="Text 36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posizione trasforma un'unica sede in un presidio capace di coprire quasi tutta la rete.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ANALISI COMPETITIVA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competere sul commodity, ma sui servizi a valore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72768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bacino bolognese operano sei player da centinaia di milioni a oltre un miliardo di euro: un mercato profondo, con manodopera specializzata.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521208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23042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FATTURATO 2024 (€ MLD)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0" y="26974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DHL Express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377440" y="2761488"/>
            <a:ext cx="2596896" cy="228600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0056" y="2679192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€1,42 mld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31546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77440" y="3218688"/>
            <a:ext cx="2505456" cy="228600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/>
        </p:spPr>
      </p:sp>
      <p:sp>
        <p:nvSpPr>
          <p:cNvPr id="18" name="Text 16"/>
          <p:cNvSpPr/>
          <p:nvPr/>
        </p:nvSpPr>
        <p:spPr>
          <a:xfrm>
            <a:off x="4928616" y="3136392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€1,37 mld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14400" y="36118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Fercam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77440" y="3675888"/>
            <a:ext cx="1291133" cy="228600"/>
          </a:xfrm>
          <a:prstGeom prst="roundRect">
            <a:avLst>
              <a:gd name="adj" fmla="val 12000"/>
            </a:avLst>
          </a:prstGeom>
          <a:solidFill>
            <a:srgbClr val="C7CDC9"/>
          </a:solidFill>
          <a:ln/>
        </p:spPr>
      </p:sp>
      <p:sp>
        <p:nvSpPr>
          <p:cNvPr id="21" name="Text 19"/>
          <p:cNvSpPr/>
          <p:nvPr/>
        </p:nvSpPr>
        <p:spPr>
          <a:xfrm>
            <a:off x="3714293" y="3593592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€0,71 mld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14400" y="4069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DSV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377440" y="4133088"/>
            <a:ext cx="1210666" cy="228600"/>
          </a:xfrm>
          <a:prstGeom prst="roundRect">
            <a:avLst>
              <a:gd name="adj" fmla="val 12000"/>
            </a:avLst>
          </a:prstGeom>
          <a:solidFill>
            <a:srgbClr val="C7CDC9"/>
          </a:solidFill>
          <a:ln/>
        </p:spPr>
      </p:sp>
      <p:sp>
        <p:nvSpPr>
          <p:cNvPr id="24" name="Text 22"/>
          <p:cNvSpPr/>
          <p:nvPr/>
        </p:nvSpPr>
        <p:spPr>
          <a:xfrm>
            <a:off x="3633826" y="4050792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€0,66 mld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14400" y="45262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Italtrans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377440" y="4590288"/>
            <a:ext cx="685800" cy="228600"/>
          </a:xfrm>
          <a:prstGeom prst="roundRect">
            <a:avLst>
              <a:gd name="adj" fmla="val 12000"/>
            </a:avLst>
          </a:prstGeom>
          <a:solidFill>
            <a:srgbClr val="C7CDC9"/>
          </a:solidFill>
          <a:ln/>
        </p:spPr>
      </p:sp>
      <p:sp>
        <p:nvSpPr>
          <p:cNvPr id="27" name="Text 25"/>
          <p:cNvSpPr/>
          <p:nvPr/>
        </p:nvSpPr>
        <p:spPr>
          <a:xfrm>
            <a:off x="3108960" y="4507992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€0,38 mld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914400" y="49834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Arco Sped.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377440" y="5047488"/>
            <a:ext cx="649224" cy="228600"/>
          </a:xfrm>
          <a:prstGeom prst="roundRect">
            <a:avLst>
              <a:gd name="adj" fmla="val 12000"/>
            </a:avLst>
          </a:prstGeom>
          <a:solidFill>
            <a:srgbClr val="C7CDC9"/>
          </a:solidFill>
          <a:ln/>
        </p:spPr>
      </p:sp>
      <p:sp>
        <p:nvSpPr>
          <p:cNvPr id="30" name="Text 28"/>
          <p:cNvSpPr/>
          <p:nvPr/>
        </p:nvSpPr>
        <p:spPr>
          <a:xfrm>
            <a:off x="3072384" y="4965192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€0,35 mld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080760" y="2148840"/>
            <a:ext cx="5468112" cy="3474720"/>
          </a:xfrm>
          <a:prstGeom prst="roundRect">
            <a:avLst>
              <a:gd name="adj" fmla="val 2105"/>
            </a:avLst>
          </a:prstGeom>
          <a:solidFill>
            <a:srgbClr val="1C2A32"/>
          </a:solidFill>
          <a:ln w="12700">
            <a:solidFill>
              <a:srgbClr val="1C2A32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00800" y="2331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9B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POSIZIONAMENTO DI TMWE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00800" y="26060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leve di differenziazione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64008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81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812280" y="3136392"/>
            <a:ext cx="45262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Time-critical &amp; su misura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consegne 9:00/12:00 e urgenze dove i grandi network offrono prodotti standard.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00800" y="39044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81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6812280" y="3886200"/>
            <a:ext cx="45262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Prossimità relazionale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referente diretto contro i canali massivi e impersonali.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400800" y="46542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81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812280" y="4636008"/>
            <a:ext cx="45262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 logistico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lavorazioni, controlli qualità e kitting a valore aggiunto per le PMI.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41" name="Shape 39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42" name="Text 40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L'obiettivo non è sottrarre quote agli incumbent, ma internalizzare i 7.520 ritiri già captive nel bacino.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ANALISI ECONOMICA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motore del progetto è il differenziale di costo per ritiro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783080"/>
            <a:ext cx="6583680" cy="1874520"/>
          </a:xfrm>
          <a:prstGeom prst="roundRect">
            <a:avLst>
              <a:gd name="adj" fmla="val 3902"/>
            </a:avLst>
          </a:prstGeom>
          <a:solidFill>
            <a:srgbClr val="DBE7E1"/>
          </a:solidFill>
          <a:ln w="12700">
            <a:solidFill>
              <a:srgbClr val="C7DAD2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196596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525C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€43,67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05840" y="2788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medio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vettore oggi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88920" y="214884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8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474720" y="196596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€27,20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474720" y="2788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pieno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navetta interna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349240" y="2011680"/>
            <a:ext cx="0" cy="1371600"/>
          </a:xfrm>
          <a:prstGeom prst="line">
            <a:avLst/>
          </a:prstGeom>
          <a:noFill/>
          <a:ln w="12700">
            <a:solidFill>
              <a:srgbClr val="C7DA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205740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34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+€16,5
</a:t>
            </a:r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margine liberato</a:t>
            </a:r>
            <a:endParaRPr lang="en-US" sz="3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ogni ritiro internalizzato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7360920" y="1783080"/>
            <a:ext cx="4187952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635240" y="1965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STRUTTURA COSTI A REGIME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635240" y="233172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Personale (4,0 FTE)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058400" y="23317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€158.000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635240" y="2642616"/>
            <a:ext cx="3657600" cy="109728"/>
          </a:xfrm>
          <a:prstGeom prst="roundRect">
            <a:avLst>
              <a:gd name="adj" fmla="val 16667"/>
            </a:avLst>
          </a:prstGeom>
          <a:solidFill>
            <a:srgbClr val="1E6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635240" y="293522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Costi fissi di struttura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058400" y="2935224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€51.400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35240" y="3246120"/>
            <a:ext cx="1189877" cy="109728"/>
          </a:xfrm>
          <a:prstGeom prst="roundRect">
            <a:avLst>
              <a:gd name="adj" fmla="val 16667"/>
            </a:avLst>
          </a:prstGeom>
          <a:solidFill>
            <a:srgbClr val="7FA99B"/>
          </a:solidFill>
          <a:ln/>
        </p:spPr>
      </p:sp>
      <p:sp>
        <p:nvSpPr>
          <p:cNvPr id="26" name="Text 24"/>
          <p:cNvSpPr/>
          <p:nvPr/>
        </p:nvSpPr>
        <p:spPr>
          <a:xfrm>
            <a:off x="7635240" y="353872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Navetta dedicata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0058400" y="3538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€30.000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635240" y="3849624"/>
            <a:ext cx="694481" cy="109728"/>
          </a:xfrm>
          <a:prstGeom prst="roundRect">
            <a:avLst>
              <a:gd name="adj" fmla="val 16667"/>
            </a:avLst>
          </a:prstGeom>
          <a:solidFill>
            <a:srgbClr val="B0812E"/>
          </a:solidFill>
          <a:ln/>
        </p:spPr>
      </p:sp>
      <p:sp>
        <p:nvSpPr>
          <p:cNvPr id="29" name="Shape 27"/>
          <p:cNvSpPr/>
          <p:nvPr/>
        </p:nvSpPr>
        <p:spPr>
          <a:xfrm>
            <a:off x="7635240" y="4343400"/>
            <a:ext cx="370332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35240" y="4434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Totale costi operativi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92640" y="44348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€239.400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635240" y="49377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Sede 350 mq · 250 giorni/anno · navetta su 2 run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3840480"/>
            <a:ext cx="6583680" cy="1783080"/>
          </a:xfrm>
          <a:prstGeom prst="roundRect">
            <a:avLst>
              <a:gd name="adj" fmla="val 4103"/>
            </a:avLst>
          </a:prstGeom>
          <a:solidFill>
            <a:srgbClr val="F4F2EC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60120" y="40233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L'effetto controintuitivo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60120" y="4434840"/>
            <a:ext cx="5989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beneficio nasce dal differenziale tra costo vettore e costo interno, non dal ricavo di trasporto. Perciò la compressione dei margini commerciali rende l'internalizzazione ancora più conveniente: il valore si sposta dal ricavo al controllo del costo.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 · SCENARI DI RITORNO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investimento di €78 mila che rientra in 1,5 anni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65960"/>
            <a:ext cx="60350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121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 NETTO ANNUO (€)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31520" y="2468880"/>
          <a:ext cx="58064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6858000" y="1965960"/>
            <a:ext cx="469087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086600" y="207568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spc="10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PERIOD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778240" y="203911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3,9 / 1,5 / 1,0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778240" y="242316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anni (prud./real./espans.)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858000" y="2880360"/>
            <a:ext cx="469087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086600" y="299008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spc="10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A 5 ANNI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778240" y="295351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B081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+29% / +239% / +401%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8778240" y="333756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ritorno cumulato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858000" y="3794760"/>
            <a:ext cx="469087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086600" y="390448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spc="10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INIZIALE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778240" y="386791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€78.000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8778240" y="425196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scaffali, laboratorio, IT, mezzo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6858000" y="4709160"/>
            <a:ext cx="469087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086600" y="481888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spc="10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OPERATIVO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778240" y="478231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11.800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778240" y="516636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movimenti/anno · già coperti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31" name="Text 28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progetto resta in payback anche nello scenario prudenziale: il rischio è basso, l'upside significativo.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 · KPI OBIETTIVO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 vs Dopo: cosa cambia con il presidio diretto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06440" y="16642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0" y="16642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738360" y="1664208"/>
            <a:ext cx="181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B08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1965960"/>
            <a:ext cx="109115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1965960"/>
            <a:ext cx="4937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per ritiro (bacino BO)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806440" y="1965960"/>
            <a:ext cx="18288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8C94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€43,67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452360" y="1965960"/>
            <a:ext cx="365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CD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0" y="1965960"/>
            <a:ext cx="18288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€27,20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784080" y="2157984"/>
            <a:ext cx="1737360" cy="402336"/>
          </a:xfrm>
          <a:prstGeom prst="roundRect">
            <a:avLst>
              <a:gd name="adj" fmla="val 13636"/>
            </a:avLst>
          </a:prstGeom>
          <a:solidFill>
            <a:srgbClr val="DBE7E1"/>
          </a:solidFill>
          <a:ln/>
        </p:spPr>
      </p:sp>
      <p:sp>
        <p:nvSpPr>
          <p:cNvPr id="19" name="Text 17"/>
          <p:cNvSpPr/>
          <p:nvPr/>
        </p:nvSpPr>
        <p:spPr>
          <a:xfrm>
            <a:off x="9784080" y="2157984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−37,7%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2898648"/>
            <a:ext cx="109115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2898648"/>
            <a:ext cx="4937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time medio (TT reale)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806440" y="2898648"/>
            <a:ext cx="18288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8C94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3,08 gg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452360" y="2898648"/>
            <a:ext cx="365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CD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772400" y="2898648"/>
            <a:ext cx="18288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2,20 gg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9784080" y="3090672"/>
            <a:ext cx="1737360" cy="402336"/>
          </a:xfrm>
          <a:prstGeom prst="roundRect">
            <a:avLst>
              <a:gd name="adj" fmla="val 13636"/>
            </a:avLst>
          </a:prstGeom>
          <a:solidFill>
            <a:srgbClr val="DBE7E1"/>
          </a:solidFill>
          <a:ln/>
        </p:spPr>
      </p:sp>
      <p:sp>
        <p:nvSpPr>
          <p:cNvPr id="26" name="Text 24"/>
          <p:cNvSpPr/>
          <p:nvPr/>
        </p:nvSpPr>
        <p:spPr>
          <a:xfrm>
            <a:off x="9784080" y="309067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−0,88 gg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831336"/>
            <a:ext cx="109115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60120" y="3831336"/>
            <a:ext cx="4937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Puntualità OTD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806440" y="3831336"/>
            <a:ext cx="18288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8C94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79,8%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7452360" y="3831336"/>
            <a:ext cx="365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CD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772400" y="3831336"/>
            <a:ext cx="18288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90%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9784080" y="4023360"/>
            <a:ext cx="1737360" cy="402336"/>
          </a:xfrm>
          <a:prstGeom prst="roundRect">
            <a:avLst>
              <a:gd name="adj" fmla="val 13636"/>
            </a:avLst>
          </a:prstGeom>
          <a:solidFill>
            <a:srgbClr val="EFE6D2"/>
          </a:solidFill>
          <a:ln/>
        </p:spPr>
      </p:sp>
      <p:sp>
        <p:nvSpPr>
          <p:cNvPr id="33" name="Text 31"/>
          <p:cNvSpPr/>
          <p:nvPr/>
        </p:nvSpPr>
        <p:spPr>
          <a:xfrm>
            <a:off x="9784080" y="4023360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+10,2 p.p.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4764024"/>
            <a:ext cx="109115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60120" y="4764024"/>
            <a:ext cx="4937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Saturazione navetta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806440" y="4764024"/>
            <a:ext cx="18288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8C94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7452360" y="4764024"/>
            <a:ext cx="365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CD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772400" y="4764024"/>
            <a:ext cx="18288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80%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9784080" y="4956048"/>
            <a:ext cx="1737360" cy="402336"/>
          </a:xfrm>
          <a:prstGeom prst="roundRect">
            <a:avLst>
              <a:gd name="adj" fmla="val 13636"/>
            </a:avLst>
          </a:prstGeom>
          <a:solidFill>
            <a:srgbClr val="EFE6D2"/>
          </a:solidFill>
          <a:ln/>
        </p:spPr>
      </p:sp>
      <p:sp>
        <p:nvSpPr>
          <p:cNvPr id="40" name="Text 38"/>
          <p:cNvSpPr/>
          <p:nvPr/>
        </p:nvSpPr>
        <p:spPr>
          <a:xfrm>
            <a:off x="9784080" y="4956048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12+/15 per run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42" name="Shape 40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43" name="Text 41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 costo, meno tempo, più puntualità: il presidio diretto migliora ogni indicatore chiave.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IL CASO STUDIO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749808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Sant'Agata Bolognese: l'immobile che verifica il modello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40080" y="713232"/>
            <a:ext cx="475488" cy="0"/>
          </a:xfrm>
          <a:prstGeom prst="line">
            <a:avLst/>
          </a:prstGeom>
          <a:noFill/>
          <a:ln w="28575">
            <a:solidFill>
              <a:srgbClr val="B081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288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350 mq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" y="230428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terra + ufficio e area cortiliva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393192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61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€1.600/mese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" y="323697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€54,9/mq/anno · −15/25% vs mercato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621024"/>
            <a:ext cx="393192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69417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~28 km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0080" y="4169664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Bologna · baricentrico A1/A13/A14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4553712"/>
            <a:ext cx="393192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626864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008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 pallet · ~15.000 movimenti/anno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92040" y="1828800"/>
            <a:ext cx="6656832" cy="3520440"/>
          </a:xfrm>
          <a:prstGeom prst="roundRect">
            <a:avLst>
              <a:gd name="adj" fmla="val 2078"/>
            </a:avLst>
          </a:prstGeom>
          <a:solidFill>
            <a:srgbClr val="FBFAF7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120640" y="1938528"/>
            <a:ext cx="6199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PLANIMETRIA CONCETTUALE · 6 ZONE FUNZIONALI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49240" y="2743200"/>
            <a:ext cx="2788920" cy="1417320"/>
          </a:xfrm>
          <a:prstGeom prst="roundRect">
            <a:avLst>
              <a:gd name="adj" fmla="val 2581"/>
            </a:avLst>
          </a:prstGeom>
          <a:solidFill>
            <a:srgbClr val="1E6B5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2743200"/>
            <a:ext cx="27889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Stoccaggio a scaffale
</a:t>
            </a:r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mq · 240 pallet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9600" y="2743200"/>
            <a:ext cx="1965960" cy="1417320"/>
          </a:xfrm>
          <a:prstGeom prst="roundRect">
            <a:avLst>
              <a:gd name="adj" fmla="val 2581"/>
            </a:avLst>
          </a:prstGeom>
          <a:solidFill>
            <a:srgbClr val="B081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2743200"/>
            <a:ext cx="19659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 tecnico
</a:t>
            </a:r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 mq · 4 postazioni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378440" y="2743200"/>
            <a:ext cx="1170432" cy="1417320"/>
          </a:xfrm>
          <a:prstGeom prst="roundRect">
            <a:avLst>
              <a:gd name="adj" fmla="val 3125"/>
            </a:avLst>
          </a:prstGeom>
          <a:solidFill>
            <a:srgbClr val="7FA99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78440" y="2743200"/>
            <a:ext cx="11704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Baie interne
</a:t>
            </a:r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mq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349240" y="4297680"/>
            <a:ext cx="1737360" cy="1005840"/>
          </a:xfrm>
          <a:prstGeom prst="roundRect">
            <a:avLst>
              <a:gd name="adj" fmla="val 3636"/>
            </a:avLst>
          </a:prstGeom>
          <a:solidFill>
            <a:srgbClr val="DBE7E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49240" y="429768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Ricezione / QC
</a:t>
            </a:r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mq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223760" y="4297680"/>
            <a:ext cx="2331720" cy="1005840"/>
          </a:xfrm>
          <a:prstGeom prst="roundRect">
            <a:avLst>
              <a:gd name="adj" fmla="val 3636"/>
            </a:avLst>
          </a:prstGeom>
          <a:solidFill>
            <a:srgbClr val="E9E4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3760" y="429768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8A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Packing &amp; spedizione
</a:t>
            </a:r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mq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92640" y="4297680"/>
            <a:ext cx="1856232" cy="1005840"/>
          </a:xfrm>
          <a:prstGeom prst="roundRect">
            <a:avLst>
              <a:gd name="adj" fmla="val 3636"/>
            </a:avLst>
          </a:prstGeom>
          <a:solidFill>
            <a:srgbClr val="EDEAE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92640" y="4297680"/>
            <a:ext cx="18562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Ufficio
</a:t>
            </a:r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mq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797296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DBE7E1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080" y="5797296"/>
            <a:ext cx="64008" cy="45720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37" name="Text 35"/>
          <p:cNvSpPr/>
          <p:nvPr/>
        </p:nvSpPr>
        <p:spPr>
          <a:xfrm>
            <a:off x="896112" y="5797296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spc="15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modulo replicabile a costo d'ingresso minimo: l'affitto pesa solo l'8% dei costi operativi.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6B57"/>
          </a:solidFill>
          <a:ln/>
        </p:spPr>
      </p:sp>
      <p:sp>
        <p:nvSpPr>
          <p:cNvPr id="3" name="Shape 1"/>
          <p:cNvSpPr/>
          <p:nvPr/>
        </p:nvSpPr>
        <p:spPr>
          <a:xfrm>
            <a:off x="11576304" y="548640"/>
            <a:ext cx="182880" cy="-16459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35156" y="507492"/>
            <a:ext cx="82296" cy="82296"/>
          </a:xfrm>
          <a:prstGeom prst="oval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718036" y="342900"/>
            <a:ext cx="82296" cy="82296"/>
          </a:xfrm>
          <a:prstGeom prst="oval">
            <a:avLst/>
          </a:prstGeom>
          <a:solidFill>
            <a:srgbClr val="B081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256032"/>
            <a:ext cx="2212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spc="150" kern="0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ACADEMY</a:t>
            </a:r>
            <a:endParaRPr lang="en-US" sz="9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502920"/>
            <a:ext cx="4892040" cy="5806440"/>
          </a:xfrm>
          <a:prstGeom prst="roundRect">
            <a:avLst>
              <a:gd name="adj" fmla="val 1495"/>
            </a:avLst>
          </a:prstGeom>
          <a:solidFill>
            <a:srgbClr val="1C2A32"/>
          </a:solidFill>
          <a:ln w="12700">
            <a:solidFill>
              <a:srgbClr val="1C2A32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822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9B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RACCOMANDAZIONE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1143000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Aprire il nuovo polo nel bacino di Bologna, a Sant'Agata Bolognese, entro il Q4.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005840" y="2743200"/>
            <a:ext cx="4160520" cy="0"/>
          </a:xfrm>
          <a:prstGeom prst="line">
            <a:avLst/>
          </a:prstGeom>
          <a:noFill/>
          <a:ln w="12700">
            <a:solidFill>
              <a:srgbClr val="3A4E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260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9BC7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41,1%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05840" y="3383280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della domanda extra-lombarda, con distacco 2,6× sulla seconda alternativa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05840" y="395020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9BC7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+€16,5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05840" y="4407408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margine per ritiro internalizzato, su 7.520 ritiri/anno già contrattualizzati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005840" y="4974336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9BC7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1,5 anni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05840" y="5431536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FE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payback nello scenario centrale (3,9 anche in quello prudenziale)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943600" y="5669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6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CONCLUSIONI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43600" y="82296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scelta obbligata dai numeri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5943600" y="1554480"/>
            <a:ext cx="54864" cy="50292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20" name="Text 18"/>
          <p:cNvSpPr/>
          <p:nvPr/>
        </p:nvSpPr>
        <p:spPr>
          <a:xfrm>
            <a:off x="6144768" y="150876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Economici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 netto €20-78k/anno · costo per ritiro −37,7%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0" y="2212848"/>
            <a:ext cx="54864" cy="50292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22" name="Text 20"/>
          <p:cNvSpPr/>
          <p:nvPr/>
        </p:nvSpPr>
        <p:spPr>
          <a:xfrm>
            <a:off x="6144768" y="2167128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Logistici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time 3,08 → 2,20 gg · OTD oltre il 90%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0" y="2871216"/>
            <a:ext cx="54864" cy="502920"/>
          </a:xfrm>
          <a:prstGeom prst="rect">
            <a:avLst/>
          </a:prstGeom>
          <a:solidFill>
            <a:srgbClr val="1E6B57"/>
          </a:solidFill>
          <a:ln/>
        </p:spPr>
      </p:sp>
      <p:sp>
        <p:nvSpPr>
          <p:cNvPr id="24" name="Text 22"/>
          <p:cNvSpPr/>
          <p:nvPr/>
        </p:nvSpPr>
        <p:spPr>
          <a:xfrm>
            <a:off x="6144768" y="2825496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Strategici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2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de-risking della concentrazione lombarda (oggi 77,6%)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0" y="3611880"/>
            <a:ext cx="5605272" cy="2148840"/>
          </a:xfrm>
          <a:prstGeom prst="roundRect">
            <a:avLst>
              <a:gd name="adj" fmla="val 3404"/>
            </a:avLst>
          </a:prstGeom>
          <a:solidFill>
            <a:srgbClr val="DBE7E1"/>
          </a:solidFill>
          <a:ln w="12700">
            <a:solidFill>
              <a:srgbClr val="C7DAD2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217920" y="3767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AZIONI CONSIGLIATE · PRIMI 90 GIORNI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217920" y="411480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83680" y="41148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Firmare la locazione (recesso a 12 mesi, compartecipazione efficientamento).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4517136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583680" y="4517136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Ordinare scaffali, laboratorio e allestimento mezzo; attivare il WMS in cloud.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17920" y="4919472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583680" y="491947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Selezionare l'organico dal bacino Interporto; avviare la formazione qualità.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5321808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6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0" y="5321808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34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Migrare in navetta i primi 1.500 ritiri e fissare la review KPI trimestrale.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4739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9722815" y="6473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ITS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Studio di fattibilità — Nuovo polo logistico TMWE</dc:title>
  <dc:subject>PptxGenJS Presentation</dc:subject>
  <dc:creator>Raju Ferrisi</dc:creator>
  <cp:lastModifiedBy>Raju Ferrisi</cp:lastModifiedBy>
  <cp:revision>1</cp:revision>
  <dcterms:created xsi:type="dcterms:W3CDTF">2026-07-17T21:26:27Z</dcterms:created>
  <dcterms:modified xsi:type="dcterms:W3CDTF">2026-07-17T21:26:27Z</dcterms:modified>
</cp:coreProperties>
</file>