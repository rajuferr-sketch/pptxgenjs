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2651760" cy="682915"/>
          </a:xfrm>
          <a:prstGeom prst="rect">
            <a:avLst/>
          </a:prstGeom>
        </p:spPr>
      </p:pic>
      <p:pic>
        <p:nvPicPr>
          <p:cNvPr id="3" name="Image 1" descr="/home/user/PptxGenJS/assets-tmwe/logo_hea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" cy="2743200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5" name="Text 1"/>
          <p:cNvSpPr/>
          <p:nvPr/>
        </p:nvSpPr>
        <p:spPr>
          <a:xfrm>
            <a:off x="932688" y="21488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STRATEGICA  ·  A.F. 2025/2026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914400" y="2514600"/>
            <a:ext cx="9601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Dove aprire il prossimo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polo logistico di TMWE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932688" y="416052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 studio data-driven per localizzare un nuovo magazzino e laboratorio logistico: diversificare la rete oltre la Lombardia, presidiare direttamente prima e ultima fascia e recuperare margine sull'ultimo miglio. Base analitica: 82.766 spedizioni, selezione multicriterio e verifica economico-finanziaria.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932688" y="5349240"/>
            <a:ext cx="950976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32688" y="5504688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CORSISTA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932688" y="5724144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Raju Ferrisi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28416" y="5504688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 AZIENDALE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3328416" y="5724144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Imane Smouni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724144" y="5504688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PROFESSIONALE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5724144" y="5724144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Tecnico sup. logistica intermodale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119872" y="5504688"/>
            <a:ext cx="2331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TECNOLOGICA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8119872" y="5724144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Mobilità sostenibile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 DI PARTENZA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Un'azienda che cresce, ma poggia su un solo bacino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72768"/>
            <a:ext cx="54864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 il 2020 e il 2023 TMWE ha più che triplicato il fatturato. La sua forza operativa — la concentrazione sul nodo di Milano — è però anche la sua principale fragilità strategica: una doppia dipendenza, territoriale e da vettori terzi, che questo studio intende ridurre diversificando geograficamente la rete.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1691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×3,2</a:t>
            </a:r>
            <a:endParaRPr lang="en-US" sz="3700" dirty="0"/>
          </a:p>
        </p:txBody>
      </p:sp>
      <p:sp>
        <p:nvSpPr>
          <p:cNvPr id="8" name="Text 5"/>
          <p:cNvSpPr/>
          <p:nvPr/>
        </p:nvSpPr>
        <p:spPr>
          <a:xfrm>
            <a:off x="2468880" y="309981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Fatturato 2020 → 2023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68880" y="344728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€2,33 a €7,48 milioni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" y="3922776"/>
            <a:ext cx="55778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3977640"/>
            <a:ext cx="1691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dirty="0">
                <a:solidFill>
                  <a:srgbClr val="D89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96,4%</a:t>
            </a:r>
            <a:endParaRPr lang="en-US" sz="3700" dirty="0"/>
          </a:p>
        </p:txBody>
      </p:sp>
      <p:sp>
        <p:nvSpPr>
          <p:cNvPr id="12" name="Text 9"/>
          <p:cNvSpPr/>
          <p:nvPr/>
        </p:nvSpPr>
        <p:spPr>
          <a:xfrm>
            <a:off x="2468880" y="401421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Operazioni su vettori terzi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468880" y="436168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DHL, FedEx e UPS come fornitori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0080" y="4837176"/>
            <a:ext cx="55778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892040"/>
            <a:ext cx="1691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77,6%</a:t>
            </a:r>
            <a:endParaRPr lang="en-US" sz="3700" dirty="0"/>
          </a:p>
        </p:txBody>
      </p:sp>
      <p:sp>
        <p:nvSpPr>
          <p:cNvPr id="16" name="Text 13"/>
          <p:cNvSpPr/>
          <p:nvPr/>
        </p:nvSpPr>
        <p:spPr>
          <a:xfrm>
            <a:off x="2468880" y="492861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Ritiri nazionali dalla Lombardia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468880" y="527608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domanda concentrata su un'unica area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720840" y="1572768"/>
            <a:ext cx="4828032" cy="4023360"/>
          </a:xfrm>
          <a:prstGeom prst="roundRect">
            <a:avLst>
              <a:gd name="adj" fmla="val 1818"/>
            </a:avLst>
          </a:prstGeom>
          <a:solidFill>
            <a:srgbClr val="16255C"/>
          </a:solidFill>
          <a:ln w="12700">
            <a:solidFill>
              <a:srgbClr val="16255C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86600" y="1901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DB9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DOMANDA DELLO STUDIO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086600" y="219456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Dove conviene aprire il secondo polo logistico?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7086600" y="3547872"/>
            <a:ext cx="4096512" cy="0"/>
          </a:xfrm>
          <a:prstGeom prst="line">
            <a:avLst/>
          </a:prstGeom>
          <a:noFill/>
          <a:ln w="12700">
            <a:solidFill>
              <a:srgbClr val="3447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3685032"/>
            <a:ext cx="4114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risposta nasce dai dati, non dalle intuizioni. L'analisi dell'intera rete di ritiri, uno screening per massa critica, una valutazione multicriterio su sei dimensioni e una verifica economico-finanziaria conducono a un'unica localizzazione ottimale — e a un caso di investimento robusto.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24" name="Shape 21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5" name="Text 22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Diversificare fuori dalla Lombardia è la leva per ridurre il rischio e liberare nuovo margine.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15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L'AZIENDA E IL MODELLO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TMWE: freight forwarder asset-light, multi-carrier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nel 1999 e operativa dal 2005 a Milano, TMWE è un freight forwarder in un network globale di oltre 7.000 affiliate in 190 Paesi. Il fatturato è passato da €2,33 a €7,48 milioni (2020-2023), con un margine lordo di rete del 16,4%. Il modello è asset-light: la quasi totalità dei trasporti è affidata ai grandi network, mentre marchio proprio e flotta interna presidiano i flussi a maggior valore.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743200"/>
            <a:ext cx="525780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2889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VETTORI SUL PERIMETRO ANALIZZATO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" y="32735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 Express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697480" y="3319272"/>
            <a:ext cx="2514600" cy="219456"/>
          </a:xfrm>
          <a:prstGeom prst="roundRect">
            <a:avLst>
              <a:gd name="adj" fmla="val 12500"/>
            </a:avLst>
          </a:prstGeom>
          <a:solidFill>
            <a:srgbClr val="1E3A7B"/>
          </a:solidFill>
          <a:ln/>
        </p:spPr>
      </p:sp>
      <p:sp>
        <p:nvSpPr>
          <p:cNvPr id="11" name="Text 8"/>
          <p:cNvSpPr/>
          <p:nvPr/>
        </p:nvSpPr>
        <p:spPr>
          <a:xfrm>
            <a:off x="5285232" y="324612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64,3%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60120" y="370332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FedEx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697480" y="3749040"/>
            <a:ext cx="441913" cy="219456"/>
          </a:xfrm>
          <a:prstGeom prst="roundRect">
            <a:avLst>
              <a:gd name="adj" fmla="val 12500"/>
            </a:avLst>
          </a:prstGeom>
          <a:solidFill>
            <a:srgbClr val="1E7DC2"/>
          </a:solidFill>
          <a:ln/>
        </p:spPr>
      </p:sp>
      <p:sp>
        <p:nvSpPr>
          <p:cNvPr id="14" name="Text 11"/>
          <p:cNvSpPr/>
          <p:nvPr/>
        </p:nvSpPr>
        <p:spPr>
          <a:xfrm>
            <a:off x="3212545" y="3675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413308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697480" y="4178808"/>
            <a:ext cx="422359" cy="219456"/>
          </a:xfrm>
          <a:prstGeom prst="roundRect">
            <a:avLst>
              <a:gd name="adj" fmla="val 12500"/>
            </a:avLst>
          </a:prstGeom>
          <a:solidFill>
            <a:srgbClr val="1E7DC2"/>
          </a:solidFill>
          <a:ln/>
        </p:spPr>
      </p:sp>
      <p:sp>
        <p:nvSpPr>
          <p:cNvPr id="17" name="Text 14"/>
          <p:cNvSpPr/>
          <p:nvPr/>
        </p:nvSpPr>
        <p:spPr>
          <a:xfrm>
            <a:off x="3192991" y="410565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10,8%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60120" y="45628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Marchio proprio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697480" y="4608576"/>
            <a:ext cx="379341" cy="219456"/>
          </a:xfrm>
          <a:prstGeom prst="roundRect">
            <a:avLst>
              <a:gd name="adj" fmla="val 12500"/>
            </a:avLst>
          </a:prstGeom>
          <a:solidFill>
            <a:srgbClr val="7FA6CE"/>
          </a:solidFill>
          <a:ln/>
        </p:spPr>
      </p:sp>
      <p:sp>
        <p:nvSpPr>
          <p:cNvPr id="20" name="Text 17"/>
          <p:cNvSpPr/>
          <p:nvPr/>
        </p:nvSpPr>
        <p:spPr>
          <a:xfrm>
            <a:off x="3149973" y="4535424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9,7%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60120" y="49926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Flotta interna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697480" y="5038344"/>
            <a:ext cx="148608" cy="219456"/>
          </a:xfrm>
          <a:prstGeom prst="roundRect">
            <a:avLst>
              <a:gd name="adj" fmla="val 18459"/>
            </a:avLst>
          </a:prstGeom>
          <a:solidFill>
            <a:srgbClr val="D8901A"/>
          </a:solidFill>
          <a:ln/>
        </p:spPr>
      </p:sp>
      <p:sp>
        <p:nvSpPr>
          <p:cNvPr id="23" name="Text 20"/>
          <p:cNvSpPr/>
          <p:nvPr/>
        </p:nvSpPr>
        <p:spPr>
          <a:xfrm>
            <a:off x="2919240" y="4965192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3,8%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172200" y="27889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PORTAFOGLIO, CLIENTELA E CREDENZIALI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172200" y="320954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6" name="Text 23"/>
          <p:cNvSpPr/>
          <p:nvPr/>
        </p:nvSpPr>
        <p:spPr>
          <a:xfrm>
            <a:off x="6409944" y="3127248"/>
            <a:ext cx="51572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Urgenza come driver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 Express Domestic è il servizio più usato (39.224); Express 9:00/12:00 valgono 7.564 spedizioni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172200" y="403250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8" name="Text 25"/>
          <p:cNvSpPr/>
          <p:nvPr/>
        </p:nvSpPr>
        <p:spPr>
          <a:xfrm>
            <a:off x="6409944" y="3950208"/>
            <a:ext cx="51572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Merce ad alto valore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12,6% di spedizioni assicurate, valore medio €2.419 — coerente con un laboratorio tecnico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72200" y="485546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30" name="Text 27"/>
          <p:cNvSpPr/>
          <p:nvPr/>
        </p:nvSpPr>
        <p:spPr>
          <a:xfrm>
            <a:off x="6409944" y="4773168"/>
            <a:ext cx="51572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Affidabilità certificata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WCA Member, IATA Cargo Agent, adesione AICAI; motto «We go far and keep close to you»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32" name="Shape 29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33" name="Text 30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forza è la flessibilità multi-vettore; il limite è la dipendenza quasi totale (96,4%) dai vettori terzi.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15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METODO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Dall'esperienza operativa alla decisione data-driven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L'analisi nasce dall'esperienza diretta di stage in TMWE, nella gestione quotidiana di ritiri e spedizioni: apertura pratiche, monitoraggio del tracking, intercettazione delle eccezioni e assistenza al cliente. Da qui la strutturazione di un database consolidato e la selezione della localizzazione in tre fasi.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4572000" cy="2926080"/>
          </a:xfrm>
          <a:prstGeom prst="roundRect">
            <a:avLst>
              <a:gd name="adj" fmla="val 2500"/>
            </a:avLst>
          </a:prstGeom>
          <a:solidFill>
            <a:srgbClr val="16255C"/>
          </a:solidFill>
          <a:ln w="12700">
            <a:solidFill>
              <a:srgbClr val="16255C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960120" y="281635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9DB9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DELL'ANALISI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96012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5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82.766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960120" y="3657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normalizzati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06324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5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3063240" y="3657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variabili operative ed economiche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60120" y="4297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5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420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960120" y="47548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città ricondotte a nomi univoci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063240" y="4297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5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222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3063240" y="47548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incoerenze città/regione corrette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0" y="26974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FASI DI SELEZIONE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0" y="3108960"/>
            <a:ext cx="493776" cy="493776"/>
          </a:xfrm>
          <a:prstGeom prst="oval">
            <a:avLst/>
          </a:prstGeom>
          <a:solidFill>
            <a:srgbClr val="1E3A7B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0" y="310896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126480" y="306324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per massa critica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soglia minima ~12.000 ritiri/anno: solo Bologna la supera fuori dalla Lombardia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0" y="3950208"/>
            <a:ext cx="493776" cy="493776"/>
          </a:xfrm>
          <a:prstGeom prst="oval">
            <a:avLst/>
          </a:prstGeom>
          <a:solidFill>
            <a:srgbClr val="1E3A7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0" y="395020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126480" y="3904488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Valutazione multicriterio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sei dimensioni pesate: volume, baricentricità, accessibilità, intermodalità, costi, manodopera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0" y="4791456"/>
            <a:ext cx="493776" cy="493776"/>
          </a:xfrm>
          <a:prstGeom prst="oval">
            <a:avLst/>
          </a:prstGeom>
          <a:solidFill>
            <a:srgbClr val="1E3A7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0" y="4791456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126480" y="4745736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 economico-finanziaria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modello di costi, driver di margine e scenari di ritorno sulla prima classificata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9" name="Text 26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L'esclusione della Lombardia non è arbitraria: il nodo di Milano è già saturo ed efficiente.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15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RITIRI DALL'ESTERO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flusso internazionale sottile, selettivo e presidiabile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54480"/>
            <a:ext cx="594360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7" name="Image 1" descr="/home/user/PptxGenJS/assets-tmwe/fig_esteri_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14752"/>
            <a:ext cx="5614416" cy="31827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28523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3.1 — Top 5 nazioni estere per ritiri: la Germania pesa più di Francia e Spagna sommate.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6812280" y="1572768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ritiri esteri sono 1.122, appena l'1,36% del totale, ma cinque nazioni concentrano il 94,8% del flusso: una rete selettiva, presidiabile con pochi accordi di corrispondenza e senza necessità di hub oltreconfine.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812280" y="293522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1" name="Text 7"/>
          <p:cNvSpPr/>
          <p:nvPr/>
        </p:nvSpPr>
        <p:spPr>
          <a:xfrm>
            <a:off x="7050024" y="2852928"/>
            <a:ext cx="451713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Germania · 38,1%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corridoio a maggior valore (12,4 kg medi, OTD 80,3%): consolidamento groupage sul Brennero, che ha in Bologna il suo terminale naturale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12280" y="384962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3" name="Text 9"/>
          <p:cNvSpPr/>
          <p:nvPr/>
        </p:nvSpPr>
        <p:spPr>
          <a:xfrm>
            <a:off x="7050024" y="3767328"/>
            <a:ext cx="451713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Francia e Spagna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margini su transit time e mix vettore; Madrid candidata al groupage stradale (−20/30%)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12280" y="476402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5" name="Text 11"/>
          <p:cNvSpPr/>
          <p:nvPr/>
        </p:nvSpPr>
        <p:spPr>
          <a:xfrm>
            <a:off x="7050024" y="4681728"/>
            <a:ext cx="451713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e Singapore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flussi intercontinentali leggeri, con criticità doganali e di coincidenza aerea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8" name="Text 14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volumi esteri non impongono un hub estero, ma premiano una sede sull'asse del Brennero/A1.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ANALISI GEOGRAFICA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domanda nazionale vive sulla dorsale padana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72768"/>
            <a:ext cx="443484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7" name="Image 1" descr="/home/user/PptxGenJS/assets-tmwe/fig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04" y="1737360"/>
            <a:ext cx="3908191" cy="3739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669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4.2 — Heat map regionale dei ritiri (scala logaritmica).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5394960" y="1600200"/>
            <a:ext cx="6126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ritiri nazionali sono 81.644 (98,6% del totale) e si distribuiscono per il 90,0% al Nord, il 7,0% al Centro e il 3,0% al Sud. La dorsale Lombardia–Emilia concentra da sola l'87,0% dei volumi: due regioni definiscono il perimetro di ogni scelta di localizzazione.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394960" y="302666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1" name="Text 7"/>
          <p:cNvSpPr/>
          <p:nvPr/>
        </p:nvSpPr>
        <p:spPr>
          <a:xfrm>
            <a:off x="5632704" y="2944368"/>
            <a:ext cx="5888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Lombardia · 63.361 ritiri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77,6% del totale nazionale, già pienamente presidiata dal nodo di Milano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394960" y="384962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3" name="Text 9"/>
          <p:cNvSpPr/>
          <p:nvPr/>
        </p:nvSpPr>
        <p:spPr>
          <a:xfrm>
            <a:off x="5632704" y="3767328"/>
            <a:ext cx="5888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Emilia-Romagna · 7.700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9,4%: seconda regione d'Italia e prima fuori dal presidio lombardo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394960" y="467258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5" name="Text 11"/>
          <p:cNvSpPr/>
          <p:nvPr/>
        </p:nvSpPr>
        <p:spPr>
          <a:xfrm>
            <a:off x="5632704" y="4590288"/>
            <a:ext cx="58887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Arco padano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Veneto (1.034), Liguria (750) e Piemonte (626) completano oltre 73 mila movimenti/anno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8" name="Text 14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Qualunque nuova sede deve restare agganciata alla dorsale: allontanarsene significa rinunciare al 90% della domanda.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DENSITÀ OPERATIVA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Solo tre nodi superano la soglia di sostenibilità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soglia critica è di 10 ritiri/giorno: sotto questo valore una presenza fisica dedicata non è economicamente sensata. Solo tre nodi la superano — Milano (225/gg), Origgio (46) e Bologna (30) — mentre tutti gli altri poli restano sotto i 4/giorno. Ma Milano e Origgio sono in Lombardia, esclusa per vincolo.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73152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8" name="Image 1" descr="/home/user/PptxGenJS/assets-tmwe/fig_topcit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924" y="2679192"/>
            <a:ext cx="6097512" cy="2596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54681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5.1 — Top 5 città per macroarea (si noti la scala differente per area).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8138160" y="2514600"/>
            <a:ext cx="3401568" cy="2926080"/>
          </a:xfrm>
          <a:prstGeom prst="roundRect">
            <a:avLst>
              <a:gd name="adj" fmla="val 2500"/>
            </a:avLst>
          </a:prstGeom>
          <a:solidFill>
            <a:srgbClr val="DEE8F3"/>
          </a:solidFill>
          <a:ln w="12700">
            <a:solidFill>
              <a:srgbClr val="C4D6EA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366760" y="26974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BOLOGNA, UNICA CANDIDATA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366760" y="316382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3" name="Text 9"/>
          <p:cNvSpPr/>
          <p:nvPr/>
        </p:nvSpPr>
        <p:spPr>
          <a:xfrm>
            <a:off x="8604504" y="3081528"/>
            <a:ext cx="2779776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30,1 ritiri/giorno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l'unico nodo extra-lombardo sopra soglia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366760" y="3913632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5" name="Text 11"/>
          <p:cNvSpPr/>
          <p:nvPr/>
        </p:nvSpPr>
        <p:spPr>
          <a:xfrm>
            <a:off x="8604504" y="3831336"/>
            <a:ext cx="2779776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OTD 79,8%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miglior puntualità tra i grandi nodi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366760" y="4663440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7" name="Text 13"/>
          <p:cNvSpPr/>
          <p:nvPr/>
        </p:nvSpPr>
        <p:spPr>
          <a:xfrm>
            <a:off x="8604504" y="4581144"/>
            <a:ext cx="2779776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28,3% assicurate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merce ad alto valore, coerente col laboratorio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19" name="Shape 15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0" name="Text 16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 è l'unico candidato che supera la soglia di massa critica fuori dalla Lombardia.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15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IL DATO CHE DECIDE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Escludendo la Lombardia, non esiste una seconda opzione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72768"/>
            <a:ext cx="59436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7" name="Image 1" descr="/home/user/PptxGenJS/assets-tmwe/fig_classifi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41239"/>
            <a:ext cx="5614416" cy="3686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63270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7.1 — Classifica nazionale in scala logaritmica delle principali città.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6812280" y="1600200"/>
            <a:ext cx="47548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Escludendo la Lombardia (già presidiata), il mercato residuo vale 18.283 ritiri/anno. Bologna ne concentra da sola il 41,1%: le nove città successive, sommate, arrivano appena al 44%. Non esiste, nei dati, una seconda opzione comparabile.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812280" y="292608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1E3A7B"/>
          </a:solidFill>
          <a:ln w="12700">
            <a:solidFill>
              <a:srgbClr val="1E3A7B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812280" y="3054096"/>
            <a:ext cx="22860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41,1%</a:t>
            </a:r>
            <a:endParaRPr lang="en-US" sz="3800" dirty="0"/>
          </a:p>
        </p:txBody>
      </p:sp>
      <p:sp>
        <p:nvSpPr>
          <p:cNvPr id="12" name="Text 8"/>
          <p:cNvSpPr/>
          <p:nvPr/>
        </p:nvSpPr>
        <p:spPr>
          <a:xfrm>
            <a:off x="6812280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mercato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extra-Lombardia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9253728" y="292608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4E9CE"/>
          </a:solidFill>
          <a:ln w="12700">
            <a:solidFill>
              <a:srgbClr val="E7D6AE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253728" y="3054096"/>
            <a:ext cx="22860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D89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2,6×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253728" y="38221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7A6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distacco sulla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7A6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alternativa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812280" y="4526280"/>
            <a:ext cx="47548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distacco tra Bologna e la prima alternativa (Roma) è di 4.659 ritiri/anno, pari a 19 ritiri/giorno di differenza: la partita è decisa dai numeri.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15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PERCHÉ BOLOGNA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baricentro, non una periferia: quattro evidenze convergenti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72768"/>
            <a:ext cx="4434840" cy="406908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7" name="Image 1" descr="/home/user/PptxGenJS/assets-tmwe/fig_baricentrici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575" y="1737360"/>
            <a:ext cx="3941850" cy="37398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669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8.2 — Baricentricità di Bologna: distanze stradali dai principali poli.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5394960" y="160020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Bologna la rete extra-lombarda è raggiungibile in giornata: il 97% dei ritiri nazionali ricade entro 4 ore di guida. Quattro evidenze indipendenti spingono nella stessa direzione.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394960" y="2706624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1" name="Text 7"/>
          <p:cNvSpPr/>
          <p:nvPr/>
        </p:nvSpPr>
        <p:spPr>
          <a:xfrm>
            <a:off x="5632704" y="2624328"/>
            <a:ext cx="588873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Domanda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41,1% dei ritiri extra-Lombardia, €357 mila di ricavi già attivi, 28,3% assicurate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394960" y="3419856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3" name="Text 9"/>
          <p:cNvSpPr/>
          <p:nvPr/>
        </p:nvSpPr>
        <p:spPr>
          <a:xfrm>
            <a:off x="5632704" y="3337560"/>
            <a:ext cx="588873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Geografia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Firenze 105 km, Padova 120, Verona 140, Milano 215, Roma 380 — servibili in giornata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394960" y="4133088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5" name="Text 11"/>
          <p:cNvSpPr/>
          <p:nvPr/>
        </p:nvSpPr>
        <p:spPr>
          <a:xfrm>
            <a:off x="5632704" y="4050792"/>
            <a:ext cx="588873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Infrastrutture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nodo A1/A13/A14, Interporto 4,2 mln mq, terminal ferroviario PNRR, AV a 1h04 da Milano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394960" y="4846320"/>
            <a:ext cx="100584" cy="100584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7" name="Text 13"/>
          <p:cNvSpPr/>
          <p:nvPr/>
        </p:nvSpPr>
        <p:spPr>
          <a:xfrm>
            <a:off x="5632704" y="4764024"/>
            <a:ext cx="5888736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3ª provincia italiana per valore aggiunto pro capite (€45.125), ecosistema logistico profondo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19" name="Shape 15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0" name="Text 16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posizione trasforma un'unica sede in un presidio capace di coprire quasi tutta la rete.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15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08.3 · VALUTAZIONE MULTICRITERIO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Bologna domina il punteggio ponderato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candidate extra-lombarde sono state confrontate su sei dimensioni pesate: volume dei ritiri (30%), baricentricità (15%), accessibilità autostradale (15%), intermodalità ferro/aereo (15%), costo immobiliare (15%) e manodopera logistica (10%). Bologna ottiene 8,93, prevalendo su quattro criteri su sei e senza mai risultare ultima.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74066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8" name="Image 1" descr="/home/user/PptxGenJS/assets-tmwe/fig_multicrite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701" y="2816352"/>
            <a:ext cx="5229399" cy="24597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5468112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8.1 — Matrice multicriterio (scale 1-10) delle localizzazioni candidate.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22960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PUNTEGGIO PONDERATO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8229600" y="306324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Bologna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0515600" y="3063240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8,93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229600" y="3483864"/>
            <a:ext cx="329184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0" y="352044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Padova/Verona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0515600" y="3520440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2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6,73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3941064"/>
            <a:ext cx="329184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397764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Torino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15600" y="3977640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2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6,45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229600" y="4398264"/>
            <a:ext cx="329184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0" y="443484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Napoli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10515600" y="4434840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2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6,28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229600" y="4855464"/>
            <a:ext cx="3291840" cy="0"/>
          </a:xfrm>
          <a:prstGeom prst="line">
            <a:avLst/>
          </a:prstGeom>
          <a:noFill/>
          <a:ln w="9525">
            <a:solidFill>
              <a:srgbClr val="E4E1D9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229600" y="489204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10515600" y="4892040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92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6,18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26" name="Shape 22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7" name="Text 23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profilo senza punti deboli decisivi: volume, posizione e infrastrutture spingono nella stessa direzione.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ANALISI COMPETITIVA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 competere sul commodity, ma sui servizi a valore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bacino bolognese operano sei player da centinaia di milioni a oltre un miliardo di euro (DHL Express €1,42 mld, BRT €1,37 mld, Fercam €706 mln, DSV €662 mln, Italtrans €375 mln, Arco Spedizioni €355 mln): un mercato profondo e conteso, con manodopera specializzata e servizi complementari. La compresenza di operatori di questa scala conferma la profondità della domanda.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743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0080" y="2880360"/>
            <a:ext cx="54864" cy="1097280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vertice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96112" y="326440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DHL Express e BRT: parcel standard con hub automatizzati ed economie di scala non replicabili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52544" y="2743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52544" y="2880360"/>
            <a:ext cx="54864" cy="1097280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3" name="Text 10"/>
          <p:cNvSpPr/>
          <p:nvPr/>
        </p:nvSpPr>
        <p:spPr>
          <a:xfrm>
            <a:off x="4608576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Fascia intermedia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608576" y="326440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Fercam e DSV: trasporto multimodale, groupage e contract logistics fino al 4PL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65008" y="274320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065008" y="2880360"/>
            <a:ext cx="54864" cy="1097280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7" name="Text 14"/>
          <p:cNvSpPr/>
          <p:nvPr/>
        </p:nvSpPr>
        <p:spPr>
          <a:xfrm>
            <a:off x="8321040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Fascia specialistica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321040" y="326440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Italtrans (merci ADR) e Arco Spedizioni (spedizioneria e pratiche doganali)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40080" y="4315968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16255C"/>
          </a:solidFill>
          <a:ln w="12700">
            <a:solidFill>
              <a:srgbClr val="16255C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0120" y="4434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9DB9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POSIZIONAMENTO DELLA FILIALE TMWE — TRE LEVE DI DIFFERENZIAZIONE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6012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9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1344168" y="475488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Time-critical &amp; su misura
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consegne 9:00/12:00 e urgenze dove i network offrono prodotti standard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8056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9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4864608" y="475488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Prossimità relazionale
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referente diretto contro i canali massivi e impersonali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01000" y="4773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9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8385048" y="475488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Laboratorio logistico
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controlli qualità e kitting a valore aggiunto per le PMI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ANALISI ECONOMICA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motore del progetto è il differenziale di costo per ritiro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simulazione assume una sede di 350 mq, operativa 250 giorni/anno, con 4,0 FTE e una navetta dedicata su due run. I costi operativi a regime valgono €239.400/anno (personale €158k, costi fissi €51,4k, navetta €30k). Il beneficio non dipende dal ricavo di trasporto, ma dal differenziale di costo per ritiro.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731520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8" name="Image 1" descr="/home/user/PptxGenJS/assets-tmwe/fig_costi_ram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01" y="2862072"/>
            <a:ext cx="6742758" cy="2551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56327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10.2 — Struttura dei costi a regime e rampa di capacità.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8138160" y="269748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DEE8F3"/>
          </a:solidFill>
          <a:ln w="12700">
            <a:solidFill>
              <a:srgbClr val="C4D6EA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412480" y="28529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DRIVER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412480" y="3200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C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€43,67</a:t>
            </a:r>
            <a:pPr indent="0" marL="0">
              <a:buNone/>
            </a:pPr>
            <a:r>
              <a:rPr lang="en-US" sz="1400" dirty="0">
                <a:solidFill>
                  <a:srgbClr val="D8901A"/>
                </a:solidFill>
              </a:rPr>
              <a:t>  →  </a:t>
            </a:r>
            <a:pPr indent="0" marL="0">
              <a:buNone/>
            </a:pPr>
            <a:r>
              <a:rPr lang="en-US" sz="20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€27,20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8412480" y="373075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vettore oggi → costo pieno navetta interna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412480" y="4187952"/>
            <a:ext cx="2852928" cy="0"/>
          </a:xfrm>
          <a:prstGeom prst="line">
            <a:avLst/>
          </a:prstGeom>
          <a:noFill/>
          <a:ln w="12700">
            <a:solidFill>
              <a:srgbClr val="C4D6E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12480" y="426110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40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+€16,5</a:t>
            </a:r>
            <a:endParaRPr lang="en-US" sz="2900" dirty="0"/>
          </a:p>
        </p:txBody>
      </p:sp>
      <p:sp>
        <p:nvSpPr>
          <p:cNvPr id="16" name="Text 12"/>
          <p:cNvSpPr/>
          <p:nvPr/>
        </p:nvSpPr>
        <p:spPr>
          <a:xfrm>
            <a:off x="8412480" y="4828032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margine liberato per ogni ritiro internalizzato, su 7.520 ritiri/anno già contrattualizzati.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 · SCENARI DI RITORNO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investimento di €78 mila che rientra in 1,5 anni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572768"/>
            <a:ext cx="6400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7" name="Image 1" descr="/home/user/PptxGenJS/assets-tmwe/fig_flussi_cumulat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90235"/>
            <a:ext cx="6071616" cy="358842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6327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10.1 — Flussi cumulati: rientro tra 1,0 e 3,9 anni secondo lo scenario.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7269480" y="1600200"/>
            <a:ext cx="4297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L'investimento iniziale è di €78.000 (scaffali, laboratorio, IT, allestimento mezzo). Il progetto resta in payback anche nello scenario prudenziale: rischio basso, upside significativo.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7269480" y="2788920"/>
            <a:ext cx="42976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498080" y="278892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spc="6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 NETTO ANNUO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9509760" y="2788920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€20-78 mila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269480" y="3502152"/>
            <a:ext cx="42976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498080" y="3502152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spc="6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PERIOD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9509760" y="3502152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3,9 / 1,5 / 1,0 anni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269480" y="4215384"/>
            <a:ext cx="42976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498080" y="4215384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spc="6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 5 ANNI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9509760" y="4215384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89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+29% / +239% / +401%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269480" y="4928616"/>
            <a:ext cx="42976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498080" y="492861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spc="60" kern="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OPERATIVO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9509760" y="4928616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11.800 movimenti/anno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23" name="Shape 19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4" name="Text 20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beneficio nasce dal controllo del costo: comprimere i margini di trasporto rende l'internalizzazione ancora più conveniente.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572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IL CASO STUDIO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731520"/>
            <a:ext cx="9692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5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Sant'Agata Bolognese: l'immobile che verifica il modello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40080" y="694944"/>
            <a:ext cx="475488" cy="0"/>
          </a:xfrm>
          <a:prstGeom prst="line">
            <a:avLst/>
          </a:prstGeom>
          <a:noFill/>
          <a:ln w="28575">
            <a:solidFill>
              <a:srgbClr val="D8901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valle della selezione territoriale è stato analizzato un immobile coerente con i requisiti: magazzino/deposito di 350 mq a Sant'Agata Bolognese, baricentrico tra i caselli A1 (Modena Sud) e A13/A14, a 25 minuti dall'Interporto. Il layout organizza gli spazi in sei zone funzionali, con la merce assicurata in area videosorvegliata adiacente al laboratorio.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67665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4E1D9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pic>
        <p:nvPicPr>
          <p:cNvPr id="8" name="Image 1" descr="/home/user/PptxGenJS/assets-tmwe/fig_planimet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760" y="2816352"/>
            <a:ext cx="4913199" cy="2505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5596128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11.1 — Planimetria concettuale: zone funzionali e sequenza operativa.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7589520" y="26974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350 mq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9372600" y="2697480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terra + ufficio e area cortiliva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7589520" y="3319272"/>
            <a:ext cx="39776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89520" y="341071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€1.600/mese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372600" y="3410712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€54,9/mq/anno · −15/25% vs mercato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589520" y="4032504"/>
            <a:ext cx="39776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89520" y="412394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~28 km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9372600" y="4123944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Bologna · a 25 min dall'Interporto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589520" y="4745736"/>
            <a:ext cx="3977640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89520" y="4837176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240 pallet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9372600" y="483717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zone · ~15.000 movimenti/anno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40080" y="5870448"/>
            <a:ext cx="10911535" cy="438912"/>
          </a:xfrm>
          <a:prstGeom prst="roundRect">
            <a:avLst>
              <a:gd name="adj" fmla="val 10417"/>
            </a:avLst>
          </a:prstGeom>
          <a:solidFill>
            <a:srgbClr val="DEE8F3"/>
          </a:solidFill>
          <a:ln/>
        </p:spPr>
      </p:sp>
      <p:sp>
        <p:nvSpPr>
          <p:cNvPr id="22" name="Shape 18"/>
          <p:cNvSpPr/>
          <p:nvPr/>
        </p:nvSpPr>
        <p:spPr>
          <a:xfrm>
            <a:off x="640080" y="5870448"/>
            <a:ext cx="64008" cy="43891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3" name="Text 19"/>
          <p:cNvSpPr/>
          <p:nvPr/>
        </p:nvSpPr>
        <p:spPr>
          <a:xfrm>
            <a:off x="896112" y="5870448"/>
            <a:ext cx="1045433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850" b="1" spc="1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MESSAGGIO CHIAVE   </a:t>
            </a:r>
            <a:pPr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modulo replicabile a costo d'ingresso minimo: l'affitto pesa solo l'8% dei costi operativi.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26" name="Text 22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ptxGenJS/assets-tmwe/logo_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6319" y="274320"/>
            <a:ext cx="1225296" cy="3335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02920"/>
            <a:ext cx="4892040" cy="5852160"/>
          </a:xfrm>
          <a:prstGeom prst="roundRect">
            <a:avLst>
              <a:gd name="adj" fmla="val 1495"/>
            </a:avLst>
          </a:prstGeom>
          <a:solidFill>
            <a:srgbClr val="16255C"/>
          </a:solidFill>
          <a:ln w="12700">
            <a:solidFill>
              <a:srgbClr val="16255C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1005840" y="822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9DB9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RACCOMANDAZIONE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005840" y="114300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Aprire il nuovo polo nel bacino di Bologna, a Sant'Agata Bolognese, entro il Q4.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05840" y="2743200"/>
            <a:ext cx="4160520" cy="0"/>
          </a:xfrm>
          <a:prstGeom prst="line">
            <a:avLst/>
          </a:prstGeom>
          <a:noFill/>
          <a:ln w="12700">
            <a:solidFill>
              <a:srgbClr val="34477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2926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41,1%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005840" y="3383280"/>
            <a:ext cx="4160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della domanda extra-lombarda, con distacco 2,6× sulla seconda alternativa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05840" y="39776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+€16,5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005840" y="4434840"/>
            <a:ext cx="4160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margine per ritiro internalizzato, su 7.520 ritiri/anno già contrattualizzati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005840" y="5029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DB9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 anni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005840" y="5486400"/>
            <a:ext cx="4160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E7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payback nello scenario centrale (3,9 anche in quello prudenziale)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943600" y="5669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1E7D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CONCLUSIONI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943600" y="82296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62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scelta obbligata dai numeri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5943600" y="1508760"/>
            <a:ext cx="54864" cy="62179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6" name="Text 13"/>
          <p:cNvSpPr/>
          <p:nvPr/>
        </p:nvSpPr>
        <p:spPr>
          <a:xfrm>
            <a:off x="6144768" y="1463040"/>
            <a:ext cx="53949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Economici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 netto €20-78k/anno · costo per ritiro −37,7% · ROI a 5 anni fino a +401%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43600" y="2295144"/>
            <a:ext cx="54864" cy="62179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18" name="Text 15"/>
          <p:cNvSpPr/>
          <p:nvPr/>
        </p:nvSpPr>
        <p:spPr>
          <a:xfrm>
            <a:off x="6144768" y="2249424"/>
            <a:ext cx="53949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Logistici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time da 3,08 a 2,20 giorni · OTD oltre il 90% · controllo diretto di prima e ultima fascia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943600" y="3081528"/>
            <a:ext cx="54864" cy="621792"/>
          </a:xfrm>
          <a:prstGeom prst="rect">
            <a:avLst/>
          </a:prstGeom>
          <a:solidFill>
            <a:srgbClr val="1E7DC2"/>
          </a:solidFill>
          <a:ln/>
        </p:spPr>
      </p:sp>
      <p:sp>
        <p:nvSpPr>
          <p:cNvPr id="20" name="Text 17"/>
          <p:cNvSpPr/>
          <p:nvPr/>
        </p:nvSpPr>
        <p:spPr>
          <a:xfrm>
            <a:off x="6144768" y="3035808"/>
            <a:ext cx="539496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625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Strategici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C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de-risking della concentrazione lombarda (77,6%) · presidio del corridoio tedesco · ingresso nell'ecosistema Interporto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943600" y="3913632"/>
            <a:ext cx="5605272" cy="2441448"/>
          </a:xfrm>
          <a:prstGeom prst="roundRect">
            <a:avLst>
              <a:gd name="adj" fmla="val 2996"/>
            </a:avLst>
          </a:prstGeom>
          <a:solidFill>
            <a:srgbClr val="DEE8F3"/>
          </a:solidFill>
          <a:ln w="12700">
            <a:solidFill>
              <a:srgbClr val="C4D6EA"/>
            </a:solidFill>
            <a:prstDash val="solid"/>
          </a:ln>
          <a:effectLst>
            <a:outerShdw sx="100000" sy="100000" kx="0" ky="0" algn="bl" rotWithShape="0" blurRad="88900" dist="25400" dir="5400000">
              <a:srgbClr val="D9D5CC">
                <a:alpha val="4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217920" y="405993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AZIONI CONSIGLIATE · PRIMI 90 GIORNI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217920" y="4425696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583680" y="4425696"/>
            <a:ext cx="4846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Firmare la locazione (recesso a 12 mesi, compartecipazione all'efficientamento energetico).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217920" y="4882896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583680" y="4882896"/>
            <a:ext cx="4846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Ordinare scaffali, attrezzature di laboratorio e allestimento mezzo; attivare il WMS in cloud.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6217920" y="5340096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83680" y="5340096"/>
            <a:ext cx="4846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Selezionare l'organico dal bacino Interporto e avviare la formazione sui processi qualità.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217920" y="5797296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583680" y="5797296"/>
            <a:ext cx="4846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4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Migrare in navetta i primi 1.500 ritiri e fissare la review KPI trimestrale in Direzione.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4E1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64922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di fattibilità · Nuovo magazzino e laboratorio logistico · TMWE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9722815" y="64922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MOBILITA ITS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Studio di fattibilità — Nuovo polo logistico TMWE</dc:title>
  <dc:subject>PptxGenJS Presentation</dc:subject>
  <dc:creator>Raju Ferrisi</dc:creator>
  <cp:lastModifiedBy>Raju Ferrisi</cp:lastModifiedBy>
  <cp:revision>1</cp:revision>
  <dcterms:created xsi:type="dcterms:W3CDTF">2026-07-18T01:05:22Z</dcterms:created>
  <dcterms:modified xsi:type="dcterms:W3CDTF">2026-07-18T01:05:22Z</dcterms:modified>
</cp:coreProperties>
</file>